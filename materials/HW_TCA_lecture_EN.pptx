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talk about an analysis that every company producing automotive electronics carries out: production test coverage analysis, HW TCA for short (Test Coverage Analysis, hardware).
The question it answers is simple: if a board leaves the assembly line with a defect, do we have a test that catches it before it reaches the customer? And if not, how large is the risk?
In the first 30 minutes we cover the theory: what the analysis is, what it is used for, which standards and laws require it, what happens when it is missing and how it relates to testing. Then you work individually in the web app, on the CAN module of the front radar we use in all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has eight points. We start from the production flow, to see where defects appear and where we look for them. Then we define coverage analysis and the PCOLA/SOQ/FAM model, the common language of test engineers.
We link the analysis to risk: severity, occurrence, detection and the action priority of the AIAG-VDA method. We look at the standards and laws behind it and at a few real cases in which electronics defects reached the customer. At the end we look at other industries, at careers and at what you do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shows a typical flow. The board is assembled: solder paste is printed, SMT components are placed, the board goes through the reflow oven, then the THT components are mounted. Then come the inspections: AOI, optical, and AXI, X-ray, for hidden solder joints. Then ICT, the in-circuit test: a fixture with needles touches the test points and measures the components one by one. Finally FT, the functional test, which powers the board and checks its functions through the connectors.
A paper presented at IPC APEX, citing iNEMI data from 2000, says it clearly: early stages are best at catching assembly process defects, late stages are best at catching functional defects. That is why we combine methods.
What no stage catches is called an escape and reaches the customer. Today's analysis estimates exactly that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comes from the people who founded the field. The Agilent patent on characterizing board test coverage says that board test coverage is an indication of the quality of a test suite.
The reference paper, Hird, Parker and Follis, ITC 2002, asks the question in the title: what does it mean when a test passes? If a resistance measurement passes, we know the resistor is present, has the right value and is neither open nor shorted. We know nothing about what we did not measure.
A 1996 paper, “when is 99% really 40%”, shows that the percentage of accessible nodes can greatly overestimate real coverage. That is why in TCA we do not count tests; for every possible defect we ask: does any method catch it, and how reliably? The result is a D value for each defect and method, and from it the remaining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PCOLA/SOQ is the model introduced by Hird and his Agilent colleagues in 2002. Each letter is a property a test can verify.
For the component: P, presence; C, correctness, that is the part with the right value; O, orientation or polarity; L, live, the part works at a basic level; A, alignment on the pads.
For the connection: S, shorts; O, opens; Q, solder joint quality.
Later, iNEMI added the functional part, FAM: F, the feature exists; A, it works at real speed; M, the measured performance meets the requirement.
The model gives us a common language: when I say ICT covers S and O for a resistor, everyone knows what I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indicative and summarizes the cited literature. The main idea: no method covers everything.
Visual inspections, AOI and AXI, are good at presence, orientation and alignment. AXI also sees hidden joints, for example under BGA packages or THT joints, and therefore shorts and joint quality. AOI can read a component's marking, but not the value of an unmarked capacitor.
ICT measures components electrically and catches shorts and opens very well, provided it has needle access to the nets.
Boundary scan, analysed by Parker in 2003, covers digital interconnects well but, as Ley points out, says nothing about function.
The functional test is the only one that sees the function at real speed, but it often cannot tell where the defect is.
In the lab you will have exactly these methods and you will give each one a 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ICT can only measure what its needles touch. If a net has no test point, the components on it cannot be measured directly. That is why coverage analysis is done in the design phase: if we find that an important defect is not caught, we can still add a test point to the layout.
There are dedicated commercial tools. TestWay Express, from ASTER Technologies, simulates how testable a design is and flags untestable components and missing test points before the board is produced. In January 2026 Siemens announced the acquisition of ASTER, and TestWay is to be integrated into the Xpedition and Valor tools. This shows how important the topic has become for the industry.
In the lab we do not use TestWay, which is commercial, but a web app built on the same principles: you tick test points on nets and see how ICT detection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definitions, so we use the terms correctly.
ISO 31000 defines risk assessment as the overall process of risk identification, risk analysis and risk evaluation. Risk analysis means understanding the risk: how severe the effect is, how often it occurs, how well we detect it. Risk evaluation means comparing the result with criteria and deciding whether to accept or act.
Then comes treatment: actions that reduce the risk. In our case: we add a test point, a new functional test, or we change the design.
What remains after treatment is the residual risk, defined in ISO Guide 73. It must be documented: why it remains and why we accept it.
IEC 31010 lists FMEA among the risk assessment techniques. HW TCA uses the same logic, applied to production tests.
Presenter note: check the clause numbers in the licensed text of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uses the FMEA language of the automotive industry. The 2019 AIAG-VDA handbook, which harmonized the American AIAG method with the German VDA method, has seven steps: planning, structure analysis, function analysis, failure analysis, risk analysis, optimization and results documentation.
Risk is described by three ratings from 1 to 10. Severity S is rated on the effect: 10 means a safety impact, 9 non-compliance with regulations, 8 loss of a primary function. Occurrence O is rated on the cause and takes prevention into account. Detection D says how reliably we catch the defect: 1 almost certainly, 10 not at all.
In HW TCA, S comes from the effect class, O is low for a mature SMT technology, and D comes from each test method. The American equivalent is SAE J1739, 2021 edition; for other industries, IEC 60812.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long time risk was calculated as a product: RPN = S × O × D. The problem is mathematical. Bowles showed in 2003 that the 1000 possible combinations produce only 120 distinct values, and the same number can mean very different things.
Look at the table. Cases A and B have the same RPN, 108. But A is a safety effect, S 9, while B is a minor effect. The AP table in the AIAG-VDA handbook gives H, high priority, for A and L, low, for B. Case C has a lower RPN, 80, but AP M, because it concerns the loss of the primary function.
That is why the 2019 AIAG-VDA handbook replaced RPN with action priority. In the lab we only work with AP. The combined detection of a defect is the minimum of the test methods' detections, that is the best method that catches it. This assumes all tests run on every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how the standards connect to our analysis.
At the top are the high-level requirements. ISO 26262 sets what must be safe: the ASIL level and, in Part 7, a production control plan for safety-related elements. IATF 16949 is the quality management system for automotive suppliers and requires the core tools: APQP, FMEA, control plan, MSA, SPC, PPAP. Clause 8.5.1.1 requires the control plan and 10.2.4 error-proofing. On the right, the laws: liability for defective products, vehicle type approval and electromagnetic compatibility.
In the middle: FMEA produces the prevention and detection controls, which go into the control plan and the test specification, following APQP 3rd edition and Control Plan 1st edition, 2024. IPC-A-610J and J-STD-001J give the solder joint acceptance criteria, including an automotive addendum from 2025.
At the bottom: HW TCA quantifies the detection of each test, and what cannot be covered becomes documented residual risk.
You can replace this diagram with one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not new. The US military published procedure MIL-P-1629 in 1949. NASA used it for Apollo, with its own standard from 1966. SAE published ARP926 in 1967, and Ford brought FMEA into the automotive industry in the 1970s; a recent historical review gives 1977. MIL-STD-1629A appeared in 1980 and is still used although it was cancelled in 1998.
In automotive, SAE J1739 appeared in 1994. In 2019 AIAG and VDA harmonized their methods in a single handbook, with seven steps and action priority instead of RPN. The current SAE J1739 edition is from 2021.
In amber are milestones in coverage analysis: the PCOLA/SOQ model in 2002 and Siemens' acquisition of ASTER in 2026.
If needed, you can add the AIAG handbook editions (1993–2008) here after checking them in the AIAG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a company do all this analysis? First of all, because of liability.
The new European Product Liability Directive, 2024/2853, replaces the 1985 directive and applies to products placed on the market after 9 December 2026. An important novelty: it explicitly covers software and components.
The General Product Safety Regulation and the vehicle type-approval regulation complete the EU framework. For automotive electronics, UNECE Regulation No. 10 on electromagnetic compatibility also matters. That is why, in the lab, a defect that only affects EMC gets severity 9: regulatory non-compliance.
In the US, after the TREAD Act of 2000, manufacturers report defects to NHTSA under 49 CFR Part 573. The real cases on the next slide come from there.
Note: check the role of the Romanian authority (RAR) in recalls on its website before mentioning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real cases, all publicly documented by the US authority NHTSA.
The most relevant for us is investigation EA19-001, opened in 2019: the airbag control units made by ZF-TRW could suffer electrical overstress in a crash, caused by crash-induced transients. The affected component was an ASIC called DS84. The investigation covered about 12.3 million vehicles and led to recalls by several manufacturers: for example FCA, 16V-668, about 1.43 million vehicles, and Toyota, 20V-024, almost 2.6 million. Toyota's remedy was a noise filter, that is a design change.
Takata is, according to NHTSA, the largest and most complex safety recall in US history.
An often-quoted rule says a defect costs ten times more at every stage it escapes. Present it as a heuristic, not a law; for the economics of board test, the serious reference is Davis,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and coverage analyses are not specific to automotive.
In aerospace, SAE ARP4761A, from 2023, describes the safety assessment process, DO-254 covers airborne electronic hardware, and AS13004 covers PFMEA and control plans. In medical, ISO 14971 is the risk management standard for medical devices. In rail, EN 50126 covers RAMS. For industry in general, IEC 61508 is the basic functional safety standard; ISO 26262 is derived from it.
For telecom, the question at the start was whether standards exist. Yes: TL 9000, version R6.3 from 2021, is the quality management system for the ICT sector, built on ISO 9001. Telcordia SR-332 covers reliability prediction for electronic equipment. ETSI has resilience specifications for virtualized networks, with failure modes, and ITU-T E.800 defines quality-of-service terms. But the public texts we checked contain no explicit FMEA requirement. In telecom, FMEA is good practice, not an obligation from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study is the same in all the labs. A front radar sends its list of detected objects over CAN. The radar values come from the ARS 408-21 datasheet, today under the AUMOVIO brand: range from 0.2 to 250 metres, a cycle of about 72 milliseconds, CAN at 500 kbit/s. Treating it as ASIL B is a lab assumption, not information from the datasheet.
The CAN node uses a module with the MCP2551 transceiver. From the Microchip datasheet we take the limits: supply 4.5–5.5 V, maximum current 75 mA dominant and 10 mA recessive, bus voltages of 2–3 V recessive and 1.5–3 V differential dominant. The physical layer is described by ISO 11898-2, 2024 edition.
The module has 13 components and, importantly, no test points. You will add them as an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practical part. Each of you gets a variant, from H1 to H6, with 12 failure modes of the module.
For each mode: choose the effect class, and the severity follows from it. Choose the occurrence from the AIAG-VDA table; for a mature SMT technology it is usually low. For AOI, AXI and ICT, the app calculates the detection from the detection rules and shows you the reason. For the functional test, click the pin of the component, on the board or in the schematic: the app draws that pin's net and shows, in the Connections panel, whether it reaches a connector, meaning the functional test can see it, and whether it has a test point. Then choose from the FT1–FT8 list the test that catches the defect, or NONE, choose D from 1 to 10 on the AIAG-VDA detection scale, whose descriptions appear in the list, and write why.
The combined detection is the minimum over the methods, and AP follows from the table. Then propose improvements: test points, AOI on the bottom side or new functional tests, and watch the risk go down. Where AP stays H or M, document the residual risk. At the end, send the report from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analyses appear in automotive, aerospace, medical, rail, industrial and telecommunications, wherever a failure is costly.
As graduates you will meet them in several roles: test engineer, who writes the ICT and FCT programs; DfT or coverage engineer, who works with the designers so the board is testable; quality engineer, who owns the FMEA and the control plan; reliability engineer; functional safety engineer on ISO 26262; technical risk analyst.
There are also recognized certifications: IPC CIS and CIT for the assembly standards, ASQ for reliability and quality engineer, and functional safety engineer programmes at certification bodies.
You can add examples of regional employers here, with links to their careers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reference list. The ISO, IEC, SAE, IPC and AIAG standards are paid; you can find them in the faculty library or at ASRO, the Romanian standards body. The ITC papers are in IEEE 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of the reference list. The NHTSA cases have free public documents on static.nhtsa.gov; EU acts are on EUR-Lex.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indent="0" marL="0">
              <a:buNone/>
              <a:defRPr lang="en-US" sz="2600" b="1" dirty="0">
                <a:solidFill>
                  <a:srgbClr val="0B6E69"/>
                </a:solidFill>
              </a:defRPr>
            </a:lvl1pPr>
          </a:lstStyle>
          <a:p>
            <a:pPr indent="0" marL="0">
              <a:buNone/>
            </a:pPr>
            <a:endParaRPr lang="en-US" sz="2600" dirty="0"/>
          </a:p>
        </p:txBody>
      </p:sp>
      <p:sp>
        <p:nvSpPr>
          <p:cNvPr id="3" name="Text 0"/>
          <p:cNvSpPr/>
          <p:nvPr/>
        </p:nvSpPr>
        <p:spPr>
          <a:xfrm>
            <a:off x="457200" y="4846320"/>
            <a:ext cx="5943600" cy="201168"/>
          </a:xfrm>
          <a:prstGeom prst="rect">
            <a:avLst/>
          </a:prstGeom>
          <a:noFill/>
          <a:ln/>
        </p:spPr>
        <p:txBody>
          <a:bodyPr wrap="square" lIns="0" tIns="0" rIns="0" bIns="0" rtlCol="0" anchor="ctr"/>
          <a:lstStyle/>
          <a:p>
            <a:pPr indent="0" marL="0">
              <a:buNone/>
            </a:pPr>
            <a:r>
              <a:rPr lang="en-US" sz="900" dirty="0">
                <a:solidFill>
                  <a:srgbClr val="5B6575"/>
                </a:solidFill>
              </a:rPr>
              <a:t>HW TCA · Testing lab · ETC, UPT</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E3F4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914400"/>
            <a:ext cx="3840480" cy="3840480"/>
          </a:xfrm>
          <a:prstGeom prst="ellipse">
            <a:avLst/>
          </a:prstGeom>
          <a:solidFill>
            <a:srgbClr val="CDEBE5"/>
          </a:solidFill>
          <a:ln w="12700">
            <a:solidFill>
              <a:srgbClr val="CDEBE5"/>
            </a:solidFill>
            <a:prstDash val="solid"/>
          </a:ln>
        </p:spPr>
      </p:sp>
      <p:sp>
        <p:nvSpPr>
          <p:cNvPr id="3" name="Shape 1"/>
          <p:cNvSpPr/>
          <p:nvPr/>
        </p:nvSpPr>
        <p:spPr>
          <a:xfrm>
            <a:off x="7589520" y="3291840"/>
            <a:ext cx="2194560" cy="2194560"/>
          </a:xfrm>
          <a:prstGeom prst="ellipse">
            <a:avLst/>
          </a:prstGeom>
          <a:solidFill>
            <a:srgbClr val="FFF4DE"/>
          </a:solidFill>
          <a:ln w="12700">
            <a:solidFill>
              <a:srgbClr val="FFF4DE"/>
            </a:solidFill>
            <a:prstDash val="solid"/>
          </a:ln>
        </p:spPr>
      </p:sp>
      <p:sp>
        <p:nvSpPr>
          <p:cNvPr id="4" name="Text 2"/>
          <p:cNvSpPr txBox="1"/>
          <p:nvPr/>
        </p:nvSpPr>
        <p:spPr>
          <a:xfrm>
            <a:off x="548640" y="822960"/>
            <a:ext cx="5943600" cy="365760"/>
          </a:xfrm>
          <a:prstGeom prst="rect">
            <a:avLst/>
          </a:prstGeom>
          <a:noFill/>
          <a:ln/>
        </p:spPr>
        <p:txBody>
          <a:bodyPr wrap="square" lIns="0" tIns="0" rIns="0" bIns="0" rtlCol="0" anchor="ctr"/>
          <a:lstStyle/>
          <a:p>
            <a:pPr indent="0" marL="0">
              <a:buNone/>
            </a:pPr>
            <a:r>
              <a:rPr lang="en-US" sz="1400" b="1" spc="100" kern="0" dirty="0">
                <a:solidFill>
                  <a:srgbClr val="F2A93B"/>
                </a:solidFill>
              </a:rPr>
              <a:t>TESTING LAB · 4TH YEAR</a:t>
            </a:r>
            <a:endParaRPr lang="en-US" sz="1400" dirty="0"/>
          </a:p>
        </p:txBody>
      </p:sp>
      <p:sp>
        <p:nvSpPr>
          <p:cNvPr id="5" name="Text 3"/>
          <p:cNvSpPr txBox="1"/>
          <p:nvPr/>
        </p:nvSpPr>
        <p:spPr>
          <a:xfrm>
            <a:off x="548640" y="1234440"/>
            <a:ext cx="6400800" cy="1371600"/>
          </a:xfrm>
          <a:prstGeom prst="rect">
            <a:avLst/>
          </a:prstGeom>
          <a:noFill/>
          <a:ln/>
        </p:spPr>
        <p:txBody>
          <a:bodyPr wrap="square" lIns="0" tIns="0" rIns="0" bIns="0" rtlCol="0" anchor="t"/>
          <a:lstStyle/>
          <a:p>
            <a:pPr indent="0" marL="0">
              <a:buNone/>
            </a:pPr>
            <a:r>
              <a:rPr lang="en-US" sz="3800" b="1" dirty="0">
                <a:solidFill>
                  <a:srgbClr val="0B6E69"/>
                </a:solidFill>
              </a:rPr>
              <a:t>Production Test Coverage Analysis (HW TCA)</a:t>
            </a:r>
            <a:endParaRPr lang="en-US" sz="3800" dirty="0"/>
          </a:p>
        </p:txBody>
      </p:sp>
      <p:sp>
        <p:nvSpPr>
          <p:cNvPr id="6" name="Text 4"/>
          <p:cNvSpPr txBox="1"/>
          <p:nvPr/>
        </p:nvSpPr>
        <p:spPr>
          <a:xfrm>
            <a:off x="548640" y="2697480"/>
            <a:ext cx="6035040" cy="822960"/>
          </a:xfrm>
          <a:prstGeom prst="rect">
            <a:avLst/>
          </a:prstGeom>
          <a:noFill/>
          <a:ln/>
        </p:spPr>
        <p:txBody>
          <a:bodyPr wrap="square" lIns="0" tIns="0" rIns="0" bIns="0" rtlCol="0" anchor="t"/>
          <a:lstStyle/>
          <a:p>
            <a:pPr indent="0" marL="0">
              <a:buNone/>
            </a:pPr>
            <a:r>
              <a:rPr lang="en-US" sz="1700" dirty="0">
                <a:solidFill>
                  <a:srgbClr val="1F2A37"/>
                </a:solidFill>
              </a:rPr>
              <a:t>How well production tests catch the manufacturing defects of an automotive circuit board</a:t>
            </a:r>
            <a:endParaRPr lang="en-US" sz="1700" dirty="0"/>
          </a:p>
        </p:txBody>
      </p:sp>
      <p:sp>
        <p:nvSpPr>
          <p:cNvPr id="7" name="Text 5"/>
          <p:cNvSpPr txBox="1"/>
          <p:nvPr/>
        </p:nvSpPr>
        <p:spPr>
          <a:xfrm>
            <a:off x="548640" y="4114800"/>
            <a:ext cx="6035040" cy="548640"/>
          </a:xfrm>
          <a:prstGeom prst="rect">
            <a:avLst/>
          </a:prstGeom>
          <a:noFill/>
          <a:ln/>
        </p:spPr>
        <p:txBody>
          <a:bodyPr wrap="square" lIns="0" tIns="0" rIns="0" bIns="0" rtlCol="0" anchor="t"/>
          <a:lstStyle/>
          <a:p>
            <a:pPr indent="0" marL="0">
              <a:buNone/>
            </a:pPr>
            <a:r>
              <a:rPr lang="en-US" sz="1200" dirty="0">
                <a:solidFill>
                  <a:srgbClr val="5B6575"/>
                </a:solidFill>
              </a:rPr>
              <a:t>Faculty of Electronics, Telecommunications and Information Technologies, UPT</a:t>
            </a:r>
            <a:endParaRPr lang="en-US" sz="1200" dirty="0"/>
          </a:p>
          <a:p>
            <a:pPr indent="0" marL="0">
              <a:buNone/>
            </a:pPr>
            <a:r>
              <a:rPr lang="en-US" sz="1200" dirty="0">
                <a:solidFill>
                  <a:srgbClr val="5B6575"/>
                </a:solidFill>
              </a:rPr>
              <a:t>Case study: the CAN node (MCP2551) of a front radar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Today's topics</a:t>
            </a:r>
            <a:endParaRPr lang="en-US" sz="2600" dirty="0"/>
          </a:p>
        </p:txBody>
      </p:sp>
      <p:sp>
        <p:nvSpPr>
          <p:cNvPr id="3" name="Shape 1"/>
          <p:cNvSpPr/>
          <p:nvPr/>
        </p:nvSpPr>
        <p:spPr>
          <a:xfrm>
            <a:off x="457200" y="1124712"/>
            <a:ext cx="384048" cy="384048"/>
          </a:xfrm>
          <a:prstGeom prst="ellipse">
            <a:avLst/>
          </a:prstGeom>
          <a:solidFill>
            <a:srgbClr val="0B6E69"/>
          </a:solidFill>
          <a:ln w="12700">
            <a:solidFill>
              <a:srgbClr val="0B6E69"/>
            </a:solidFill>
            <a:prstDash val="solid"/>
          </a:ln>
        </p:spPr>
      </p:sp>
      <p:sp>
        <p:nvSpPr>
          <p:cNvPr id="4" name="Text 2"/>
          <p:cNvSpPr txBox="1"/>
          <p:nvPr/>
        </p:nvSpPr>
        <p:spPr>
          <a:xfrm>
            <a:off x="457200" y="1124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960120" y="1051560"/>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Why we test in production</a:t>
            </a:r>
            <a:endParaRPr lang="en-US" sz="1500" dirty="0"/>
          </a:p>
          <a:p>
            <a:pPr indent="0" marL="0">
              <a:buNone/>
            </a:pPr>
            <a:r>
              <a:rPr lang="en-US" sz="1200" dirty="0">
                <a:solidFill>
                  <a:srgbClr val="5B6575"/>
                </a:solidFill>
              </a:rPr>
              <a:t>from the SMT line to the customer</a:t>
            </a:r>
            <a:endParaRPr lang="en-US" sz="1500" dirty="0"/>
          </a:p>
        </p:txBody>
      </p:sp>
      <p:sp>
        <p:nvSpPr>
          <p:cNvPr id="6" name="Shape 4"/>
          <p:cNvSpPr/>
          <p:nvPr/>
        </p:nvSpPr>
        <p:spPr>
          <a:xfrm>
            <a:off x="4663440" y="1124712"/>
            <a:ext cx="384048" cy="384048"/>
          </a:xfrm>
          <a:prstGeom prst="ellipse">
            <a:avLst/>
          </a:prstGeom>
          <a:solidFill>
            <a:srgbClr val="3B82C4"/>
          </a:solidFill>
          <a:ln w="12700">
            <a:solidFill>
              <a:srgbClr val="3B82C4"/>
            </a:solidFill>
            <a:prstDash val="solid"/>
          </a:ln>
        </p:spPr>
      </p:sp>
      <p:sp>
        <p:nvSpPr>
          <p:cNvPr id="7" name="Text 5"/>
          <p:cNvSpPr txBox="1"/>
          <p:nvPr/>
        </p:nvSpPr>
        <p:spPr>
          <a:xfrm>
            <a:off x="4663440" y="1124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5166360" y="1051560"/>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What test coverage analysis is</a:t>
            </a:r>
            <a:endParaRPr lang="en-US" sz="1500" dirty="0"/>
          </a:p>
          <a:p>
            <a:pPr indent="0" marL="0">
              <a:buNone/>
            </a:pPr>
            <a:r>
              <a:rPr lang="en-US" sz="1200" dirty="0">
                <a:solidFill>
                  <a:srgbClr val="5B6575"/>
                </a:solidFill>
              </a:rPr>
              <a:t>what a passed test proves</a:t>
            </a:r>
            <a:endParaRPr lang="en-US" sz="1500" dirty="0"/>
          </a:p>
        </p:txBody>
      </p:sp>
      <p:sp>
        <p:nvSpPr>
          <p:cNvPr id="9" name="Shape 7"/>
          <p:cNvSpPr/>
          <p:nvPr/>
        </p:nvSpPr>
        <p:spPr>
          <a:xfrm>
            <a:off x="457200" y="1965960"/>
            <a:ext cx="384048" cy="384048"/>
          </a:xfrm>
          <a:prstGeom prst="ellipse">
            <a:avLst/>
          </a:prstGeom>
          <a:solidFill>
            <a:srgbClr val="0B6E69"/>
          </a:solidFill>
          <a:ln w="12700">
            <a:solidFill>
              <a:srgbClr val="0B6E69"/>
            </a:solidFill>
            <a:prstDash val="solid"/>
          </a:ln>
        </p:spPr>
      </p:sp>
      <p:sp>
        <p:nvSpPr>
          <p:cNvPr id="10" name="Text 8"/>
          <p:cNvSpPr txBox="1"/>
          <p:nvPr/>
        </p:nvSpPr>
        <p:spPr>
          <a:xfrm>
            <a:off x="4572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960120" y="1892808"/>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PCOLA/SOQ/FAM and test methods</a:t>
            </a:r>
            <a:endParaRPr lang="en-US" sz="1500" dirty="0"/>
          </a:p>
          <a:p>
            <a:pPr indent="0" marL="0">
              <a:buNone/>
            </a:pPr>
            <a:r>
              <a:rPr lang="en-US" sz="1200" dirty="0">
                <a:solidFill>
                  <a:srgbClr val="5B6575"/>
                </a:solidFill>
              </a:rPr>
              <a:t>AOI, AXI, ICT, boundary scan, FT</a:t>
            </a:r>
            <a:endParaRPr lang="en-US" sz="1500" dirty="0"/>
          </a:p>
        </p:txBody>
      </p:sp>
      <p:sp>
        <p:nvSpPr>
          <p:cNvPr id="12" name="Shape 10"/>
          <p:cNvSpPr/>
          <p:nvPr/>
        </p:nvSpPr>
        <p:spPr>
          <a:xfrm>
            <a:off x="4663440" y="1965960"/>
            <a:ext cx="384048" cy="384048"/>
          </a:xfrm>
          <a:prstGeom prst="ellipse">
            <a:avLst/>
          </a:prstGeom>
          <a:solidFill>
            <a:srgbClr val="3B82C4"/>
          </a:solidFill>
          <a:ln w="12700">
            <a:solidFill>
              <a:srgbClr val="3B82C4"/>
            </a:solidFill>
            <a:prstDash val="solid"/>
          </a:ln>
        </p:spPr>
      </p:sp>
      <p:sp>
        <p:nvSpPr>
          <p:cNvPr id="13" name="Text 11"/>
          <p:cNvSpPr txBox="1"/>
          <p:nvPr/>
        </p:nvSpPr>
        <p:spPr>
          <a:xfrm>
            <a:off x="46634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5166360" y="1892808"/>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Risk: analysis and assessment</a:t>
            </a:r>
            <a:endParaRPr lang="en-US" sz="1500" dirty="0"/>
          </a:p>
          <a:p>
            <a:pPr indent="0" marL="0">
              <a:buNone/>
            </a:pPr>
            <a:r>
              <a:rPr lang="en-US" sz="1200" dirty="0">
                <a:solidFill>
                  <a:srgbClr val="5B6575"/>
                </a:solidFill>
              </a:rPr>
              <a:t>S, O, D and action priority</a:t>
            </a:r>
            <a:endParaRPr lang="en-US" sz="1500" dirty="0"/>
          </a:p>
        </p:txBody>
      </p:sp>
      <p:sp>
        <p:nvSpPr>
          <p:cNvPr id="15" name="Shape 13"/>
          <p:cNvSpPr/>
          <p:nvPr/>
        </p:nvSpPr>
        <p:spPr>
          <a:xfrm>
            <a:off x="457200" y="2807208"/>
            <a:ext cx="384048" cy="384048"/>
          </a:xfrm>
          <a:prstGeom prst="ellipse">
            <a:avLst/>
          </a:prstGeom>
          <a:solidFill>
            <a:srgbClr val="0B6E69"/>
          </a:solidFill>
          <a:ln w="12700">
            <a:solidFill>
              <a:srgbClr val="0B6E69"/>
            </a:solidFill>
            <a:prstDash val="solid"/>
          </a:ln>
        </p:spPr>
      </p:sp>
      <p:sp>
        <p:nvSpPr>
          <p:cNvPr id="16" name="Text 14"/>
          <p:cNvSpPr txBox="1"/>
          <p:nvPr/>
        </p:nvSpPr>
        <p:spPr>
          <a:xfrm>
            <a:off x="45720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960120" y="2734056"/>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Standards and laws</a:t>
            </a:r>
            <a:endParaRPr lang="en-US" sz="1500" dirty="0"/>
          </a:p>
          <a:p>
            <a:pPr indent="0" marL="0">
              <a:buNone/>
            </a:pPr>
            <a:r>
              <a:rPr lang="en-US" sz="1200" dirty="0">
                <a:solidFill>
                  <a:srgbClr val="5B6575"/>
                </a:solidFill>
              </a:rPr>
              <a:t>AIAG-VDA, ISO 26262, IATF 16949, IPC, EU</a:t>
            </a:r>
            <a:endParaRPr lang="en-US" sz="1500" dirty="0"/>
          </a:p>
        </p:txBody>
      </p:sp>
      <p:sp>
        <p:nvSpPr>
          <p:cNvPr id="18" name="Shape 16"/>
          <p:cNvSpPr/>
          <p:nvPr/>
        </p:nvSpPr>
        <p:spPr>
          <a:xfrm>
            <a:off x="4663440" y="2807208"/>
            <a:ext cx="384048" cy="384048"/>
          </a:xfrm>
          <a:prstGeom prst="ellipse">
            <a:avLst/>
          </a:prstGeom>
          <a:solidFill>
            <a:srgbClr val="3B82C4"/>
          </a:solidFill>
          <a:ln w="12700">
            <a:solidFill>
              <a:srgbClr val="3B82C4"/>
            </a:solidFill>
            <a:prstDash val="solid"/>
          </a:ln>
        </p:spPr>
      </p:sp>
      <p:sp>
        <p:nvSpPr>
          <p:cNvPr id="19" name="Text 17"/>
          <p:cNvSpPr txBox="1"/>
          <p:nvPr/>
        </p:nvSpPr>
        <p:spPr>
          <a:xfrm>
            <a:off x="466344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5166360" y="2734056"/>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Real consequences</a:t>
            </a:r>
            <a:endParaRPr lang="en-US" sz="1500" dirty="0"/>
          </a:p>
          <a:p>
            <a:pPr indent="0" marL="0">
              <a:buNone/>
            </a:pPr>
            <a:r>
              <a:rPr lang="en-US" sz="1200" dirty="0">
                <a:solidFill>
                  <a:srgbClr val="5B6575"/>
                </a:solidFill>
              </a:rPr>
              <a:t>recalls documented by NHTSA</a:t>
            </a:r>
            <a:endParaRPr lang="en-US" sz="1500" dirty="0"/>
          </a:p>
        </p:txBody>
      </p:sp>
      <p:sp>
        <p:nvSpPr>
          <p:cNvPr id="21" name="Shape 19"/>
          <p:cNvSpPr/>
          <p:nvPr/>
        </p:nvSpPr>
        <p:spPr>
          <a:xfrm>
            <a:off x="457200" y="3648456"/>
            <a:ext cx="384048" cy="384048"/>
          </a:xfrm>
          <a:prstGeom prst="ellipse">
            <a:avLst/>
          </a:prstGeom>
          <a:solidFill>
            <a:srgbClr val="0B6E69"/>
          </a:solidFill>
          <a:ln w="12700">
            <a:solidFill>
              <a:srgbClr val="0B6E69"/>
            </a:solidFill>
            <a:prstDash val="solid"/>
          </a:ln>
        </p:spPr>
      </p:sp>
      <p:sp>
        <p:nvSpPr>
          <p:cNvPr id="22" name="Text 20"/>
          <p:cNvSpPr txBox="1"/>
          <p:nvPr/>
        </p:nvSpPr>
        <p:spPr>
          <a:xfrm>
            <a:off x="457200" y="3648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960120" y="3575304"/>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Other industries</a:t>
            </a:r>
            <a:endParaRPr lang="en-US" sz="1500" dirty="0"/>
          </a:p>
          <a:p>
            <a:pPr indent="0" marL="0">
              <a:buNone/>
            </a:pPr>
            <a:r>
              <a:rPr lang="en-US" sz="1200" dirty="0">
                <a:solidFill>
                  <a:srgbClr val="5B6575"/>
                </a:solidFill>
              </a:rPr>
              <a:t>aerospace, medical, rail, telecom</a:t>
            </a:r>
            <a:endParaRPr lang="en-US" sz="1500" dirty="0"/>
          </a:p>
        </p:txBody>
      </p:sp>
      <p:sp>
        <p:nvSpPr>
          <p:cNvPr id="24" name="Shape 22"/>
          <p:cNvSpPr/>
          <p:nvPr/>
        </p:nvSpPr>
        <p:spPr>
          <a:xfrm>
            <a:off x="4663440" y="3648456"/>
            <a:ext cx="384048" cy="384048"/>
          </a:xfrm>
          <a:prstGeom prst="ellipse">
            <a:avLst/>
          </a:prstGeom>
          <a:solidFill>
            <a:srgbClr val="3B82C4"/>
          </a:solidFill>
          <a:ln w="12700">
            <a:solidFill>
              <a:srgbClr val="3B82C4"/>
            </a:solidFill>
            <a:prstDash val="solid"/>
          </a:ln>
        </p:spPr>
      </p:sp>
      <p:sp>
        <p:nvSpPr>
          <p:cNvPr id="25" name="Text 23"/>
          <p:cNvSpPr txBox="1"/>
          <p:nvPr/>
        </p:nvSpPr>
        <p:spPr>
          <a:xfrm>
            <a:off x="4663440" y="3648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166360" y="3575304"/>
            <a:ext cx="3520440" cy="749808"/>
          </a:xfrm>
          <a:prstGeom prst="rect">
            <a:avLst/>
          </a:prstGeom>
          <a:noFill/>
          <a:ln/>
        </p:spPr>
        <p:txBody>
          <a:bodyPr wrap="square" lIns="254" tIns="254" rIns="254" bIns="254" rtlCol="0" anchor="t"/>
          <a:lstStyle/>
          <a:p>
            <a:pPr indent="0" marL="0">
              <a:buNone/>
            </a:pPr>
            <a:r>
              <a:rPr lang="en-US" sz="1500" b="1" dirty="0">
                <a:solidFill>
                  <a:srgbClr val="1F2A37"/>
                </a:solidFill>
              </a:rPr>
              <a:t>Today's lab and careers</a:t>
            </a:r>
            <a:endParaRPr lang="en-US" sz="1500" dirty="0"/>
          </a:p>
          <a:p>
            <a:pPr indent="0" marL="0">
              <a:buNone/>
            </a:pPr>
            <a:r>
              <a:rPr lang="en-US" sz="1200" dirty="0">
                <a:solidFill>
                  <a:srgbClr val="5B6575"/>
                </a:solidFill>
              </a:rPr>
              <a:t>the method step by step</a:t>
            </a:r>
            <a:endParaRPr lang="en-US" sz="15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From the assembly line to the customer</a:t>
            </a:r>
            <a:endParaRPr lang="en-US" sz="2600" dirty="0"/>
          </a:p>
        </p:txBody>
      </p:sp>
      <p:sp>
        <p:nvSpPr>
          <p:cNvPr id="3" name="Shape 1"/>
          <p:cNvSpPr/>
          <p:nvPr/>
        </p:nvSpPr>
        <p:spPr>
          <a:xfrm>
            <a:off x="457200" y="1051560"/>
            <a:ext cx="1558138" cy="1417320"/>
          </a:xfrm>
          <a:prstGeom prst="roundRect">
            <a:avLst>
              <a:gd name="adj" fmla="val 6452"/>
            </a:avLst>
          </a:prstGeom>
          <a:solidFill>
            <a:srgbClr val="E3F4F1"/>
          </a:solidFill>
          <a:ln w="6350">
            <a:solidFill>
              <a:srgbClr val="E3F4F1"/>
            </a:solidFill>
            <a:prstDash val="solid"/>
          </a:ln>
        </p:spPr>
      </p:sp>
      <p:sp>
        <p:nvSpPr>
          <p:cNvPr id="4" name="Text 2"/>
          <p:cNvSpPr txBox="1"/>
          <p:nvPr/>
        </p:nvSpPr>
        <p:spPr>
          <a:xfrm>
            <a:off x="566928"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Assembly</a:t>
            </a:r>
            <a:endParaRPr lang="en-US" sz="1300" dirty="0"/>
          </a:p>
          <a:p>
            <a:pPr indent="0" marL="0">
              <a:spcAft>
                <a:spcPts val="300"/>
              </a:spcAft>
              <a:buNone/>
            </a:pPr>
            <a:r>
              <a:rPr lang="en-US" sz="1200" dirty="0">
                <a:solidFill>
                  <a:srgbClr val="1F2A37"/>
                </a:solidFill>
              </a:rPr>
              <a:t>paste, SMT placement, reflow, THT</a:t>
            </a:r>
            <a:endParaRPr lang="en-US" sz="1300" dirty="0"/>
          </a:p>
        </p:txBody>
      </p:sp>
      <p:sp>
        <p:nvSpPr>
          <p:cNvPr id="5" name="Text 3"/>
          <p:cNvSpPr txBox="1"/>
          <p:nvPr/>
        </p:nvSpPr>
        <p:spPr>
          <a:xfrm>
            <a:off x="1997050"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6" name="Shape 4"/>
          <p:cNvSpPr/>
          <p:nvPr/>
        </p:nvSpPr>
        <p:spPr>
          <a:xfrm>
            <a:off x="2125066" y="1051560"/>
            <a:ext cx="1558138" cy="1417320"/>
          </a:xfrm>
          <a:prstGeom prst="roundRect">
            <a:avLst>
              <a:gd name="adj" fmla="val 6452"/>
            </a:avLst>
          </a:prstGeom>
          <a:solidFill>
            <a:srgbClr val="FFF4DE"/>
          </a:solidFill>
          <a:ln w="6350">
            <a:solidFill>
              <a:srgbClr val="FFF4DE"/>
            </a:solidFill>
            <a:prstDash val="solid"/>
          </a:ln>
        </p:spPr>
      </p:sp>
      <p:sp>
        <p:nvSpPr>
          <p:cNvPr id="7" name="Text 5"/>
          <p:cNvSpPr txBox="1"/>
          <p:nvPr/>
        </p:nvSpPr>
        <p:spPr>
          <a:xfrm>
            <a:off x="2234794"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AOI / AXI</a:t>
            </a:r>
            <a:endParaRPr lang="en-US" sz="1300" dirty="0"/>
          </a:p>
          <a:p>
            <a:pPr indent="0" marL="0">
              <a:spcAft>
                <a:spcPts val="300"/>
              </a:spcAft>
              <a:buNone/>
            </a:pPr>
            <a:r>
              <a:rPr lang="en-US" sz="1200" dirty="0">
                <a:solidFill>
                  <a:srgbClr val="1F2A37"/>
                </a:solidFill>
              </a:rPr>
              <a:t>optical and X-ray inspection</a:t>
            </a:r>
            <a:endParaRPr lang="en-US" sz="1300" dirty="0"/>
          </a:p>
        </p:txBody>
      </p:sp>
      <p:sp>
        <p:nvSpPr>
          <p:cNvPr id="8" name="Text 6"/>
          <p:cNvSpPr txBox="1"/>
          <p:nvPr/>
        </p:nvSpPr>
        <p:spPr>
          <a:xfrm>
            <a:off x="3664915"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9" name="Shape 7"/>
          <p:cNvSpPr/>
          <p:nvPr/>
        </p:nvSpPr>
        <p:spPr>
          <a:xfrm>
            <a:off x="3792931" y="1051560"/>
            <a:ext cx="1558138" cy="1417320"/>
          </a:xfrm>
          <a:prstGeom prst="roundRect">
            <a:avLst>
              <a:gd name="adj" fmla="val 6452"/>
            </a:avLst>
          </a:prstGeom>
          <a:solidFill>
            <a:srgbClr val="FFF4DE"/>
          </a:solidFill>
          <a:ln w="6350">
            <a:solidFill>
              <a:srgbClr val="FFF4DE"/>
            </a:solidFill>
            <a:prstDash val="solid"/>
          </a:ln>
        </p:spPr>
      </p:sp>
      <p:sp>
        <p:nvSpPr>
          <p:cNvPr id="10" name="Text 8"/>
          <p:cNvSpPr txBox="1"/>
          <p:nvPr/>
        </p:nvSpPr>
        <p:spPr>
          <a:xfrm>
            <a:off x="3902659"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ICT</a:t>
            </a:r>
            <a:endParaRPr lang="en-US" sz="1300" dirty="0"/>
          </a:p>
          <a:p>
            <a:pPr indent="0" marL="0">
              <a:spcAft>
                <a:spcPts val="300"/>
              </a:spcAft>
              <a:buNone/>
            </a:pPr>
            <a:r>
              <a:rPr lang="en-US" sz="1200" dirty="0">
                <a:solidFill>
                  <a:srgbClr val="1F2A37"/>
                </a:solidFill>
              </a:rPr>
              <a:t>in-circuit test, needles on test points</a:t>
            </a:r>
            <a:endParaRPr lang="en-US" sz="1300" dirty="0"/>
          </a:p>
        </p:txBody>
      </p:sp>
      <p:sp>
        <p:nvSpPr>
          <p:cNvPr id="11" name="Text 9"/>
          <p:cNvSpPr txBox="1"/>
          <p:nvPr/>
        </p:nvSpPr>
        <p:spPr>
          <a:xfrm>
            <a:off x="5332781"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2" name="Shape 10"/>
          <p:cNvSpPr/>
          <p:nvPr/>
        </p:nvSpPr>
        <p:spPr>
          <a:xfrm>
            <a:off x="5460797" y="1051560"/>
            <a:ext cx="1558138" cy="1417320"/>
          </a:xfrm>
          <a:prstGeom prst="roundRect">
            <a:avLst>
              <a:gd name="adj" fmla="val 6452"/>
            </a:avLst>
          </a:prstGeom>
          <a:solidFill>
            <a:srgbClr val="FFF4DE"/>
          </a:solidFill>
          <a:ln w="6350">
            <a:solidFill>
              <a:srgbClr val="FFF4DE"/>
            </a:solidFill>
            <a:prstDash val="solid"/>
          </a:ln>
        </p:spPr>
      </p:sp>
      <p:sp>
        <p:nvSpPr>
          <p:cNvPr id="13" name="Text 11"/>
          <p:cNvSpPr txBox="1"/>
          <p:nvPr/>
        </p:nvSpPr>
        <p:spPr>
          <a:xfrm>
            <a:off x="5570525"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FT</a:t>
            </a:r>
            <a:endParaRPr lang="en-US" sz="1300" dirty="0"/>
          </a:p>
          <a:p>
            <a:pPr indent="0" marL="0">
              <a:spcAft>
                <a:spcPts val="300"/>
              </a:spcAft>
              <a:buNone/>
            </a:pPr>
            <a:r>
              <a:rPr lang="en-US" sz="1200" dirty="0">
                <a:solidFill>
                  <a:srgbClr val="1F2A37"/>
                </a:solidFill>
              </a:rPr>
              <a:t>functional test through the connectors</a:t>
            </a:r>
            <a:endParaRPr lang="en-US" sz="1300" dirty="0"/>
          </a:p>
        </p:txBody>
      </p:sp>
      <p:sp>
        <p:nvSpPr>
          <p:cNvPr id="14" name="Text 12"/>
          <p:cNvSpPr txBox="1"/>
          <p:nvPr/>
        </p:nvSpPr>
        <p:spPr>
          <a:xfrm>
            <a:off x="7000646"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5" name="Shape 13"/>
          <p:cNvSpPr/>
          <p:nvPr/>
        </p:nvSpPr>
        <p:spPr>
          <a:xfrm>
            <a:off x="7128662" y="1051560"/>
            <a:ext cx="1558138" cy="1417320"/>
          </a:xfrm>
          <a:prstGeom prst="roundRect">
            <a:avLst>
              <a:gd name="adj" fmla="val 6452"/>
            </a:avLst>
          </a:prstGeom>
          <a:solidFill>
            <a:srgbClr val="FCE9E7"/>
          </a:solidFill>
          <a:ln w="6350">
            <a:solidFill>
              <a:srgbClr val="FCE9E7"/>
            </a:solidFill>
            <a:prstDash val="solid"/>
          </a:ln>
        </p:spPr>
      </p:sp>
      <p:sp>
        <p:nvSpPr>
          <p:cNvPr id="16" name="Text 14"/>
          <p:cNvSpPr txBox="1"/>
          <p:nvPr/>
        </p:nvSpPr>
        <p:spPr>
          <a:xfrm>
            <a:off x="7238390"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E46A5E"/>
                </a:solidFill>
              </a:rPr>
              <a:t>Customer</a:t>
            </a:r>
            <a:endParaRPr lang="en-US" sz="1300" dirty="0"/>
          </a:p>
          <a:p>
            <a:pPr indent="0" marL="0">
              <a:spcAft>
                <a:spcPts val="300"/>
              </a:spcAft>
              <a:buNone/>
            </a:pPr>
            <a:r>
              <a:rPr lang="en-US" sz="1200" dirty="0">
                <a:solidFill>
                  <a:srgbClr val="1F2A37"/>
                </a:solidFill>
              </a:rPr>
              <a:t>the escaped defect reaches the vehicle</a:t>
            </a:r>
            <a:endParaRPr lang="en-US" sz="1300" dirty="0"/>
          </a:p>
        </p:txBody>
      </p:sp>
      <p:sp>
        <p:nvSpPr>
          <p:cNvPr id="17" name="Text 15"/>
          <p:cNvSpPr txBox="1"/>
          <p:nvPr/>
        </p:nvSpPr>
        <p:spPr>
          <a:xfrm>
            <a:off x="457200" y="2697480"/>
            <a:ext cx="4937760" cy="1783080"/>
          </a:xfrm>
          <a:prstGeom prst="rect">
            <a:avLst/>
          </a:prstGeom>
          <a:noFill/>
          <a:ln/>
        </p:spPr>
        <p:txBody>
          <a:bodyPr wrap="square" lIns="635" tIns="635" rIns="635" bIns="635" rtlCol="0" anchor="t"/>
          <a:lstStyle/>
          <a:p>
            <a:pPr marL="177800" indent="-177800">
              <a:spcAft>
                <a:spcPts val="600"/>
              </a:spcAft>
              <a:buSzPct val="100000"/>
              <a:buChar char="•"/>
            </a:pPr>
            <a:r>
              <a:rPr lang="en-US" sz="1400" dirty="0">
                <a:solidFill>
                  <a:srgbClr val="1F2A37"/>
                </a:solidFill>
              </a:rPr>
              <a:t>Each test stage looks for different defect types.</a:t>
            </a:r>
            <a:endParaRPr lang="en-US" sz="1400" dirty="0"/>
          </a:p>
          <a:p>
            <a:pPr marL="177800" indent="-177800">
              <a:spcAft>
                <a:spcPts val="600"/>
              </a:spcAft>
              <a:buSzPct val="100000"/>
              <a:buChar char="•"/>
            </a:pPr>
            <a:r>
              <a:rPr lang="en-US" sz="1400" dirty="0">
                <a:solidFill>
                  <a:srgbClr val="1F2A37"/>
                </a:solidFill>
              </a:rPr>
              <a:t>Early stages catch assembly defects best; late stages catch functional defects [6].</a:t>
            </a:r>
            <a:endParaRPr lang="en-US" sz="1400" dirty="0"/>
          </a:p>
          <a:p>
            <a:pPr marL="177800" indent="-177800">
              <a:spcAft>
                <a:spcPts val="600"/>
              </a:spcAft>
              <a:buSzPct val="100000"/>
              <a:buChar char="•"/>
            </a:pPr>
            <a:r>
              <a:rPr lang="en-US" sz="1400" dirty="0">
                <a:solidFill>
                  <a:srgbClr val="1F2A37"/>
                </a:solidFill>
              </a:rPr>
              <a:t>A defect that passes all stages is an “escape”: it reaches the customer.</a:t>
            </a:r>
            <a:endParaRPr lang="en-US" sz="1400" dirty="0"/>
          </a:p>
        </p:txBody>
      </p:sp>
      <p:sp>
        <p:nvSpPr>
          <p:cNvPr id="18" name="image placeholder"/>
          <p:cNvSpPr/>
          <p:nvPr/>
        </p:nvSpPr>
        <p:spPr>
          <a:xfrm>
            <a:off x="5577840" y="2697480"/>
            <a:ext cx="3108960" cy="1783080"/>
          </a:xfrm>
          <a:prstGeom prst="roundRect">
            <a:avLst>
              <a:gd name="adj" fmla="val 6154"/>
            </a:avLst>
          </a:prstGeom>
          <a:solidFill>
            <a:srgbClr val="F4F6F8"/>
          </a:solidFill>
          <a:ln w="12700">
            <a:solidFill>
              <a:srgbClr val="9AA5B1"/>
            </a:solidFill>
            <a:prstDash val="dash"/>
          </a:ln>
        </p:spPr>
      </p:sp>
      <p:sp>
        <p:nvSpPr>
          <p:cNvPr id="19" name="image placeholder label"/>
          <p:cNvSpPr txBox="1"/>
          <p:nvPr/>
        </p:nvSpPr>
        <p:spPr>
          <a:xfrm>
            <a:off x="5715000" y="2788920"/>
            <a:ext cx="2834640" cy="1600200"/>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SMT line / test stations (photo or diagram)</a:t>
            </a:r>
            <a:endParaRPr lang="en-US" sz="1200" dirty="0"/>
          </a:p>
        </p:txBody>
      </p:sp>
      <p:sp>
        <p:nvSpPr>
          <p:cNvPr id="20"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[6] Smith, IPC APEX (iNEMI data, 2000)</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What test coverage analysis (TCA) is</a:t>
            </a:r>
            <a:endParaRPr lang="en-US" sz="2600" dirty="0"/>
          </a:p>
        </p:txBody>
      </p:sp>
      <p:sp>
        <p:nvSpPr>
          <p:cNvPr id="3" name="Shape 1"/>
          <p:cNvSpPr/>
          <p:nvPr/>
        </p:nvSpPr>
        <p:spPr>
          <a:xfrm>
            <a:off x="457200" y="1005840"/>
            <a:ext cx="4937760" cy="777240"/>
          </a:xfrm>
          <a:prstGeom prst="roundRect">
            <a:avLst>
              <a:gd name="adj" fmla="val 11765"/>
            </a:avLst>
          </a:prstGeom>
          <a:solidFill>
            <a:srgbClr val="FFF4DE"/>
          </a:solidFill>
          <a:ln w="12700">
            <a:solidFill>
              <a:srgbClr val="FFF4DE"/>
            </a:solidFill>
            <a:prstDash val="solid"/>
          </a:ln>
        </p:spPr>
      </p:sp>
      <p:sp>
        <p:nvSpPr>
          <p:cNvPr id="4" name="Text 2"/>
          <p:cNvSpPr txBox="1"/>
          <p:nvPr/>
        </p:nvSpPr>
        <p:spPr>
          <a:xfrm>
            <a:off x="594360" y="1033272"/>
            <a:ext cx="4663440" cy="731520"/>
          </a:xfrm>
          <a:prstGeom prst="rect">
            <a:avLst/>
          </a:prstGeom>
          <a:noFill/>
          <a:ln/>
        </p:spPr>
        <p:txBody>
          <a:bodyPr wrap="square" lIns="0" tIns="0" rIns="0" bIns="0" rtlCol="0" anchor="ctr"/>
          <a:lstStyle/>
          <a:p>
            <a:pPr indent="0" marL="0">
              <a:buNone/>
            </a:pPr>
            <a:r>
              <a:rPr lang="en-US" sz="1500" i="1" dirty="0">
                <a:solidFill>
                  <a:srgbClr val="1F2A37"/>
                </a:solidFill>
              </a:rPr>
              <a:t>“What does it mean when a board test passes?” [1]</a:t>
            </a:r>
            <a:endParaRPr lang="en-US" sz="1500" dirty="0"/>
          </a:p>
        </p:txBody>
      </p:sp>
      <p:sp>
        <p:nvSpPr>
          <p:cNvPr id="5" name="Text 3"/>
          <p:cNvSpPr txBox="1"/>
          <p:nvPr/>
        </p:nvSpPr>
        <p:spPr>
          <a:xfrm>
            <a:off x="457200" y="1920240"/>
            <a:ext cx="4937760" cy="2560320"/>
          </a:xfrm>
          <a:prstGeom prst="rect">
            <a:avLst/>
          </a:prstGeom>
          <a:noFill/>
          <a:ln/>
        </p:spPr>
        <p:txBody>
          <a:bodyPr wrap="square" lIns="635" tIns="635" rIns="635" bIns="635" rtlCol="0" anchor="t"/>
          <a:lstStyle/>
          <a:p>
            <a:pPr marL="177800" indent="-177800">
              <a:spcAft>
                <a:spcPts val="600"/>
              </a:spcAft>
              <a:buSzPct val="100000"/>
              <a:buChar char="•"/>
            </a:pPr>
            <a:r>
              <a:rPr lang="en-US" sz="1400" b="1" dirty="0">
                <a:solidFill>
                  <a:srgbClr val="1F2A37"/>
                </a:solidFill>
              </a:rPr>
              <a:t>Coverage: </a:t>
            </a:r>
            <a:pPr indent="0" marL="0">
              <a:buNone/>
            </a:pPr>
            <a:r>
              <a:rPr lang="en-US" sz="1400" dirty="0">
                <a:solidFill>
                  <a:srgbClr val="1F2A37"/>
                </a:solidFill>
              </a:rPr>
              <a:t>an indication of the quality of a test suite [4].</a:t>
            </a:r>
            <a:endParaRPr lang="en-US" sz="1400" dirty="0"/>
          </a:p>
          <a:p>
            <a:pPr marL="177800" indent="-177800">
              <a:spcAft>
                <a:spcPts val="600"/>
              </a:spcAft>
              <a:buSzPct val="100000"/>
              <a:buChar char="•"/>
            </a:pPr>
            <a:r>
              <a:rPr lang="en-US" sz="1400" b="1" dirty="0">
                <a:solidFill>
                  <a:srgbClr val="1F2A37"/>
                </a:solidFill>
              </a:rPr>
              <a:t>The right question: </a:t>
            </a:r>
            <a:pPr indent="0" marL="0">
              <a:buNone/>
            </a:pPr>
            <a:r>
              <a:rPr lang="en-US" sz="1400" dirty="0">
                <a:solidFill>
                  <a:srgbClr val="1F2A37"/>
                </a:solidFill>
              </a:rPr>
              <a:t>which defects would have been caught if present, not how many nodes have a test.</a:t>
            </a:r>
            <a:endParaRPr lang="en-US" sz="1400" dirty="0"/>
          </a:p>
          <a:p>
            <a:pPr marL="177800" indent="-177800">
              <a:spcAft>
                <a:spcPts val="600"/>
              </a:spcAft>
              <a:buSzPct val="100000"/>
              <a:buChar char="•"/>
            </a:pPr>
            <a:r>
              <a:rPr lang="en-US" sz="1400" b="1" dirty="0">
                <a:solidFill>
                  <a:srgbClr val="1F2A37"/>
                </a:solidFill>
              </a:rPr>
              <a:t>Beware of percentages: </a:t>
            </a:r>
            <a:pPr indent="0" marL="0">
              <a:buNone/>
            </a:pPr>
            <a:r>
              <a:rPr lang="en-US" sz="1400" dirty="0">
                <a:solidFill>
                  <a:srgbClr val="1F2A37"/>
                </a:solidFill>
              </a:rPr>
              <a:t>“99%” opens coverage may really mean ~40% [2].</a:t>
            </a:r>
            <a:endParaRPr lang="en-US" sz="1400" dirty="0"/>
          </a:p>
          <a:p>
            <a:pPr marL="177800" indent="-177800">
              <a:spcAft>
                <a:spcPts val="600"/>
              </a:spcAft>
              <a:buSzPct val="100000"/>
              <a:buChar char="•"/>
            </a:pPr>
            <a:r>
              <a:rPr lang="en-US" sz="1400" b="1" dirty="0">
                <a:solidFill>
                  <a:srgbClr val="1F2A37"/>
                </a:solidFill>
              </a:rPr>
              <a:t>TCA result: </a:t>
            </a:r>
            <a:pPr indent="0" marL="0">
              <a:buNone/>
            </a:pPr>
            <a:r>
              <a:rPr lang="en-US" sz="1400" dirty="0">
                <a:solidFill>
                  <a:srgbClr val="1F2A37"/>
                </a:solidFill>
              </a:rPr>
              <a:t>a detection D for each defect and method, then the residual risk.</a:t>
            </a:r>
            <a:endParaRPr lang="en-US" sz="1400" dirty="0"/>
          </a:p>
        </p:txBody>
      </p:sp>
      <p:sp>
        <p:nvSpPr>
          <p:cNvPr id="6" name="image placeholder"/>
          <p:cNvSpPr/>
          <p:nvPr/>
        </p:nvSpPr>
        <p:spPr>
          <a:xfrm>
            <a:off x="5577840" y="1051560"/>
            <a:ext cx="3108960" cy="3383280"/>
          </a:xfrm>
          <a:prstGeom prst="roundRect">
            <a:avLst>
              <a:gd name="adj" fmla="val 3529"/>
            </a:avLst>
          </a:prstGeom>
          <a:solidFill>
            <a:srgbClr val="F4F6F8"/>
          </a:solidFill>
          <a:ln w="12700">
            <a:solidFill>
              <a:srgbClr val="9AA5B1"/>
            </a:solidFill>
            <a:prstDash val="dash"/>
          </a:ln>
        </p:spPr>
      </p:sp>
      <p:sp>
        <p:nvSpPr>
          <p:cNvPr id="7" name="image placeholder label"/>
          <p:cNvSpPr txBox="1"/>
          <p:nvPr/>
        </p:nvSpPr>
        <p:spPr>
          <a:xfrm>
            <a:off x="5715000" y="1143000"/>
            <a:ext cx="2834640" cy="3200400"/>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example coverage report (e.g. TestWay) or a screenshot of our app</a:t>
            </a:r>
            <a:endParaRPr lang="en-US" sz="1200" dirty="0"/>
          </a:p>
        </p:txBody>
      </p:sp>
      <p:sp>
        <p:nvSpPr>
          <p:cNvPr id="8"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 Hird et al., ITC 2002 · [2] Tegethoff et al., ITC 1996 · [4] US 6,948,140 B2</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The PCOLA/SOQ/FAM model</a:t>
            </a:r>
            <a:endParaRPr lang="en-US" sz="2600" dirty="0"/>
          </a:p>
        </p:txBody>
      </p:sp>
      <p:sp>
        <p:nvSpPr>
          <p:cNvPr id="3" name="Text 1"/>
          <p:cNvSpPr txBox="1"/>
          <p:nvPr/>
        </p:nvSpPr>
        <p:spPr>
          <a:xfrm>
            <a:off x="457200" y="1005840"/>
            <a:ext cx="1234440" cy="1051560"/>
          </a:xfrm>
          <a:prstGeom prst="rect">
            <a:avLst/>
          </a:prstGeom>
          <a:noFill/>
          <a:ln/>
        </p:spPr>
        <p:txBody>
          <a:bodyPr wrap="square" lIns="0" tIns="0" rIns="0" bIns="0" rtlCol="0" anchor="ctr"/>
          <a:lstStyle/>
          <a:p>
            <a:pPr indent="0" marL="0">
              <a:buNone/>
            </a:pPr>
            <a:r>
              <a:rPr lang="en-US" sz="1500" b="1" dirty="0">
                <a:solidFill>
                  <a:srgbClr val="0B6E69"/>
                </a:solidFill>
              </a:rPr>
              <a:t>Component</a:t>
            </a:r>
            <a:endParaRPr lang="en-US" sz="1500" dirty="0"/>
          </a:p>
          <a:p>
            <a:pPr indent="0" marL="0">
              <a:buNone/>
            </a:pPr>
            <a:r>
              <a:rPr lang="en-US" sz="1500" b="1" dirty="0">
                <a:solidFill>
                  <a:srgbClr val="0B6E69"/>
                </a:solidFill>
              </a:rPr>
              <a:t>(PCOLA)</a:t>
            </a:r>
            <a:endParaRPr lang="en-US" sz="1500" dirty="0"/>
          </a:p>
        </p:txBody>
      </p:sp>
      <p:sp>
        <p:nvSpPr>
          <p:cNvPr id="4" name="Shape 2"/>
          <p:cNvSpPr/>
          <p:nvPr/>
        </p:nvSpPr>
        <p:spPr>
          <a:xfrm>
            <a:off x="1691640" y="1005840"/>
            <a:ext cx="1325880" cy="1051560"/>
          </a:xfrm>
          <a:prstGeom prst="roundRect">
            <a:avLst>
              <a:gd name="adj" fmla="val 8696"/>
            </a:avLst>
          </a:prstGeom>
          <a:solidFill>
            <a:srgbClr val="E3F4F1"/>
          </a:solidFill>
          <a:ln w="12700">
            <a:solidFill>
              <a:srgbClr val="E3F4F1"/>
            </a:solidFill>
            <a:prstDash val="solid"/>
          </a:ln>
        </p:spPr>
      </p:sp>
      <p:sp>
        <p:nvSpPr>
          <p:cNvPr id="5" name="Text 3"/>
          <p:cNvSpPr txBox="1"/>
          <p:nvPr/>
        </p:nvSpPr>
        <p:spPr>
          <a:xfrm>
            <a:off x="174650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P</a:t>
            </a:r>
            <a:endParaRPr lang="en-US" sz="2200" dirty="0"/>
          </a:p>
          <a:p>
            <a:pPr algn="ctr" indent="0" marL="0">
              <a:buNone/>
            </a:pPr>
            <a:r>
              <a:rPr lang="en-US" sz="1100" dirty="0">
                <a:solidFill>
                  <a:srgbClr val="1F2A37"/>
                </a:solidFill>
              </a:rPr>
              <a:t>Presence</a:t>
            </a:r>
            <a:endParaRPr lang="en-US" sz="2200" dirty="0"/>
          </a:p>
          <a:p>
            <a:pPr algn="ctr" indent="0" marL="0">
              <a:buNone/>
            </a:pPr>
            <a:r>
              <a:rPr lang="en-US" sz="1100" dirty="0">
                <a:solidFill>
                  <a:srgbClr val="1F2A37"/>
                </a:solidFill>
              </a:rPr>
              <a:t>part is there</a:t>
            </a:r>
            <a:endParaRPr lang="en-US" sz="2200" dirty="0"/>
          </a:p>
        </p:txBody>
      </p:sp>
      <p:sp>
        <p:nvSpPr>
          <p:cNvPr id="6" name="Shape 4"/>
          <p:cNvSpPr/>
          <p:nvPr/>
        </p:nvSpPr>
        <p:spPr>
          <a:xfrm>
            <a:off x="3108960" y="1005840"/>
            <a:ext cx="1325880" cy="1051560"/>
          </a:xfrm>
          <a:prstGeom prst="roundRect">
            <a:avLst>
              <a:gd name="adj" fmla="val 8696"/>
            </a:avLst>
          </a:prstGeom>
          <a:solidFill>
            <a:srgbClr val="E3F4F1"/>
          </a:solidFill>
          <a:ln w="12700">
            <a:solidFill>
              <a:srgbClr val="E3F4F1"/>
            </a:solidFill>
            <a:prstDash val="solid"/>
          </a:ln>
        </p:spPr>
      </p:sp>
      <p:sp>
        <p:nvSpPr>
          <p:cNvPr id="7" name="Text 5"/>
          <p:cNvSpPr txBox="1"/>
          <p:nvPr/>
        </p:nvSpPr>
        <p:spPr>
          <a:xfrm>
            <a:off x="316382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C</a:t>
            </a:r>
            <a:endParaRPr lang="en-US" sz="2200" dirty="0"/>
          </a:p>
          <a:p>
            <a:pPr algn="ctr" indent="0" marL="0">
              <a:buNone/>
            </a:pPr>
            <a:r>
              <a:rPr lang="en-US" sz="1100" dirty="0">
                <a:solidFill>
                  <a:srgbClr val="1F2A37"/>
                </a:solidFill>
              </a:rPr>
              <a:t>Correctness</a:t>
            </a:r>
            <a:endParaRPr lang="en-US" sz="2200" dirty="0"/>
          </a:p>
          <a:p>
            <a:pPr algn="ctr" indent="0" marL="0">
              <a:buNone/>
            </a:pPr>
            <a:r>
              <a:rPr lang="en-US" sz="1100" dirty="0">
                <a:solidFill>
                  <a:srgbClr val="1F2A37"/>
                </a:solidFill>
              </a:rPr>
              <a:t>right part</a:t>
            </a:r>
            <a:endParaRPr lang="en-US" sz="2200" dirty="0"/>
          </a:p>
        </p:txBody>
      </p:sp>
      <p:sp>
        <p:nvSpPr>
          <p:cNvPr id="8" name="Shape 6"/>
          <p:cNvSpPr/>
          <p:nvPr/>
        </p:nvSpPr>
        <p:spPr>
          <a:xfrm>
            <a:off x="4526280" y="1005840"/>
            <a:ext cx="1325880" cy="1051560"/>
          </a:xfrm>
          <a:prstGeom prst="roundRect">
            <a:avLst>
              <a:gd name="adj" fmla="val 8696"/>
            </a:avLst>
          </a:prstGeom>
          <a:solidFill>
            <a:srgbClr val="E3F4F1"/>
          </a:solidFill>
          <a:ln w="12700">
            <a:solidFill>
              <a:srgbClr val="E3F4F1"/>
            </a:solidFill>
            <a:prstDash val="solid"/>
          </a:ln>
        </p:spPr>
      </p:sp>
      <p:sp>
        <p:nvSpPr>
          <p:cNvPr id="9" name="Text 7"/>
          <p:cNvSpPr txBox="1"/>
          <p:nvPr/>
        </p:nvSpPr>
        <p:spPr>
          <a:xfrm>
            <a:off x="458114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O</a:t>
            </a:r>
            <a:endParaRPr lang="en-US" sz="2200" dirty="0"/>
          </a:p>
          <a:p>
            <a:pPr algn="ctr" indent="0" marL="0">
              <a:buNone/>
            </a:pPr>
            <a:r>
              <a:rPr lang="en-US" sz="1100" dirty="0">
                <a:solidFill>
                  <a:srgbClr val="1F2A37"/>
                </a:solidFill>
              </a:rPr>
              <a:t>Orientation</a:t>
            </a:r>
            <a:endParaRPr lang="en-US" sz="2200" dirty="0"/>
          </a:p>
          <a:p>
            <a:pPr algn="ctr" indent="0" marL="0">
              <a:buNone/>
            </a:pPr>
            <a:r>
              <a:rPr lang="en-US" sz="1100" dirty="0">
                <a:solidFill>
                  <a:srgbClr val="1F2A37"/>
                </a:solidFill>
              </a:rPr>
              <a:t>polarity</a:t>
            </a:r>
            <a:endParaRPr lang="en-US" sz="2200" dirty="0"/>
          </a:p>
        </p:txBody>
      </p:sp>
      <p:sp>
        <p:nvSpPr>
          <p:cNvPr id="10" name="Shape 8"/>
          <p:cNvSpPr/>
          <p:nvPr/>
        </p:nvSpPr>
        <p:spPr>
          <a:xfrm>
            <a:off x="5943600" y="1005840"/>
            <a:ext cx="1325880" cy="1051560"/>
          </a:xfrm>
          <a:prstGeom prst="roundRect">
            <a:avLst>
              <a:gd name="adj" fmla="val 8696"/>
            </a:avLst>
          </a:prstGeom>
          <a:solidFill>
            <a:srgbClr val="E3F4F1"/>
          </a:solidFill>
          <a:ln w="12700">
            <a:solidFill>
              <a:srgbClr val="E3F4F1"/>
            </a:solidFill>
            <a:prstDash val="solid"/>
          </a:ln>
        </p:spPr>
      </p:sp>
      <p:sp>
        <p:nvSpPr>
          <p:cNvPr id="11" name="Text 9"/>
          <p:cNvSpPr txBox="1"/>
          <p:nvPr/>
        </p:nvSpPr>
        <p:spPr>
          <a:xfrm>
            <a:off x="599846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L</a:t>
            </a:r>
            <a:endParaRPr lang="en-US" sz="2200" dirty="0"/>
          </a:p>
          <a:p>
            <a:pPr algn="ctr" indent="0" marL="0">
              <a:buNone/>
            </a:pPr>
            <a:r>
              <a:rPr lang="en-US" sz="1100" dirty="0">
                <a:solidFill>
                  <a:srgbClr val="1F2A37"/>
                </a:solidFill>
              </a:rPr>
              <a:t>Live</a:t>
            </a:r>
            <a:endParaRPr lang="en-US" sz="2200" dirty="0"/>
          </a:p>
          <a:p>
            <a:pPr algn="ctr" indent="0" marL="0">
              <a:buNone/>
            </a:pPr>
            <a:r>
              <a:rPr lang="en-US" sz="1100" dirty="0">
                <a:solidFill>
                  <a:srgbClr val="1F2A37"/>
                </a:solidFill>
              </a:rPr>
              <a:t>works at all</a:t>
            </a:r>
            <a:endParaRPr lang="en-US" sz="2200" dirty="0"/>
          </a:p>
        </p:txBody>
      </p:sp>
      <p:sp>
        <p:nvSpPr>
          <p:cNvPr id="12" name="Shape 10"/>
          <p:cNvSpPr/>
          <p:nvPr/>
        </p:nvSpPr>
        <p:spPr>
          <a:xfrm>
            <a:off x="7360920" y="1005840"/>
            <a:ext cx="1325880" cy="1051560"/>
          </a:xfrm>
          <a:prstGeom prst="roundRect">
            <a:avLst>
              <a:gd name="adj" fmla="val 8696"/>
            </a:avLst>
          </a:prstGeom>
          <a:solidFill>
            <a:srgbClr val="E3F4F1"/>
          </a:solidFill>
          <a:ln w="12700">
            <a:solidFill>
              <a:srgbClr val="E3F4F1"/>
            </a:solidFill>
            <a:prstDash val="solid"/>
          </a:ln>
        </p:spPr>
      </p:sp>
      <p:sp>
        <p:nvSpPr>
          <p:cNvPr id="13" name="Text 11"/>
          <p:cNvSpPr txBox="1"/>
          <p:nvPr/>
        </p:nvSpPr>
        <p:spPr>
          <a:xfrm>
            <a:off x="7415784" y="1042416"/>
            <a:ext cx="1216152" cy="978408"/>
          </a:xfrm>
          <a:prstGeom prst="rect">
            <a:avLst/>
          </a:prstGeom>
          <a:noFill/>
          <a:ln/>
        </p:spPr>
        <p:txBody>
          <a:bodyPr wrap="square" lIns="0" tIns="0" rIns="0" bIns="0" rtlCol="0" anchor="ctr"/>
          <a:lstStyle/>
          <a:p>
            <a:pPr algn="ctr" indent="0" marL="0">
              <a:buNone/>
            </a:pPr>
            <a:r>
              <a:rPr lang="en-US" sz="2200" b="1" dirty="0">
                <a:solidFill>
                  <a:srgbClr val="1F2A37"/>
                </a:solidFill>
              </a:rPr>
              <a:t>A</a:t>
            </a:r>
            <a:endParaRPr lang="en-US" sz="2200" dirty="0"/>
          </a:p>
          <a:p>
            <a:pPr algn="ctr" indent="0" marL="0">
              <a:buNone/>
            </a:pPr>
            <a:r>
              <a:rPr lang="en-US" sz="1100" dirty="0">
                <a:solidFill>
                  <a:srgbClr val="1F2A37"/>
                </a:solidFill>
              </a:rPr>
              <a:t>Alignment</a:t>
            </a:r>
            <a:endParaRPr lang="en-US" sz="2200" dirty="0"/>
          </a:p>
          <a:p>
            <a:pPr algn="ctr" indent="0" marL="0">
              <a:buNone/>
            </a:pPr>
            <a:r>
              <a:rPr lang="en-US" sz="1100" dirty="0">
                <a:solidFill>
                  <a:srgbClr val="1F2A37"/>
                </a:solidFill>
              </a:rPr>
              <a:t>on the pads</a:t>
            </a:r>
            <a:endParaRPr lang="en-US" sz="2200" dirty="0"/>
          </a:p>
        </p:txBody>
      </p:sp>
      <p:sp>
        <p:nvSpPr>
          <p:cNvPr id="14" name="Text 12"/>
          <p:cNvSpPr txBox="1"/>
          <p:nvPr/>
        </p:nvSpPr>
        <p:spPr>
          <a:xfrm>
            <a:off x="457200" y="2167128"/>
            <a:ext cx="1234440" cy="1051560"/>
          </a:xfrm>
          <a:prstGeom prst="rect">
            <a:avLst/>
          </a:prstGeom>
          <a:noFill/>
          <a:ln/>
        </p:spPr>
        <p:txBody>
          <a:bodyPr wrap="square" lIns="0" tIns="0" rIns="0" bIns="0" rtlCol="0" anchor="ctr"/>
          <a:lstStyle/>
          <a:p>
            <a:pPr indent="0" marL="0">
              <a:buNone/>
            </a:pPr>
            <a:r>
              <a:rPr lang="en-US" sz="1500" b="1" dirty="0">
                <a:solidFill>
                  <a:srgbClr val="3B82C4"/>
                </a:solidFill>
              </a:rPr>
              <a:t>Connection</a:t>
            </a:r>
            <a:endParaRPr lang="en-US" sz="1500" dirty="0"/>
          </a:p>
          <a:p>
            <a:pPr indent="0" marL="0">
              <a:buNone/>
            </a:pPr>
            <a:r>
              <a:rPr lang="en-US" sz="1500" b="1" dirty="0">
                <a:solidFill>
                  <a:srgbClr val="3B82C4"/>
                </a:solidFill>
              </a:rPr>
              <a:t>(SOQ)</a:t>
            </a:r>
            <a:endParaRPr lang="en-US" sz="1500" dirty="0"/>
          </a:p>
        </p:txBody>
      </p:sp>
      <p:sp>
        <p:nvSpPr>
          <p:cNvPr id="15" name="Shape 13"/>
          <p:cNvSpPr/>
          <p:nvPr/>
        </p:nvSpPr>
        <p:spPr>
          <a:xfrm>
            <a:off x="1691640" y="2167128"/>
            <a:ext cx="2270760" cy="1051560"/>
          </a:xfrm>
          <a:prstGeom prst="roundRect">
            <a:avLst>
              <a:gd name="adj" fmla="val 8696"/>
            </a:avLst>
          </a:prstGeom>
          <a:solidFill>
            <a:srgbClr val="E5F0FA"/>
          </a:solidFill>
          <a:ln w="12700">
            <a:solidFill>
              <a:srgbClr val="E5F0FA"/>
            </a:solidFill>
            <a:prstDash val="solid"/>
          </a:ln>
        </p:spPr>
      </p:sp>
      <p:sp>
        <p:nvSpPr>
          <p:cNvPr id="16" name="Text 14"/>
          <p:cNvSpPr txBox="1"/>
          <p:nvPr/>
        </p:nvSpPr>
        <p:spPr>
          <a:xfrm>
            <a:off x="17465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S</a:t>
            </a:r>
            <a:endParaRPr lang="en-US" sz="2200" dirty="0"/>
          </a:p>
          <a:p>
            <a:pPr algn="ctr" indent="0" marL="0">
              <a:buNone/>
            </a:pPr>
            <a:r>
              <a:rPr lang="en-US" sz="1100" dirty="0">
                <a:solidFill>
                  <a:srgbClr val="1F2A37"/>
                </a:solidFill>
              </a:rPr>
              <a:t>Shorts</a:t>
            </a:r>
            <a:endParaRPr lang="en-US" sz="2200" dirty="0"/>
          </a:p>
          <a:p>
            <a:pPr algn="ctr" indent="0" marL="0">
              <a:buNone/>
            </a:pPr>
            <a:r>
              <a:rPr lang="en-US" sz="1100" dirty="0">
                <a:solidFill>
                  <a:srgbClr val="1F2A37"/>
                </a:solidFill>
              </a:rPr>
              <a:t>bridges</a:t>
            </a:r>
            <a:endParaRPr lang="en-US" sz="2200" dirty="0"/>
          </a:p>
        </p:txBody>
      </p:sp>
      <p:sp>
        <p:nvSpPr>
          <p:cNvPr id="17" name="Shape 15"/>
          <p:cNvSpPr/>
          <p:nvPr/>
        </p:nvSpPr>
        <p:spPr>
          <a:xfrm>
            <a:off x="4053840" y="2167128"/>
            <a:ext cx="2270760" cy="1051560"/>
          </a:xfrm>
          <a:prstGeom prst="roundRect">
            <a:avLst>
              <a:gd name="adj" fmla="val 8696"/>
            </a:avLst>
          </a:prstGeom>
          <a:solidFill>
            <a:srgbClr val="E5F0FA"/>
          </a:solidFill>
          <a:ln w="12700">
            <a:solidFill>
              <a:srgbClr val="E5F0FA"/>
            </a:solidFill>
            <a:prstDash val="solid"/>
          </a:ln>
        </p:spPr>
      </p:sp>
      <p:sp>
        <p:nvSpPr>
          <p:cNvPr id="18" name="Text 16"/>
          <p:cNvSpPr txBox="1"/>
          <p:nvPr/>
        </p:nvSpPr>
        <p:spPr>
          <a:xfrm>
            <a:off x="41087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O</a:t>
            </a:r>
            <a:endParaRPr lang="en-US" sz="2200" dirty="0"/>
          </a:p>
          <a:p>
            <a:pPr algn="ctr" indent="0" marL="0">
              <a:buNone/>
            </a:pPr>
            <a:r>
              <a:rPr lang="en-US" sz="1100" dirty="0">
                <a:solidFill>
                  <a:srgbClr val="1F2A37"/>
                </a:solidFill>
              </a:rPr>
              <a:t>Opens</a:t>
            </a:r>
            <a:endParaRPr lang="en-US" sz="2200" dirty="0"/>
          </a:p>
          <a:p>
            <a:pPr algn="ctr" indent="0" marL="0">
              <a:buNone/>
            </a:pPr>
            <a:r>
              <a:rPr lang="en-US" sz="1100" dirty="0">
                <a:solidFill>
                  <a:srgbClr val="1F2A37"/>
                </a:solidFill>
              </a:rPr>
              <a:t>breaks</a:t>
            </a:r>
            <a:endParaRPr lang="en-US" sz="2200" dirty="0"/>
          </a:p>
        </p:txBody>
      </p:sp>
      <p:sp>
        <p:nvSpPr>
          <p:cNvPr id="19" name="Shape 17"/>
          <p:cNvSpPr/>
          <p:nvPr/>
        </p:nvSpPr>
        <p:spPr>
          <a:xfrm>
            <a:off x="6416040" y="2167128"/>
            <a:ext cx="2270760" cy="1051560"/>
          </a:xfrm>
          <a:prstGeom prst="roundRect">
            <a:avLst>
              <a:gd name="adj" fmla="val 8696"/>
            </a:avLst>
          </a:prstGeom>
          <a:solidFill>
            <a:srgbClr val="E5F0FA"/>
          </a:solidFill>
          <a:ln w="12700">
            <a:solidFill>
              <a:srgbClr val="E5F0FA"/>
            </a:solidFill>
            <a:prstDash val="solid"/>
          </a:ln>
        </p:spPr>
      </p:sp>
      <p:sp>
        <p:nvSpPr>
          <p:cNvPr id="20" name="Text 18"/>
          <p:cNvSpPr txBox="1"/>
          <p:nvPr/>
        </p:nvSpPr>
        <p:spPr>
          <a:xfrm>
            <a:off x="6470904" y="2203704"/>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Q</a:t>
            </a:r>
            <a:endParaRPr lang="en-US" sz="2200" dirty="0"/>
          </a:p>
          <a:p>
            <a:pPr algn="ctr" indent="0" marL="0">
              <a:buNone/>
            </a:pPr>
            <a:r>
              <a:rPr lang="en-US" sz="1100" dirty="0">
                <a:solidFill>
                  <a:srgbClr val="1F2A37"/>
                </a:solidFill>
              </a:rPr>
              <a:t>Quality</a:t>
            </a:r>
            <a:endParaRPr lang="en-US" sz="2200" dirty="0"/>
          </a:p>
          <a:p>
            <a:pPr algn="ctr" indent="0" marL="0">
              <a:buNone/>
            </a:pPr>
            <a:r>
              <a:rPr lang="en-US" sz="1100" dirty="0">
                <a:solidFill>
                  <a:srgbClr val="1F2A37"/>
                </a:solidFill>
              </a:rPr>
              <a:t>joint quality</a:t>
            </a:r>
            <a:endParaRPr lang="en-US" sz="2200" dirty="0"/>
          </a:p>
        </p:txBody>
      </p:sp>
      <p:sp>
        <p:nvSpPr>
          <p:cNvPr id="21" name="Text 19"/>
          <p:cNvSpPr txBox="1"/>
          <p:nvPr/>
        </p:nvSpPr>
        <p:spPr>
          <a:xfrm>
            <a:off x="457200" y="3328416"/>
            <a:ext cx="1234440" cy="1051560"/>
          </a:xfrm>
          <a:prstGeom prst="rect">
            <a:avLst/>
          </a:prstGeom>
          <a:noFill/>
          <a:ln/>
        </p:spPr>
        <p:txBody>
          <a:bodyPr wrap="square" lIns="0" tIns="0" rIns="0" bIns="0" rtlCol="0" anchor="ctr"/>
          <a:lstStyle/>
          <a:p>
            <a:pPr indent="0" marL="0">
              <a:buNone/>
            </a:pPr>
            <a:r>
              <a:rPr lang="en-US" sz="1500" b="1" dirty="0">
                <a:solidFill>
                  <a:srgbClr val="B7791F"/>
                </a:solidFill>
              </a:rPr>
              <a:t>Function</a:t>
            </a:r>
            <a:endParaRPr lang="en-US" sz="1500" dirty="0"/>
          </a:p>
          <a:p>
            <a:pPr indent="0" marL="0">
              <a:buNone/>
            </a:pPr>
            <a:r>
              <a:rPr lang="en-US" sz="1500" b="1" dirty="0">
                <a:solidFill>
                  <a:srgbClr val="B7791F"/>
                </a:solidFill>
              </a:rPr>
              <a:t>(FAM)</a:t>
            </a:r>
            <a:endParaRPr lang="en-US" sz="1500" dirty="0"/>
          </a:p>
        </p:txBody>
      </p:sp>
      <p:sp>
        <p:nvSpPr>
          <p:cNvPr id="22" name="Shape 20"/>
          <p:cNvSpPr/>
          <p:nvPr/>
        </p:nvSpPr>
        <p:spPr>
          <a:xfrm>
            <a:off x="1691640" y="3328416"/>
            <a:ext cx="2270760" cy="1051560"/>
          </a:xfrm>
          <a:prstGeom prst="roundRect">
            <a:avLst>
              <a:gd name="adj" fmla="val 8696"/>
            </a:avLst>
          </a:prstGeom>
          <a:solidFill>
            <a:srgbClr val="FFF4DE"/>
          </a:solidFill>
          <a:ln w="12700">
            <a:solidFill>
              <a:srgbClr val="FFF4DE"/>
            </a:solidFill>
            <a:prstDash val="solid"/>
          </a:ln>
        </p:spPr>
      </p:sp>
      <p:sp>
        <p:nvSpPr>
          <p:cNvPr id="23" name="Text 21"/>
          <p:cNvSpPr txBox="1"/>
          <p:nvPr/>
        </p:nvSpPr>
        <p:spPr>
          <a:xfrm>
            <a:off x="17465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F</a:t>
            </a:r>
            <a:endParaRPr lang="en-US" sz="2200" dirty="0"/>
          </a:p>
          <a:p>
            <a:pPr algn="ctr" indent="0" marL="0">
              <a:buNone/>
            </a:pPr>
            <a:r>
              <a:rPr lang="en-US" sz="1100" dirty="0">
                <a:solidFill>
                  <a:srgbClr val="1F2A37"/>
                </a:solidFill>
              </a:rPr>
              <a:t>Feature</a:t>
            </a:r>
            <a:endParaRPr lang="en-US" sz="2200" dirty="0"/>
          </a:p>
          <a:p>
            <a:pPr algn="ctr" indent="0" marL="0">
              <a:buNone/>
            </a:pPr>
            <a:r>
              <a:rPr lang="en-US" sz="1100" dirty="0">
                <a:solidFill>
                  <a:srgbClr val="1F2A37"/>
                </a:solidFill>
              </a:rPr>
              <a:t>function exists</a:t>
            </a:r>
            <a:endParaRPr lang="en-US" sz="2200" dirty="0"/>
          </a:p>
        </p:txBody>
      </p:sp>
      <p:sp>
        <p:nvSpPr>
          <p:cNvPr id="24" name="Shape 22"/>
          <p:cNvSpPr/>
          <p:nvPr/>
        </p:nvSpPr>
        <p:spPr>
          <a:xfrm>
            <a:off x="4053840" y="3328416"/>
            <a:ext cx="2270760" cy="1051560"/>
          </a:xfrm>
          <a:prstGeom prst="roundRect">
            <a:avLst>
              <a:gd name="adj" fmla="val 8696"/>
            </a:avLst>
          </a:prstGeom>
          <a:solidFill>
            <a:srgbClr val="FFF4DE"/>
          </a:solidFill>
          <a:ln w="12700">
            <a:solidFill>
              <a:srgbClr val="FFF4DE"/>
            </a:solidFill>
            <a:prstDash val="solid"/>
          </a:ln>
        </p:spPr>
      </p:sp>
      <p:sp>
        <p:nvSpPr>
          <p:cNvPr id="25" name="Text 23"/>
          <p:cNvSpPr txBox="1"/>
          <p:nvPr/>
        </p:nvSpPr>
        <p:spPr>
          <a:xfrm>
            <a:off x="41087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A</a:t>
            </a:r>
            <a:endParaRPr lang="en-US" sz="2200" dirty="0"/>
          </a:p>
          <a:p>
            <a:pPr algn="ctr" indent="0" marL="0">
              <a:buNone/>
            </a:pPr>
            <a:r>
              <a:rPr lang="en-US" sz="1100" dirty="0">
                <a:solidFill>
                  <a:srgbClr val="1F2A37"/>
                </a:solidFill>
              </a:rPr>
              <a:t>At-speed</a:t>
            </a:r>
            <a:endParaRPr lang="en-US" sz="2200" dirty="0"/>
          </a:p>
          <a:p>
            <a:pPr algn="ctr" indent="0" marL="0">
              <a:buNone/>
            </a:pPr>
            <a:r>
              <a:rPr lang="en-US" sz="1100" dirty="0">
                <a:solidFill>
                  <a:srgbClr val="1F2A37"/>
                </a:solidFill>
              </a:rPr>
              <a:t>at real speed</a:t>
            </a:r>
            <a:endParaRPr lang="en-US" sz="2200" dirty="0"/>
          </a:p>
        </p:txBody>
      </p:sp>
      <p:sp>
        <p:nvSpPr>
          <p:cNvPr id="26" name="Shape 24"/>
          <p:cNvSpPr/>
          <p:nvPr/>
        </p:nvSpPr>
        <p:spPr>
          <a:xfrm>
            <a:off x="6416040" y="3328416"/>
            <a:ext cx="2270760" cy="1051560"/>
          </a:xfrm>
          <a:prstGeom prst="roundRect">
            <a:avLst>
              <a:gd name="adj" fmla="val 8696"/>
            </a:avLst>
          </a:prstGeom>
          <a:solidFill>
            <a:srgbClr val="FFF4DE"/>
          </a:solidFill>
          <a:ln w="12700">
            <a:solidFill>
              <a:srgbClr val="FFF4DE"/>
            </a:solidFill>
            <a:prstDash val="solid"/>
          </a:ln>
        </p:spPr>
      </p:sp>
      <p:sp>
        <p:nvSpPr>
          <p:cNvPr id="27" name="Text 25"/>
          <p:cNvSpPr txBox="1"/>
          <p:nvPr/>
        </p:nvSpPr>
        <p:spPr>
          <a:xfrm>
            <a:off x="6470904" y="3364992"/>
            <a:ext cx="2161032" cy="978408"/>
          </a:xfrm>
          <a:prstGeom prst="rect">
            <a:avLst/>
          </a:prstGeom>
          <a:noFill/>
          <a:ln/>
        </p:spPr>
        <p:txBody>
          <a:bodyPr wrap="square" lIns="0" tIns="0" rIns="0" bIns="0" rtlCol="0" anchor="ctr"/>
          <a:lstStyle/>
          <a:p>
            <a:pPr algn="ctr" indent="0" marL="0">
              <a:buNone/>
            </a:pPr>
            <a:r>
              <a:rPr lang="en-US" sz="2200" b="1" dirty="0">
                <a:solidFill>
                  <a:srgbClr val="1F2A37"/>
                </a:solidFill>
              </a:rPr>
              <a:t>M</a:t>
            </a:r>
            <a:endParaRPr lang="en-US" sz="2200" dirty="0"/>
          </a:p>
          <a:p>
            <a:pPr algn="ctr" indent="0" marL="0">
              <a:buNone/>
            </a:pPr>
            <a:r>
              <a:rPr lang="en-US" sz="1100" dirty="0">
                <a:solidFill>
                  <a:srgbClr val="1F2A37"/>
                </a:solidFill>
              </a:rPr>
              <a:t>Measurement</a:t>
            </a:r>
            <a:endParaRPr lang="en-US" sz="2200" dirty="0"/>
          </a:p>
          <a:p>
            <a:pPr algn="ctr" indent="0" marL="0">
              <a:buNone/>
            </a:pPr>
            <a:r>
              <a:rPr lang="en-US" sz="1100" dirty="0">
                <a:solidFill>
                  <a:srgbClr val="1F2A37"/>
                </a:solidFill>
              </a:rPr>
              <a:t>performance</a:t>
            </a:r>
            <a:endParaRPr lang="en-US" sz="2200" dirty="0"/>
          </a:p>
        </p:txBody>
      </p:sp>
      <p:sp>
        <p:nvSpPr>
          <p:cNvPr id="28"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 Hird et al., ITC 2002 (PCOLA/SOQ) · [5] Ley, ASSET InterTech (iNEMI PCOLA/SOQ/FAM framework)</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What each test method catches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920240"/>
                <a:gridCol w="630936"/>
                <a:gridCol w="630936"/>
                <a:gridCol w="630936"/>
                <a:gridCol w="630936"/>
                <a:gridCol w="630936"/>
                <a:gridCol w="630936"/>
                <a:gridCol w="630936"/>
                <a:gridCol w="630936"/>
                <a:gridCol w="896112"/>
              </a:tblGrid>
              <a:tr h="384048">
                <a:tc>
                  <a:txBody>
                    <a:bodyPr/>
                    <a:lstStyle/>
                    <a:p>
                      <a:pPr algn="ctr" indent="0" marL="0">
                        <a:buNone/>
                      </a:pPr>
                      <a:r>
                        <a:rPr lang="en-US" sz="1200" b="1" dirty="0">
                          <a:solidFill>
                            <a:srgbClr val="FFFFFF"/>
                          </a:solidFill>
                        </a:rPr>
                        <a:t>Method</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P</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C</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L</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A</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S</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Q</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FAM</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r>
              <a:tr h="384048">
                <a:tc>
                  <a:txBody>
                    <a:bodyPr/>
                    <a:lstStyle/>
                    <a:p>
                      <a:pPr algn="l" indent="0" marL="0">
                        <a:buNone/>
                      </a:pPr>
                      <a:r>
                        <a:rPr lang="en-US" sz="1200" b="1" dirty="0">
                          <a:solidFill>
                            <a:srgbClr val="1F2A37"/>
                          </a:solidFill>
                        </a:rPr>
                        <a:t>AOI (optical)</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AXI (X-ray)</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ICT (in-circuit)</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Boundary scan</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r>
              <a:tr h="384048">
                <a:tc>
                  <a:txBody>
                    <a:bodyPr/>
                    <a:lstStyle/>
                    <a:p>
                      <a:pPr algn="l" indent="0" marL="0">
                        <a:buNone/>
                      </a:pPr>
                      <a:r>
                        <a:rPr lang="en-US" sz="1200" b="1" dirty="0">
                          <a:solidFill>
                            <a:srgbClr val="1F2A37"/>
                          </a:solidFill>
                        </a:rPr>
                        <a:t>FT (functional)</a:t>
                      </a:r>
                      <a:endParaRPr lang="en-US" sz="12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A37"/>
                          </a:solidFill>
                        </a:rPr>
                        <a:t>●</a:t>
                      </a:r>
                      <a:endParaRPr lang="en-US" sz="1300" dirty="0"/>
                    </a:p>
                  </a:txBody>
                  <a:tcPr marL="36576" marR="36576" marT="36576" marB="36576"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CDEBE5"/>
                    </a:solidFill>
                  </a:tcPr>
                </a:tc>
              </a:tr>
            </a:tbl>
          </a:graphicData>
        </a:graphic>
      </p:graphicFrame>
      <p:sp>
        <p:nvSpPr>
          <p:cNvPr id="4" name="Text 1"/>
          <p:cNvSpPr txBox="1"/>
          <p:nvPr/>
        </p:nvSpPr>
        <p:spPr>
          <a:xfrm>
            <a:off x="457200" y="3429000"/>
            <a:ext cx="8229600" cy="292608"/>
          </a:xfrm>
          <a:prstGeom prst="rect">
            <a:avLst/>
          </a:prstGeom>
          <a:noFill/>
          <a:ln/>
        </p:spPr>
        <p:txBody>
          <a:bodyPr wrap="square" lIns="0" tIns="0" rIns="0" bIns="0" rtlCol="0" anchor="ctr"/>
          <a:lstStyle/>
          <a:p>
            <a:pPr indent="0" marL="0">
              <a:buNone/>
            </a:pPr>
            <a:r>
              <a:rPr lang="en-US" sz="1100" dirty="0">
                <a:solidFill>
                  <a:srgbClr val="5B6575"/>
                </a:solidFill>
              </a:rPr>
              <a:t>● good coverage · ◐ partial, depends on the component and on access · ○ weak or none. Indicative table: real values depend on the board, on test point access and on the test program.</a:t>
            </a:r>
            <a:endParaRPr lang="en-US" sz="1100" dirty="0"/>
          </a:p>
        </p:txBody>
      </p:sp>
      <p:sp>
        <p:nvSpPr>
          <p:cNvPr id="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 Hird et al., ITC 2002 · [3] Parker, ITC 2003 · [5] Ley (boundary scan does not cover FAM)</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Design for testability: test points</a:t>
            </a:r>
            <a:endParaRPr lang="en-US" sz="2600" dirty="0"/>
          </a:p>
        </p:txBody>
      </p:sp>
      <p:sp>
        <p:nvSpPr>
          <p:cNvPr id="3" name="Text 1"/>
          <p:cNvSpPr txBox="1"/>
          <p:nvPr/>
        </p:nvSpPr>
        <p:spPr>
          <a:xfrm>
            <a:off x="457200" y="1051560"/>
            <a:ext cx="4937760" cy="3429000"/>
          </a:xfrm>
          <a:prstGeom prst="rect">
            <a:avLst/>
          </a:prstGeom>
          <a:noFill/>
          <a:ln/>
        </p:spPr>
        <p:txBody>
          <a:bodyPr wrap="square" lIns="635" tIns="635" rIns="635" bIns="635" rtlCol="0" anchor="t"/>
          <a:lstStyle/>
          <a:p>
            <a:pPr marL="177800" indent="-177800">
              <a:spcAft>
                <a:spcPts val="600"/>
              </a:spcAft>
              <a:buSzPct val="100000"/>
              <a:buChar char="•"/>
            </a:pPr>
            <a:r>
              <a:rPr lang="en-US" sz="1500" b="1" dirty="0">
                <a:solidFill>
                  <a:srgbClr val="1F2A37"/>
                </a:solidFill>
              </a:rPr>
              <a:t>ICT needs access: </a:t>
            </a:r>
            <a:pPr indent="0" marL="0">
              <a:buNone/>
            </a:pPr>
            <a:r>
              <a:rPr lang="en-US" sz="1500" dirty="0">
                <a:solidFill>
                  <a:srgbClr val="1F2A37"/>
                </a:solidFill>
              </a:rPr>
              <a:t>without a test point on the net, the component cannot be measured directly.</a:t>
            </a:r>
            <a:endParaRPr lang="en-US" sz="1500" dirty="0"/>
          </a:p>
          <a:p>
            <a:pPr marL="177800" indent="-177800">
              <a:spcAft>
                <a:spcPts val="600"/>
              </a:spcAft>
              <a:buSzPct val="100000"/>
              <a:buChar char="•"/>
            </a:pPr>
            <a:r>
              <a:rPr lang="en-US" sz="1500" b="1" dirty="0">
                <a:solidFill>
                  <a:srgbClr val="1F2A37"/>
                </a:solidFill>
              </a:rPr>
              <a:t>Decided at design time: </a:t>
            </a:r>
            <a:pPr indent="0" marL="0">
              <a:buNone/>
            </a:pPr>
            <a:r>
              <a:rPr lang="en-US" sz="1500" dirty="0">
                <a:solidFill>
                  <a:srgbClr val="1F2A37"/>
                </a:solidFill>
              </a:rPr>
              <a:t>TCA is done before the final layout, so test points can still be added.</a:t>
            </a:r>
            <a:endParaRPr lang="en-US" sz="1500" dirty="0"/>
          </a:p>
          <a:p>
            <a:pPr marL="177800" indent="-177800">
              <a:spcAft>
                <a:spcPts val="600"/>
              </a:spcAft>
              <a:buSzPct val="100000"/>
              <a:buChar char="•"/>
            </a:pPr>
            <a:r>
              <a:rPr lang="en-US" sz="1500" b="1" dirty="0">
                <a:solidFill>
                  <a:srgbClr val="1F2A37"/>
                </a:solidFill>
              </a:rPr>
              <a:t>Dedicated tools: </a:t>
            </a:r>
            <a:pPr indent="0" marL="0">
              <a:buNone/>
            </a:pPr>
            <a:r>
              <a:rPr lang="en-US" sz="1500" dirty="0">
                <a:solidFill>
                  <a:srgbClr val="1F2A37"/>
                </a:solidFill>
              </a:rPr>
              <a:t>TestWay Express flags untestable components and missing test points before PCB production [8].</a:t>
            </a:r>
            <a:endParaRPr lang="en-US" sz="1500" dirty="0"/>
          </a:p>
          <a:p>
            <a:pPr marL="177800" indent="-177800">
              <a:spcAft>
                <a:spcPts val="600"/>
              </a:spcAft>
              <a:buSzPct val="100000"/>
              <a:buChar char="•"/>
            </a:pPr>
            <a:r>
              <a:rPr lang="en-US" sz="1500" b="1" dirty="0">
                <a:solidFill>
                  <a:srgbClr val="1F2A37"/>
                </a:solidFill>
              </a:rPr>
              <a:t>The market: </a:t>
            </a:r>
            <a:pPr indent="0" marL="0">
              <a:buNone/>
            </a:pPr>
            <a:r>
              <a:rPr lang="en-US" sz="1500" dirty="0">
                <a:solidFill>
                  <a:srgbClr val="1F2A37"/>
                </a:solidFill>
              </a:rPr>
              <a:t>ASTER Technologies (TestWay) was acquired by Siemens in January 2026 [7].</a:t>
            </a:r>
            <a:endParaRPr lang="en-US" sz="1500" dirty="0"/>
          </a:p>
        </p:txBody>
      </p:sp>
      <p:sp>
        <p:nvSpPr>
          <p:cNvPr id="4" name="image placeholder"/>
          <p:cNvSpPr/>
          <p:nvPr/>
        </p:nvSpPr>
        <p:spPr>
          <a:xfrm>
            <a:off x="5577840" y="1051560"/>
            <a:ext cx="3108960" cy="3383280"/>
          </a:xfrm>
          <a:prstGeom prst="roundRect">
            <a:avLst>
              <a:gd name="adj" fmla="val 3529"/>
            </a:avLst>
          </a:prstGeom>
          <a:solidFill>
            <a:srgbClr val="F4F6F8"/>
          </a:solidFill>
          <a:ln w="12700">
            <a:solidFill>
              <a:srgbClr val="9AA5B1"/>
            </a:solidFill>
            <a:prstDash val="dash"/>
          </a:ln>
        </p:spPr>
      </p:sp>
      <p:sp>
        <p:nvSpPr>
          <p:cNvPr id="5" name="image placeholder label"/>
          <p:cNvSpPr txBox="1"/>
          <p:nvPr/>
        </p:nvSpPr>
        <p:spPr>
          <a:xfrm>
            <a:off x="5715000" y="1143000"/>
            <a:ext cx="2834640" cy="3200400"/>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ICT bed-of-nails fixture / test points on a board</a:t>
            </a:r>
            <a:endParaRPr lang="en-US" sz="1200" dirty="0"/>
          </a:p>
        </p:txBody>
      </p:sp>
      <p:sp>
        <p:nvSpPr>
          <p:cNvPr id="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[7] Siemens, 13 Jan 2026 · [8] Control.com, 2026</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Risk: analysis, evaluation, residual risk</a:t>
            </a:r>
            <a:endParaRPr lang="en-US" sz="2600" dirty="0"/>
          </a:p>
        </p:txBody>
      </p:sp>
      <p:sp>
        <p:nvSpPr>
          <p:cNvPr id="3" name="Shape 1"/>
          <p:cNvSpPr/>
          <p:nvPr/>
        </p:nvSpPr>
        <p:spPr>
          <a:xfrm>
            <a:off x="457200" y="1051560"/>
            <a:ext cx="1558138" cy="1417320"/>
          </a:xfrm>
          <a:prstGeom prst="roundRect">
            <a:avLst>
              <a:gd name="adj" fmla="val 6452"/>
            </a:avLst>
          </a:prstGeom>
          <a:solidFill>
            <a:srgbClr val="E3F4F1"/>
          </a:solidFill>
          <a:ln w="6350">
            <a:solidFill>
              <a:srgbClr val="E3F4F1"/>
            </a:solidFill>
            <a:prstDash val="solid"/>
          </a:ln>
        </p:spPr>
      </p:sp>
      <p:sp>
        <p:nvSpPr>
          <p:cNvPr id="4" name="Text 2"/>
          <p:cNvSpPr txBox="1"/>
          <p:nvPr/>
        </p:nvSpPr>
        <p:spPr>
          <a:xfrm>
            <a:off x="566928"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Identification</a:t>
            </a:r>
            <a:endParaRPr lang="en-US" sz="1300" dirty="0"/>
          </a:p>
          <a:p>
            <a:pPr indent="0" marL="0">
              <a:spcAft>
                <a:spcPts val="300"/>
              </a:spcAft>
              <a:buNone/>
            </a:pPr>
            <a:r>
              <a:rPr lang="en-US" sz="1200" dirty="0">
                <a:solidFill>
                  <a:srgbClr val="1F2A37"/>
                </a:solidFill>
              </a:rPr>
              <a:t>what can go wrong?</a:t>
            </a:r>
            <a:endParaRPr lang="en-US" sz="1300" dirty="0"/>
          </a:p>
        </p:txBody>
      </p:sp>
      <p:sp>
        <p:nvSpPr>
          <p:cNvPr id="5" name="Text 3"/>
          <p:cNvSpPr txBox="1"/>
          <p:nvPr/>
        </p:nvSpPr>
        <p:spPr>
          <a:xfrm>
            <a:off x="1997050"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6" name="Shape 4"/>
          <p:cNvSpPr/>
          <p:nvPr/>
        </p:nvSpPr>
        <p:spPr>
          <a:xfrm>
            <a:off x="2125066" y="1051560"/>
            <a:ext cx="1558138" cy="1417320"/>
          </a:xfrm>
          <a:prstGeom prst="roundRect">
            <a:avLst>
              <a:gd name="adj" fmla="val 6452"/>
            </a:avLst>
          </a:prstGeom>
          <a:solidFill>
            <a:srgbClr val="E3F4F1"/>
          </a:solidFill>
          <a:ln w="6350">
            <a:solidFill>
              <a:srgbClr val="E3F4F1"/>
            </a:solidFill>
            <a:prstDash val="solid"/>
          </a:ln>
        </p:spPr>
      </p:sp>
      <p:sp>
        <p:nvSpPr>
          <p:cNvPr id="7" name="Text 5"/>
          <p:cNvSpPr txBox="1"/>
          <p:nvPr/>
        </p:nvSpPr>
        <p:spPr>
          <a:xfrm>
            <a:off x="2234794"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Analysis</a:t>
            </a:r>
            <a:endParaRPr lang="en-US" sz="1300" dirty="0"/>
          </a:p>
          <a:p>
            <a:pPr indent="0" marL="0">
              <a:spcAft>
                <a:spcPts val="300"/>
              </a:spcAft>
              <a:buNone/>
            </a:pPr>
            <a:r>
              <a:rPr lang="en-US" sz="1200" dirty="0">
                <a:solidFill>
                  <a:srgbClr val="1F2A37"/>
                </a:solidFill>
              </a:rPr>
              <a:t>how severe, how often, how detectable?</a:t>
            </a:r>
            <a:endParaRPr lang="en-US" sz="1300" dirty="0"/>
          </a:p>
        </p:txBody>
      </p:sp>
      <p:sp>
        <p:nvSpPr>
          <p:cNvPr id="8" name="Text 6"/>
          <p:cNvSpPr txBox="1"/>
          <p:nvPr/>
        </p:nvSpPr>
        <p:spPr>
          <a:xfrm>
            <a:off x="3664915"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9" name="Shape 7"/>
          <p:cNvSpPr/>
          <p:nvPr/>
        </p:nvSpPr>
        <p:spPr>
          <a:xfrm>
            <a:off x="3792931" y="1051560"/>
            <a:ext cx="1558138" cy="1417320"/>
          </a:xfrm>
          <a:prstGeom prst="roundRect">
            <a:avLst>
              <a:gd name="adj" fmla="val 6452"/>
            </a:avLst>
          </a:prstGeom>
          <a:solidFill>
            <a:srgbClr val="FFF4DE"/>
          </a:solidFill>
          <a:ln w="6350">
            <a:solidFill>
              <a:srgbClr val="FFF4DE"/>
            </a:solidFill>
            <a:prstDash val="solid"/>
          </a:ln>
        </p:spPr>
      </p:sp>
      <p:sp>
        <p:nvSpPr>
          <p:cNvPr id="10" name="Text 8"/>
          <p:cNvSpPr txBox="1"/>
          <p:nvPr/>
        </p:nvSpPr>
        <p:spPr>
          <a:xfrm>
            <a:off x="3902659"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Evaluation</a:t>
            </a:r>
            <a:endParaRPr lang="en-US" sz="1300" dirty="0"/>
          </a:p>
          <a:p>
            <a:pPr indent="0" marL="0">
              <a:spcAft>
                <a:spcPts val="300"/>
              </a:spcAft>
              <a:buNone/>
            </a:pPr>
            <a:r>
              <a:rPr lang="en-US" sz="1200" dirty="0">
                <a:solidFill>
                  <a:srgbClr val="1F2A37"/>
                </a:solidFill>
              </a:rPr>
              <a:t>compare with criteria: accept or act?</a:t>
            </a:r>
            <a:endParaRPr lang="en-US" sz="1300" dirty="0"/>
          </a:p>
        </p:txBody>
      </p:sp>
      <p:sp>
        <p:nvSpPr>
          <p:cNvPr id="11" name="Text 9"/>
          <p:cNvSpPr txBox="1"/>
          <p:nvPr/>
        </p:nvSpPr>
        <p:spPr>
          <a:xfrm>
            <a:off x="5332781"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2" name="Shape 10"/>
          <p:cNvSpPr/>
          <p:nvPr/>
        </p:nvSpPr>
        <p:spPr>
          <a:xfrm>
            <a:off x="5460797" y="1051560"/>
            <a:ext cx="1558138" cy="1417320"/>
          </a:xfrm>
          <a:prstGeom prst="roundRect">
            <a:avLst>
              <a:gd name="adj" fmla="val 6452"/>
            </a:avLst>
          </a:prstGeom>
          <a:solidFill>
            <a:srgbClr val="FFF4DE"/>
          </a:solidFill>
          <a:ln w="6350">
            <a:solidFill>
              <a:srgbClr val="FFF4DE"/>
            </a:solidFill>
            <a:prstDash val="solid"/>
          </a:ln>
        </p:spPr>
      </p:sp>
      <p:sp>
        <p:nvSpPr>
          <p:cNvPr id="13" name="Text 11"/>
          <p:cNvSpPr txBox="1"/>
          <p:nvPr/>
        </p:nvSpPr>
        <p:spPr>
          <a:xfrm>
            <a:off x="5570525"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Treatment</a:t>
            </a:r>
            <a:endParaRPr lang="en-US" sz="1300" dirty="0"/>
          </a:p>
          <a:p>
            <a:pPr indent="0" marL="0">
              <a:spcAft>
                <a:spcPts val="300"/>
              </a:spcAft>
              <a:buNone/>
            </a:pPr>
            <a:r>
              <a:rPr lang="en-US" sz="1200" dirty="0">
                <a:solidFill>
                  <a:srgbClr val="1F2A37"/>
                </a:solidFill>
              </a:rPr>
              <a:t>actions: test point, new test, design</a:t>
            </a:r>
            <a:endParaRPr lang="en-US" sz="1300" dirty="0"/>
          </a:p>
        </p:txBody>
      </p:sp>
      <p:sp>
        <p:nvSpPr>
          <p:cNvPr id="14" name="Text 12"/>
          <p:cNvSpPr txBox="1"/>
          <p:nvPr/>
        </p:nvSpPr>
        <p:spPr>
          <a:xfrm>
            <a:off x="7000646" y="1554480"/>
            <a:ext cx="146304" cy="365760"/>
          </a:xfrm>
          <a:prstGeom prst="rect">
            <a:avLst/>
          </a:prstGeom>
          <a:noFill/>
          <a:ln/>
        </p:spPr>
        <p:txBody>
          <a:bodyPr wrap="square" lIns="0" tIns="0" rIns="0" bIns="0" rtlCol="0" anchor="ctr"/>
          <a:lstStyle/>
          <a:p>
            <a:pPr algn="ctr" indent="0" marL="0">
              <a:buNone/>
            </a:pPr>
            <a:r>
              <a:rPr lang="en-US" sz="2000" dirty="0">
                <a:solidFill>
                  <a:srgbClr val="5B6575"/>
                </a:solidFill>
              </a:rPr>
              <a:t>›</a:t>
            </a:r>
            <a:endParaRPr lang="en-US" sz="2000" dirty="0"/>
          </a:p>
        </p:txBody>
      </p:sp>
      <p:sp>
        <p:nvSpPr>
          <p:cNvPr id="15" name="Shape 13"/>
          <p:cNvSpPr/>
          <p:nvPr/>
        </p:nvSpPr>
        <p:spPr>
          <a:xfrm>
            <a:off x="7128662" y="1051560"/>
            <a:ext cx="1558138" cy="1417320"/>
          </a:xfrm>
          <a:prstGeom prst="roundRect">
            <a:avLst>
              <a:gd name="adj" fmla="val 6452"/>
            </a:avLst>
          </a:prstGeom>
          <a:solidFill>
            <a:srgbClr val="FCE9E7"/>
          </a:solidFill>
          <a:ln w="6350">
            <a:solidFill>
              <a:srgbClr val="FCE9E7"/>
            </a:solidFill>
            <a:prstDash val="solid"/>
          </a:ln>
        </p:spPr>
      </p:sp>
      <p:sp>
        <p:nvSpPr>
          <p:cNvPr id="16" name="Text 14"/>
          <p:cNvSpPr txBox="1"/>
          <p:nvPr/>
        </p:nvSpPr>
        <p:spPr>
          <a:xfrm>
            <a:off x="7238390" y="1124712"/>
            <a:ext cx="1338682" cy="1271016"/>
          </a:xfrm>
          <a:prstGeom prst="rect">
            <a:avLst/>
          </a:prstGeom>
          <a:noFill/>
          <a:ln/>
        </p:spPr>
        <p:txBody>
          <a:bodyPr wrap="square" lIns="254" tIns="254" rIns="254" bIns="254" rtlCol="0" anchor="t"/>
          <a:lstStyle/>
          <a:p>
            <a:pPr indent="0" marL="0">
              <a:spcAft>
                <a:spcPts val="300"/>
              </a:spcAft>
              <a:buNone/>
            </a:pPr>
            <a:r>
              <a:rPr lang="en-US" sz="1300" b="1" dirty="0">
                <a:solidFill>
                  <a:srgbClr val="E46A5E"/>
                </a:solidFill>
              </a:rPr>
              <a:t>Residual risk</a:t>
            </a:r>
            <a:endParaRPr lang="en-US" sz="1300" dirty="0"/>
          </a:p>
          <a:p>
            <a:pPr indent="0" marL="0">
              <a:spcAft>
                <a:spcPts val="300"/>
              </a:spcAft>
              <a:buNone/>
            </a:pPr>
            <a:r>
              <a:rPr lang="en-US" sz="1200" dirty="0">
                <a:solidFill>
                  <a:srgbClr val="1F2A37"/>
                </a:solidFill>
              </a:rPr>
              <a:t>what remains, documented</a:t>
            </a:r>
            <a:endParaRPr lang="en-US" sz="1300" dirty="0"/>
          </a:p>
        </p:txBody>
      </p:sp>
      <p:sp>
        <p:nvSpPr>
          <p:cNvPr id="17" name="Text 15"/>
          <p:cNvSpPr txBox="1"/>
          <p:nvPr/>
        </p:nvSpPr>
        <p:spPr>
          <a:xfrm>
            <a:off x="457200" y="2697480"/>
            <a:ext cx="4937760" cy="1783080"/>
          </a:xfrm>
          <a:prstGeom prst="rect">
            <a:avLst/>
          </a:prstGeom>
          <a:noFill/>
          <a:ln/>
        </p:spPr>
        <p:txBody>
          <a:bodyPr wrap="square" lIns="635" tIns="635" rIns="635" bIns="635" rtlCol="0" anchor="t"/>
          <a:lstStyle/>
          <a:p>
            <a:pPr marL="177800" indent="-177800">
              <a:spcAft>
                <a:spcPts val="600"/>
              </a:spcAft>
              <a:buSzPct val="100000"/>
              <a:buChar char="•"/>
            </a:pPr>
            <a:r>
              <a:rPr lang="en-US" sz="1400" b="1" dirty="0">
                <a:solidFill>
                  <a:srgbClr val="1F2A37"/>
                </a:solidFill>
              </a:rPr>
              <a:t>Risk assessment </a:t>
            </a:r>
            <a:pPr indent="0" marL="0">
              <a:buNone/>
            </a:pPr>
            <a:r>
              <a:rPr lang="en-US" sz="1400" dirty="0">
                <a:solidFill>
                  <a:srgbClr val="1F2A37"/>
                </a:solidFill>
              </a:rPr>
              <a:t>= identification + analysis + evaluation [10].</a:t>
            </a:r>
            <a:endParaRPr lang="en-US" sz="1400" dirty="0"/>
          </a:p>
          <a:p>
            <a:pPr marL="177800" indent="-177800">
              <a:spcAft>
                <a:spcPts val="600"/>
              </a:spcAft>
              <a:buSzPct val="100000"/>
              <a:buChar char="•"/>
            </a:pPr>
            <a:r>
              <a:rPr lang="en-US" sz="1400" b="1" dirty="0">
                <a:solidFill>
                  <a:srgbClr val="1F2A37"/>
                </a:solidFill>
              </a:rPr>
              <a:t>Residual risk </a:t>
            </a:r>
            <a:pPr indent="0" marL="0">
              <a:buNone/>
            </a:pPr>
            <a:r>
              <a:rPr lang="en-US" sz="1400" dirty="0">
                <a:solidFill>
                  <a:srgbClr val="1F2A37"/>
                </a:solidFill>
              </a:rPr>
              <a:t>is the risk remaining after treatment [11].</a:t>
            </a:r>
            <a:endParaRPr lang="en-US" sz="1400" dirty="0"/>
          </a:p>
          <a:p>
            <a:pPr marL="177800" indent="-177800">
              <a:spcAft>
                <a:spcPts val="600"/>
              </a:spcAft>
              <a:buSzPct val="100000"/>
              <a:buChar char="•"/>
            </a:pPr>
            <a:r>
              <a:rPr lang="en-US" sz="1400" b="1" dirty="0">
                <a:solidFill>
                  <a:srgbClr val="1F2A37"/>
                </a:solidFill>
              </a:rPr>
              <a:t>FMEA </a:t>
            </a:r>
            <a:pPr indent="0" marL="0">
              <a:buNone/>
            </a:pPr>
            <a:r>
              <a:rPr lang="en-US" sz="1400" dirty="0">
                <a:solidFill>
                  <a:srgbClr val="1F2A37"/>
                </a:solidFill>
              </a:rPr>
              <a:t>is one of the risk assessment techniques [12].</a:t>
            </a:r>
            <a:endParaRPr lang="en-US" sz="1400" dirty="0"/>
          </a:p>
        </p:txBody>
      </p:sp>
      <p:sp>
        <p:nvSpPr>
          <p:cNvPr id="18" name="image placeholder"/>
          <p:cNvSpPr/>
          <p:nvPr/>
        </p:nvSpPr>
        <p:spPr>
          <a:xfrm>
            <a:off x="5577840" y="2697480"/>
            <a:ext cx="3108960" cy="1783080"/>
          </a:xfrm>
          <a:prstGeom prst="roundRect">
            <a:avLst>
              <a:gd name="adj" fmla="val 6154"/>
            </a:avLst>
          </a:prstGeom>
          <a:solidFill>
            <a:srgbClr val="F4F6F8"/>
          </a:solidFill>
          <a:ln w="12700">
            <a:solidFill>
              <a:srgbClr val="9AA5B1"/>
            </a:solidFill>
            <a:prstDash val="dash"/>
          </a:ln>
        </p:spPr>
      </p:sp>
      <p:sp>
        <p:nvSpPr>
          <p:cNvPr id="19" name="image placeholder label"/>
          <p:cNvSpPr txBox="1"/>
          <p:nvPr/>
        </p:nvSpPr>
        <p:spPr>
          <a:xfrm>
            <a:off x="5715000" y="2788920"/>
            <a:ext cx="2834640" cy="1600200"/>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the risk management process (ISO 31000)</a:t>
            </a:r>
            <a:endParaRPr lang="en-US" sz="1200" dirty="0"/>
          </a:p>
        </p:txBody>
      </p:sp>
      <p:sp>
        <p:nvSpPr>
          <p:cNvPr id="20"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[10] ISO 31000:2018 · [11] ISO Guide 73:2009 · [12] IEC 31010:2019</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S, O, D in the AIAG-VDA method</a:t>
            </a:r>
            <a:endParaRPr lang="en-US" sz="2600" dirty="0"/>
          </a:p>
        </p:txBody>
      </p:sp>
      <p:sp>
        <p:nvSpPr>
          <p:cNvPr id="3" name="Shape 1"/>
          <p:cNvSpPr/>
          <p:nvPr/>
        </p:nvSpPr>
        <p:spPr>
          <a:xfrm>
            <a:off x="457200" y="1005840"/>
            <a:ext cx="1112955" cy="868680"/>
          </a:xfrm>
          <a:prstGeom prst="roundRect">
            <a:avLst>
              <a:gd name="adj" fmla="val 10526"/>
            </a:avLst>
          </a:prstGeom>
          <a:solidFill>
            <a:srgbClr val="E5F0FA"/>
          </a:solidFill>
          <a:ln w="12700">
            <a:solidFill>
              <a:srgbClr val="FFFFFF"/>
            </a:solidFill>
            <a:prstDash val="solid"/>
          </a:ln>
        </p:spPr>
      </p:sp>
      <p:sp>
        <p:nvSpPr>
          <p:cNvPr id="4" name="Text 2"/>
          <p:cNvSpPr txBox="1"/>
          <p:nvPr/>
        </p:nvSpPr>
        <p:spPr>
          <a:xfrm>
            <a:off x="493776"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1</a:t>
            </a:r>
            <a:endParaRPr lang="en-US" sz="1600" dirty="0"/>
          </a:p>
          <a:p>
            <a:pPr algn="ctr" indent="0" marL="0">
              <a:buNone/>
            </a:pPr>
            <a:r>
              <a:rPr lang="en-US" sz="1100" dirty="0">
                <a:solidFill>
                  <a:srgbClr val="1F2A37"/>
                </a:solidFill>
              </a:rPr>
              <a:t>Planning</a:t>
            </a:r>
            <a:endParaRPr lang="en-US" sz="1600" dirty="0"/>
          </a:p>
        </p:txBody>
      </p:sp>
      <p:sp>
        <p:nvSpPr>
          <p:cNvPr id="5" name="Shape 3"/>
          <p:cNvSpPr/>
          <p:nvPr/>
        </p:nvSpPr>
        <p:spPr>
          <a:xfrm>
            <a:off x="1643307" y="1005840"/>
            <a:ext cx="1112955" cy="868680"/>
          </a:xfrm>
          <a:prstGeom prst="roundRect">
            <a:avLst>
              <a:gd name="adj" fmla="val 10526"/>
            </a:avLst>
          </a:prstGeom>
          <a:solidFill>
            <a:srgbClr val="E5F0FA"/>
          </a:solidFill>
          <a:ln w="12700">
            <a:solidFill>
              <a:srgbClr val="FFFFFF"/>
            </a:solidFill>
            <a:prstDash val="solid"/>
          </a:ln>
        </p:spPr>
      </p:sp>
      <p:sp>
        <p:nvSpPr>
          <p:cNvPr id="6" name="Text 4"/>
          <p:cNvSpPr txBox="1"/>
          <p:nvPr/>
        </p:nvSpPr>
        <p:spPr>
          <a:xfrm>
            <a:off x="1679883"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2</a:t>
            </a:r>
            <a:endParaRPr lang="en-US" sz="1600" dirty="0"/>
          </a:p>
          <a:p>
            <a:pPr algn="ctr" indent="0" marL="0">
              <a:buNone/>
            </a:pPr>
            <a:r>
              <a:rPr lang="en-US" sz="1100" dirty="0">
                <a:solidFill>
                  <a:srgbClr val="1F2A37"/>
                </a:solidFill>
              </a:rPr>
              <a:t>Structure</a:t>
            </a:r>
            <a:endParaRPr lang="en-US" sz="1600" dirty="0"/>
          </a:p>
        </p:txBody>
      </p:sp>
      <p:sp>
        <p:nvSpPr>
          <p:cNvPr id="7" name="Shape 5"/>
          <p:cNvSpPr/>
          <p:nvPr/>
        </p:nvSpPr>
        <p:spPr>
          <a:xfrm>
            <a:off x="2829415" y="1005840"/>
            <a:ext cx="1112955" cy="868680"/>
          </a:xfrm>
          <a:prstGeom prst="roundRect">
            <a:avLst>
              <a:gd name="adj" fmla="val 10526"/>
            </a:avLst>
          </a:prstGeom>
          <a:solidFill>
            <a:srgbClr val="E5F0FA"/>
          </a:solidFill>
          <a:ln w="12700">
            <a:solidFill>
              <a:srgbClr val="FFFFFF"/>
            </a:solidFill>
            <a:prstDash val="solid"/>
          </a:ln>
        </p:spPr>
      </p:sp>
      <p:sp>
        <p:nvSpPr>
          <p:cNvPr id="8" name="Text 6"/>
          <p:cNvSpPr txBox="1"/>
          <p:nvPr/>
        </p:nvSpPr>
        <p:spPr>
          <a:xfrm>
            <a:off x="2865991"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3</a:t>
            </a:r>
            <a:endParaRPr lang="en-US" sz="1600" dirty="0"/>
          </a:p>
          <a:p>
            <a:pPr algn="ctr" indent="0" marL="0">
              <a:buNone/>
            </a:pPr>
            <a:r>
              <a:rPr lang="en-US" sz="1100" dirty="0">
                <a:solidFill>
                  <a:srgbClr val="1F2A37"/>
                </a:solidFill>
              </a:rPr>
              <a:t>Function</a:t>
            </a:r>
            <a:endParaRPr lang="en-US" sz="1600" dirty="0"/>
          </a:p>
        </p:txBody>
      </p:sp>
      <p:sp>
        <p:nvSpPr>
          <p:cNvPr id="9" name="Shape 7"/>
          <p:cNvSpPr/>
          <p:nvPr/>
        </p:nvSpPr>
        <p:spPr>
          <a:xfrm>
            <a:off x="4015522" y="1005840"/>
            <a:ext cx="1112955" cy="868680"/>
          </a:xfrm>
          <a:prstGeom prst="roundRect">
            <a:avLst>
              <a:gd name="adj" fmla="val 10526"/>
            </a:avLst>
          </a:prstGeom>
          <a:solidFill>
            <a:srgbClr val="E3F4F1"/>
          </a:solidFill>
          <a:ln w="12700">
            <a:solidFill>
              <a:srgbClr val="FFFFFF"/>
            </a:solidFill>
            <a:prstDash val="solid"/>
          </a:ln>
        </p:spPr>
      </p:sp>
      <p:sp>
        <p:nvSpPr>
          <p:cNvPr id="10" name="Text 8"/>
          <p:cNvSpPr txBox="1"/>
          <p:nvPr/>
        </p:nvSpPr>
        <p:spPr>
          <a:xfrm>
            <a:off x="4052098"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4</a:t>
            </a:r>
            <a:endParaRPr lang="en-US" sz="1600" dirty="0"/>
          </a:p>
          <a:p>
            <a:pPr algn="ctr" indent="0" marL="0">
              <a:buNone/>
            </a:pPr>
            <a:r>
              <a:rPr lang="en-US" sz="1100" dirty="0">
                <a:solidFill>
                  <a:srgbClr val="1F2A37"/>
                </a:solidFill>
              </a:rPr>
              <a:t>Failure</a:t>
            </a:r>
            <a:endParaRPr lang="en-US" sz="1600" dirty="0"/>
          </a:p>
        </p:txBody>
      </p:sp>
      <p:sp>
        <p:nvSpPr>
          <p:cNvPr id="11" name="Shape 9"/>
          <p:cNvSpPr/>
          <p:nvPr/>
        </p:nvSpPr>
        <p:spPr>
          <a:xfrm>
            <a:off x="5201630" y="1005840"/>
            <a:ext cx="1112955" cy="868680"/>
          </a:xfrm>
          <a:prstGeom prst="roundRect">
            <a:avLst>
              <a:gd name="adj" fmla="val 10526"/>
            </a:avLst>
          </a:prstGeom>
          <a:solidFill>
            <a:srgbClr val="E3F4F1"/>
          </a:solidFill>
          <a:ln w="12700">
            <a:solidFill>
              <a:srgbClr val="FFFFFF"/>
            </a:solidFill>
            <a:prstDash val="solid"/>
          </a:ln>
        </p:spPr>
      </p:sp>
      <p:sp>
        <p:nvSpPr>
          <p:cNvPr id="12" name="Text 10"/>
          <p:cNvSpPr txBox="1"/>
          <p:nvPr/>
        </p:nvSpPr>
        <p:spPr>
          <a:xfrm>
            <a:off x="5238206"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5</a:t>
            </a:r>
            <a:endParaRPr lang="en-US" sz="1600" dirty="0"/>
          </a:p>
          <a:p>
            <a:pPr algn="ctr" indent="0" marL="0">
              <a:buNone/>
            </a:pPr>
            <a:r>
              <a:rPr lang="en-US" sz="1100" dirty="0">
                <a:solidFill>
                  <a:srgbClr val="1F2A37"/>
                </a:solidFill>
              </a:rPr>
              <a:t>Risk analysis</a:t>
            </a:r>
            <a:endParaRPr lang="en-US" sz="1600" dirty="0"/>
          </a:p>
        </p:txBody>
      </p:sp>
      <p:sp>
        <p:nvSpPr>
          <p:cNvPr id="13" name="Shape 11"/>
          <p:cNvSpPr/>
          <p:nvPr/>
        </p:nvSpPr>
        <p:spPr>
          <a:xfrm>
            <a:off x="6387737" y="1005840"/>
            <a:ext cx="1112955" cy="868680"/>
          </a:xfrm>
          <a:prstGeom prst="roundRect">
            <a:avLst>
              <a:gd name="adj" fmla="val 10526"/>
            </a:avLst>
          </a:prstGeom>
          <a:solidFill>
            <a:srgbClr val="E3F4F1"/>
          </a:solidFill>
          <a:ln w="12700">
            <a:solidFill>
              <a:srgbClr val="FFFFFF"/>
            </a:solidFill>
            <a:prstDash val="solid"/>
          </a:ln>
        </p:spPr>
      </p:sp>
      <p:sp>
        <p:nvSpPr>
          <p:cNvPr id="14" name="Text 12"/>
          <p:cNvSpPr txBox="1"/>
          <p:nvPr/>
        </p:nvSpPr>
        <p:spPr>
          <a:xfrm>
            <a:off x="6424313"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6</a:t>
            </a:r>
            <a:endParaRPr lang="en-US" sz="1600" dirty="0"/>
          </a:p>
          <a:p>
            <a:pPr algn="ctr" indent="0" marL="0">
              <a:buNone/>
            </a:pPr>
            <a:r>
              <a:rPr lang="en-US" sz="1100" dirty="0">
                <a:solidFill>
                  <a:srgbClr val="1F2A37"/>
                </a:solidFill>
              </a:rPr>
              <a:t>Optimization</a:t>
            </a:r>
            <a:endParaRPr lang="en-US" sz="1600" dirty="0"/>
          </a:p>
        </p:txBody>
      </p:sp>
      <p:sp>
        <p:nvSpPr>
          <p:cNvPr id="15" name="Shape 13"/>
          <p:cNvSpPr/>
          <p:nvPr/>
        </p:nvSpPr>
        <p:spPr>
          <a:xfrm>
            <a:off x="7573845" y="1005840"/>
            <a:ext cx="1112955" cy="868680"/>
          </a:xfrm>
          <a:prstGeom prst="roundRect">
            <a:avLst>
              <a:gd name="adj" fmla="val 10526"/>
            </a:avLst>
          </a:prstGeom>
          <a:solidFill>
            <a:srgbClr val="FFF4DE"/>
          </a:solidFill>
          <a:ln w="12700">
            <a:solidFill>
              <a:srgbClr val="FFFFFF"/>
            </a:solidFill>
            <a:prstDash val="solid"/>
          </a:ln>
        </p:spPr>
      </p:sp>
      <p:sp>
        <p:nvSpPr>
          <p:cNvPr id="16" name="Text 14"/>
          <p:cNvSpPr txBox="1"/>
          <p:nvPr/>
        </p:nvSpPr>
        <p:spPr>
          <a:xfrm>
            <a:off x="7610421" y="1024128"/>
            <a:ext cx="1039803" cy="832104"/>
          </a:xfrm>
          <a:prstGeom prst="rect">
            <a:avLst/>
          </a:prstGeom>
          <a:noFill/>
          <a:ln/>
        </p:spPr>
        <p:txBody>
          <a:bodyPr wrap="square" lIns="0" tIns="0" rIns="0" bIns="0" rtlCol="0" anchor="ctr"/>
          <a:lstStyle/>
          <a:p>
            <a:pPr algn="ctr" indent="0" marL="0">
              <a:buNone/>
            </a:pPr>
            <a:r>
              <a:rPr lang="en-US" sz="1600" b="1" dirty="0">
                <a:solidFill>
                  <a:srgbClr val="0B6E69"/>
                </a:solidFill>
              </a:rPr>
              <a:t>7</a:t>
            </a:r>
            <a:endParaRPr lang="en-US" sz="1600" dirty="0"/>
          </a:p>
          <a:p>
            <a:pPr algn="ctr" indent="0" marL="0">
              <a:buNone/>
            </a:pPr>
            <a:r>
              <a:rPr lang="en-US" sz="1100" dirty="0">
                <a:solidFill>
                  <a:srgbClr val="1F2A37"/>
                </a:solidFill>
              </a:rPr>
              <a:t>Documentation</a:t>
            </a:r>
            <a:endParaRPr lang="en-US" sz="1600" dirty="0"/>
          </a:p>
        </p:txBody>
      </p:sp>
      <p:sp>
        <p:nvSpPr>
          <p:cNvPr id="17" name="Shape 15"/>
          <p:cNvSpPr/>
          <p:nvPr/>
        </p:nvSpPr>
        <p:spPr>
          <a:xfrm>
            <a:off x="457200" y="2057400"/>
            <a:ext cx="2633472" cy="1463040"/>
          </a:xfrm>
          <a:prstGeom prst="roundRect">
            <a:avLst>
              <a:gd name="adj" fmla="val 6250"/>
            </a:avLst>
          </a:prstGeom>
          <a:solidFill>
            <a:srgbClr val="FCE9E7"/>
          </a:solidFill>
          <a:ln w="6350">
            <a:solidFill>
              <a:srgbClr val="FCE9E7"/>
            </a:solidFill>
            <a:prstDash val="solid"/>
          </a:ln>
        </p:spPr>
      </p:sp>
      <p:sp>
        <p:nvSpPr>
          <p:cNvPr id="18" name="Text 16"/>
          <p:cNvSpPr txBox="1"/>
          <p:nvPr/>
        </p:nvSpPr>
        <p:spPr>
          <a:xfrm>
            <a:off x="566928"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S · Severity</a:t>
            </a:r>
            <a:endParaRPr lang="en-US" sz="1400" dirty="0"/>
          </a:p>
          <a:p>
            <a:pPr indent="0" marL="0">
              <a:spcAft>
                <a:spcPts val="300"/>
              </a:spcAft>
              <a:buNone/>
            </a:pPr>
            <a:r>
              <a:rPr lang="en-US" sz="1300" dirty="0">
                <a:solidFill>
                  <a:srgbClr val="1F2A37"/>
                </a:solidFill>
              </a:rPr>
              <a:t>How serious is the effect? 10 = safety, 9 = regulations, 8 = loss of primary function … 1 = no effect.</a:t>
            </a:r>
            <a:endParaRPr lang="en-US" sz="1400" dirty="0"/>
          </a:p>
        </p:txBody>
      </p:sp>
      <p:sp>
        <p:nvSpPr>
          <p:cNvPr id="19" name="Shape 17"/>
          <p:cNvSpPr/>
          <p:nvPr/>
        </p:nvSpPr>
        <p:spPr>
          <a:xfrm>
            <a:off x="3255264" y="2057400"/>
            <a:ext cx="2633472" cy="1463040"/>
          </a:xfrm>
          <a:prstGeom prst="roundRect">
            <a:avLst>
              <a:gd name="adj" fmla="val 6250"/>
            </a:avLst>
          </a:prstGeom>
          <a:solidFill>
            <a:srgbClr val="E5F0FA"/>
          </a:solidFill>
          <a:ln w="6350">
            <a:solidFill>
              <a:srgbClr val="E5F0FA"/>
            </a:solidFill>
            <a:prstDash val="solid"/>
          </a:ln>
        </p:spPr>
      </p:sp>
      <p:sp>
        <p:nvSpPr>
          <p:cNvPr id="20" name="Text 18"/>
          <p:cNvSpPr txBox="1"/>
          <p:nvPr/>
        </p:nvSpPr>
        <p:spPr>
          <a:xfrm>
            <a:off x="3364992"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O · Occurrence</a:t>
            </a:r>
            <a:endParaRPr lang="en-US" sz="1400" dirty="0"/>
          </a:p>
          <a:p>
            <a:pPr indent="0" marL="0">
              <a:spcAft>
                <a:spcPts val="300"/>
              </a:spcAft>
              <a:buNone/>
            </a:pPr>
            <a:r>
              <a:rPr lang="en-US" sz="1300" dirty="0">
                <a:solidFill>
                  <a:srgbClr val="1F2A37"/>
                </a:solidFill>
              </a:rPr>
              <a:t>How likely is the cause, given the prevention? 10 = very likely … 1 = eliminated by design.</a:t>
            </a:r>
            <a:endParaRPr lang="en-US" sz="1400" dirty="0"/>
          </a:p>
        </p:txBody>
      </p:sp>
      <p:sp>
        <p:nvSpPr>
          <p:cNvPr id="21" name="Shape 19"/>
          <p:cNvSpPr/>
          <p:nvPr/>
        </p:nvSpPr>
        <p:spPr>
          <a:xfrm>
            <a:off x="6053328" y="2057400"/>
            <a:ext cx="2633472" cy="1463040"/>
          </a:xfrm>
          <a:prstGeom prst="roundRect">
            <a:avLst>
              <a:gd name="adj" fmla="val 6250"/>
            </a:avLst>
          </a:prstGeom>
          <a:solidFill>
            <a:srgbClr val="FFF4DE"/>
          </a:solidFill>
          <a:ln w="6350">
            <a:solidFill>
              <a:srgbClr val="FFF4DE"/>
            </a:solidFill>
            <a:prstDash val="solid"/>
          </a:ln>
        </p:spPr>
      </p:sp>
      <p:sp>
        <p:nvSpPr>
          <p:cNvPr id="22" name="Text 20"/>
          <p:cNvSpPr txBox="1"/>
          <p:nvPr/>
        </p:nvSpPr>
        <p:spPr>
          <a:xfrm>
            <a:off x="6163056" y="2130552"/>
            <a:ext cx="2414016" cy="1316736"/>
          </a:xfrm>
          <a:prstGeom prst="rect">
            <a:avLst/>
          </a:prstGeom>
          <a:noFill/>
          <a:ln/>
        </p:spPr>
        <p:txBody>
          <a:bodyPr wrap="square" lIns="254" tIns="254" rIns="254" bIns="254" rtlCol="0" anchor="t"/>
          <a:lstStyle/>
          <a:p>
            <a:pPr indent="0" marL="0">
              <a:spcAft>
                <a:spcPts val="300"/>
              </a:spcAft>
              <a:buNone/>
            </a:pPr>
            <a:r>
              <a:rPr lang="en-US" sz="1400" b="1" dirty="0">
                <a:solidFill>
                  <a:srgbClr val="B7791F"/>
                </a:solidFill>
              </a:rPr>
              <a:t>D · Detection</a:t>
            </a:r>
            <a:endParaRPr lang="en-US" sz="1400" dirty="0"/>
          </a:p>
          <a:p>
            <a:pPr indent="0" marL="0">
              <a:spcAft>
                <a:spcPts val="300"/>
              </a:spcAft>
              <a:buNone/>
            </a:pPr>
            <a:r>
              <a:rPr lang="en-US" sz="1300" dirty="0">
                <a:solidFill>
                  <a:srgbClr val="1F2A37"/>
                </a:solidFill>
              </a:rPr>
              <a:t>How reliably do we detect the defect before it reaches the customer? 1 = certain … 10 = cannot detect.</a:t>
            </a:r>
            <a:endParaRPr lang="en-US" sz="1400" dirty="0"/>
          </a:p>
        </p:txBody>
      </p:sp>
      <p:sp>
        <p:nvSpPr>
          <p:cNvPr id="23" name="Text 21"/>
          <p:cNvSpPr txBox="1"/>
          <p:nvPr/>
        </p:nvSpPr>
        <p:spPr>
          <a:xfrm>
            <a:off x="457200" y="3657600"/>
            <a:ext cx="8229600" cy="777240"/>
          </a:xfrm>
          <a:prstGeom prst="rect">
            <a:avLst/>
          </a:prstGeom>
          <a:noFill/>
          <a:ln/>
        </p:spPr>
        <p:txBody>
          <a:bodyPr wrap="square" lIns="254" tIns="254" rIns="254" bIns="254" rtlCol="0" anchor="t"/>
          <a:lstStyle/>
          <a:p>
            <a:pPr indent="0" marL="0">
              <a:buNone/>
            </a:pPr>
            <a:r>
              <a:rPr lang="en-US" sz="1400" dirty="0">
                <a:solidFill>
                  <a:srgbClr val="1F2A37"/>
                </a:solidFill>
              </a:rPr>
              <a:t>The AIAG-VDA handbook (2019) defines 7 steps and 1–10 scales for S, O and D, for DFMEA, PFMEA and FMEA-MSR [14]. SAE J1739 is the equivalent standard, 2021 edition [15]. HW TCA uses the same scales; D comes from the test methods.</a:t>
            </a:r>
            <a:endParaRPr lang="en-US" sz="1400" dirty="0"/>
          </a:p>
        </p:txBody>
      </p:sp>
      <p:sp>
        <p:nvSpPr>
          <p:cNvPr id="24"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[14] AIAG &amp; VDA FMEA Handbook, 2019 · [15] SAE J1739_202101 · [16] IEC 60812:2018</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Why action priority (AP), not RPN</a:t>
            </a:r>
            <a:endParaRPr lang="en-US" sz="2600" dirty="0"/>
          </a:p>
        </p:txBody>
      </p:sp>
      <p:sp>
        <p:nvSpPr>
          <p:cNvPr id="3" name="Text 1"/>
          <p:cNvSpPr txBox="1"/>
          <p:nvPr/>
        </p:nvSpPr>
        <p:spPr>
          <a:xfrm>
            <a:off x="457200" y="1005840"/>
            <a:ext cx="2468880" cy="914400"/>
          </a:xfrm>
          <a:prstGeom prst="rect">
            <a:avLst/>
          </a:prstGeom>
          <a:noFill/>
          <a:ln/>
        </p:spPr>
        <p:txBody>
          <a:bodyPr wrap="square" lIns="0" tIns="0" rIns="0" bIns="0" rtlCol="0" anchor="ctr"/>
          <a:lstStyle/>
          <a:p>
            <a:pPr indent="0" marL="0">
              <a:buNone/>
            </a:pPr>
            <a:r>
              <a:rPr lang="en-US" sz="5400" b="1" dirty="0">
                <a:solidFill>
                  <a:srgbClr val="E46A5E"/>
                </a:solidFill>
              </a:rPr>
              <a:t>120</a:t>
            </a:r>
            <a:endParaRPr lang="en-US" sz="5400" dirty="0"/>
          </a:p>
        </p:txBody>
      </p:sp>
      <p:sp>
        <p:nvSpPr>
          <p:cNvPr id="4" name="Text 2"/>
          <p:cNvSpPr txBox="1"/>
          <p:nvPr/>
        </p:nvSpPr>
        <p:spPr>
          <a:xfrm>
            <a:off x="457200" y="1920240"/>
            <a:ext cx="2560320" cy="822960"/>
          </a:xfrm>
          <a:prstGeom prst="rect">
            <a:avLst/>
          </a:prstGeom>
          <a:noFill/>
          <a:ln/>
        </p:spPr>
        <p:txBody>
          <a:bodyPr wrap="square" lIns="0" tIns="0" rIns="0" bIns="0" rtlCol="0" anchor="t"/>
          <a:lstStyle/>
          <a:p>
            <a:pPr indent="0" marL="0">
              <a:buNone/>
            </a:pPr>
            <a:r>
              <a:rPr lang="en-US" sz="1300" dirty="0">
                <a:solidFill>
                  <a:srgbClr val="1F2A37"/>
                </a:solidFill>
              </a:rPr>
              <a:t>distinct values out of the 1000 possible S × O × D combinations [17]</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0" y="1005840"/>
          <a:ext cx="5486400" cy="914400"/>
        </p:xfrm>
        <a:graphic>
          <a:graphicData uri="http://schemas.openxmlformats.org/drawingml/2006/table">
            <a:tbl>
              <a:tblPr/>
              <a:tblGrid>
                <a:gridCol w="1920240"/>
                <a:gridCol w="548640"/>
                <a:gridCol w="548640"/>
                <a:gridCol w="548640"/>
                <a:gridCol w="914400"/>
                <a:gridCol w="1005840"/>
              </a:tblGrid>
              <a:tr h="347472">
                <a:tc>
                  <a:txBody>
                    <a:bodyPr/>
                    <a:lstStyle/>
                    <a:p>
                      <a:pPr algn="ctr" indent="0" marL="0">
                        <a:buNone/>
                      </a:pPr>
                      <a:r>
                        <a:rPr lang="en-US" sz="1200" b="1" dirty="0">
                          <a:solidFill>
                            <a:srgbClr val="FFFFFF"/>
                          </a:solidFill>
                        </a:rPr>
                        <a:t>Case</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S</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O</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D</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RPN</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c>
                  <a:txBody>
                    <a:bodyPr/>
                    <a:lstStyle/>
                    <a:p>
                      <a:pPr algn="ctr" indent="0" marL="0">
                        <a:buNone/>
                      </a:pPr>
                      <a:r>
                        <a:rPr lang="en-US" sz="1200" b="1" dirty="0">
                          <a:solidFill>
                            <a:srgbClr val="FFFFFF"/>
                          </a:solidFill>
                        </a:rPr>
                        <a:t>AP</a:t>
                      </a:r>
                      <a:endParaRPr lang="en-US" sz="12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0B6E69"/>
                    </a:solidFill>
                  </a:tcPr>
                </a:tc>
              </a:tr>
              <a:tr h="347472">
                <a:tc>
                  <a:txBody>
                    <a:bodyPr/>
                    <a:lstStyle/>
                    <a:p>
                      <a:pPr algn="l" indent="0" marL="0">
                        <a:buNone/>
                      </a:pPr>
                      <a:r>
                        <a:rPr lang="en-US" sz="1300" dirty="0">
                          <a:solidFill>
                            <a:srgbClr val="1F2A37"/>
                          </a:solidFill>
                        </a:rPr>
                        <a:t>A: safety effect</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9</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4</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3</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108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H</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CE9E7"/>
                    </a:solidFill>
                  </a:tcPr>
                </a:tc>
              </a:tr>
              <a:tr h="347472">
                <a:tc>
                  <a:txBody>
                    <a:bodyPr/>
                    <a:lstStyle/>
                    <a:p>
                      <a:pPr algn="l" indent="0" marL="0">
                        <a:buNone/>
                      </a:pPr>
                      <a:r>
                        <a:rPr lang="en-US" sz="1300" dirty="0">
                          <a:solidFill>
                            <a:srgbClr val="1F2A37"/>
                          </a:solidFill>
                        </a:rPr>
                        <a:t>B: minor effect</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3</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6</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6</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108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L</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3F4F1"/>
                    </a:solidFill>
                  </a:tcPr>
                </a:tc>
              </a:tr>
              <a:tr h="347472">
                <a:tc>
                  <a:txBody>
                    <a:bodyPr/>
                    <a:lstStyle/>
                    <a:p>
                      <a:pPr algn="l" indent="0" marL="0">
                        <a:buNone/>
                      </a:pPr>
                      <a:r>
                        <a:rPr lang="en-US" sz="1300" dirty="0">
                          <a:solidFill>
                            <a:srgbClr val="1F2A37"/>
                          </a:solidFill>
                        </a:rPr>
                        <a:t>C: primary function</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8</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2</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A37"/>
                          </a:solidFill>
                        </a:rPr>
                        <a:t>5</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80</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A37"/>
                          </a:solidFill>
                        </a:rPr>
                        <a:t>M</a:t>
                      </a:r>
                      <a:endParaRPr lang="en-US" sz="1300" dirty="0"/>
                    </a:p>
                  </a:txBody>
                  <a:tcPr marL="36576" marR="36576" marT="36576" marB="36576">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FF4DE"/>
                    </a:solidFill>
                  </a:tcPr>
                </a:tc>
              </a:tr>
            </a:tbl>
          </a:graphicData>
        </a:graphic>
      </p:graphicFrame>
      <p:sp>
        <p:nvSpPr>
          <p:cNvPr id="6" name="Text 3"/>
          <p:cNvSpPr txBox="1"/>
          <p:nvPr/>
        </p:nvSpPr>
        <p:spPr>
          <a:xfrm>
            <a:off x="457200" y="2880360"/>
            <a:ext cx="8229600" cy="1600200"/>
          </a:xfrm>
          <a:prstGeom prst="rect">
            <a:avLst/>
          </a:prstGeom>
          <a:noFill/>
          <a:ln/>
        </p:spPr>
        <p:txBody>
          <a:bodyPr wrap="square" lIns="635" tIns="635" rIns="635" bIns="635" rtlCol="0" anchor="t"/>
          <a:lstStyle/>
          <a:p>
            <a:pPr marL="177800" indent="-177800">
              <a:spcAft>
                <a:spcPts val="600"/>
              </a:spcAft>
              <a:buSzPct val="100000"/>
              <a:buChar char="•"/>
            </a:pPr>
            <a:r>
              <a:rPr lang="en-US" sz="1400" dirty="0">
                <a:solidFill>
                  <a:srgbClr val="1F2A37"/>
                </a:solidFill>
              </a:rPr>
              <a:t>The same RPN can hide completely different risks (A and B).</a:t>
            </a:r>
            <a:endParaRPr lang="en-US" sz="1400" dirty="0"/>
          </a:p>
          <a:p>
            <a:pPr marL="177800" indent="-177800">
              <a:spcAft>
                <a:spcPts val="600"/>
              </a:spcAft>
              <a:buSzPct val="100000"/>
              <a:buChar char="•"/>
            </a:pPr>
            <a:r>
              <a:rPr lang="en-US" sz="1400" dirty="0">
                <a:solidFill>
                  <a:srgbClr val="1F2A37"/>
                </a:solidFill>
              </a:rPr>
              <a:t>AP is a lookup table that puts severity first: H, M or L [14].</a:t>
            </a:r>
            <a:endParaRPr lang="en-US" sz="1400" dirty="0"/>
          </a:p>
          <a:p>
            <a:pPr marL="177800" indent="-177800">
              <a:spcAft>
                <a:spcPts val="600"/>
              </a:spcAft>
              <a:buSzPct val="100000"/>
              <a:buChar char="•"/>
            </a:pPr>
            <a:r>
              <a:rPr lang="en-US" sz="1400" dirty="0">
                <a:solidFill>
                  <a:srgbClr val="1F2A37"/>
                </a:solidFill>
              </a:rPr>
              <a:t>In the lab, risk is judged only with the AP table, with D = the minimum over the methods.</a:t>
            </a:r>
            <a:endParaRPr lang="en-US" sz="1400" dirty="0"/>
          </a:p>
        </p:txBody>
      </p:sp>
      <p:sp>
        <p:nvSpPr>
          <p:cNvPr id="7"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[14] AIAG &amp; VDA FMEA Handbook, 2019 (AP table) · [17] Bowles, RAMS 2003</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How the standards connect</a:t>
            </a:r>
            <a:endParaRPr lang="en-US" sz="2600" dirty="0"/>
          </a:p>
        </p:txBody>
      </p:sp>
      <p:sp>
        <p:nvSpPr>
          <p:cNvPr id="3" name="Shape 1"/>
          <p:cNvSpPr/>
          <p:nvPr/>
        </p:nvSpPr>
        <p:spPr>
          <a:xfrm>
            <a:off x="457200" y="1005840"/>
            <a:ext cx="2514600" cy="868680"/>
          </a:xfrm>
          <a:prstGeom prst="roundRect">
            <a:avLst>
              <a:gd name="adj" fmla="val 10526"/>
            </a:avLst>
          </a:prstGeom>
          <a:solidFill>
            <a:srgbClr val="E5F0FA"/>
          </a:solidFill>
          <a:ln w="9525">
            <a:solidFill>
              <a:srgbClr val="C9D3DC"/>
            </a:solidFill>
            <a:prstDash val="solid"/>
          </a:ln>
        </p:spPr>
      </p:sp>
      <p:sp>
        <p:nvSpPr>
          <p:cNvPr id="4" name="Text 2"/>
          <p:cNvSpPr txBox="1"/>
          <p:nvPr/>
        </p:nvSpPr>
        <p:spPr>
          <a:xfrm>
            <a:off x="512064"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ISO 26262:2018</a:t>
            </a:r>
            <a:endParaRPr lang="en-US" sz="1200" dirty="0"/>
          </a:p>
          <a:p>
            <a:pPr algn="ctr" indent="0" marL="0">
              <a:buNone/>
            </a:pPr>
            <a:r>
              <a:rPr lang="en-US" sz="1000" dirty="0">
                <a:solidFill>
                  <a:srgbClr val="5B6575"/>
                </a:solidFill>
              </a:rPr>
              <a:t>functional safety · ASIL · Part 7: production control plan [13]</a:t>
            </a:r>
            <a:endParaRPr lang="en-US" sz="1200" dirty="0"/>
          </a:p>
        </p:txBody>
      </p:sp>
      <p:sp>
        <p:nvSpPr>
          <p:cNvPr id="5" name="Shape 3"/>
          <p:cNvSpPr/>
          <p:nvPr/>
        </p:nvSpPr>
        <p:spPr>
          <a:xfrm>
            <a:off x="3310128" y="1005840"/>
            <a:ext cx="2514600" cy="868680"/>
          </a:xfrm>
          <a:prstGeom prst="roundRect">
            <a:avLst>
              <a:gd name="adj" fmla="val 10526"/>
            </a:avLst>
          </a:prstGeom>
          <a:solidFill>
            <a:srgbClr val="E5F0FA"/>
          </a:solidFill>
          <a:ln w="9525">
            <a:solidFill>
              <a:srgbClr val="C9D3DC"/>
            </a:solidFill>
            <a:prstDash val="solid"/>
          </a:ln>
        </p:spPr>
      </p:sp>
      <p:sp>
        <p:nvSpPr>
          <p:cNvPr id="6" name="Text 4"/>
          <p:cNvSpPr txBox="1"/>
          <p:nvPr/>
        </p:nvSpPr>
        <p:spPr>
          <a:xfrm>
            <a:off x="3364992"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IATF 16949:2016</a:t>
            </a:r>
            <a:endParaRPr lang="en-US" sz="1200" dirty="0"/>
          </a:p>
          <a:p>
            <a:pPr algn="ctr" indent="0" marL="0">
              <a:buNone/>
            </a:pPr>
            <a:r>
              <a:rPr lang="en-US" sz="1000" dirty="0">
                <a:solidFill>
                  <a:srgbClr val="5B6575"/>
                </a:solidFill>
              </a:rPr>
              <a:t>automotive QMS · core tools · control plan, error-proofing [18]</a:t>
            </a:r>
            <a:endParaRPr lang="en-US" sz="1200" dirty="0"/>
          </a:p>
        </p:txBody>
      </p:sp>
      <p:sp>
        <p:nvSpPr>
          <p:cNvPr id="7" name="Shape 5"/>
          <p:cNvSpPr/>
          <p:nvPr/>
        </p:nvSpPr>
        <p:spPr>
          <a:xfrm>
            <a:off x="6172200" y="1005840"/>
            <a:ext cx="2514600" cy="868680"/>
          </a:xfrm>
          <a:prstGeom prst="roundRect">
            <a:avLst>
              <a:gd name="adj" fmla="val 10526"/>
            </a:avLst>
          </a:prstGeom>
          <a:solidFill>
            <a:srgbClr val="FCE9E7"/>
          </a:solidFill>
          <a:ln w="9525">
            <a:solidFill>
              <a:srgbClr val="C9D3DC"/>
            </a:solidFill>
            <a:prstDash val="solid"/>
          </a:ln>
        </p:spPr>
      </p:sp>
      <p:sp>
        <p:nvSpPr>
          <p:cNvPr id="8" name="Text 6"/>
          <p:cNvSpPr txBox="1"/>
          <p:nvPr/>
        </p:nvSpPr>
        <p:spPr>
          <a:xfrm>
            <a:off x="6227064" y="1033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Laws and regulations</a:t>
            </a:r>
            <a:endParaRPr lang="en-US" sz="1200" dirty="0"/>
          </a:p>
          <a:p>
            <a:pPr algn="ctr" indent="0" marL="0">
              <a:buNone/>
            </a:pPr>
            <a:r>
              <a:rPr lang="en-US" sz="1000" dirty="0">
                <a:solidFill>
                  <a:srgbClr val="5B6575"/>
                </a:solidFill>
              </a:rPr>
              <a:t>PLD (EU) 2024/2853 · (EU) 2018/858 · UNECE R10 [21][22][23]</a:t>
            </a:r>
            <a:endParaRPr lang="en-US" sz="1200" dirty="0"/>
          </a:p>
        </p:txBody>
      </p:sp>
      <p:sp>
        <p:nvSpPr>
          <p:cNvPr id="9" name="Shape 7"/>
          <p:cNvSpPr/>
          <p:nvPr/>
        </p:nvSpPr>
        <p:spPr>
          <a:xfrm>
            <a:off x="457200" y="2148840"/>
            <a:ext cx="2514600" cy="868680"/>
          </a:xfrm>
          <a:prstGeom prst="roundRect">
            <a:avLst>
              <a:gd name="adj" fmla="val 10526"/>
            </a:avLst>
          </a:prstGeom>
          <a:solidFill>
            <a:srgbClr val="E3F4F1"/>
          </a:solidFill>
          <a:ln w="9525">
            <a:solidFill>
              <a:srgbClr val="C9D3DC"/>
            </a:solidFill>
            <a:prstDash val="solid"/>
          </a:ln>
        </p:spPr>
      </p:sp>
      <p:sp>
        <p:nvSpPr>
          <p:cNvPr id="10" name="Text 8"/>
          <p:cNvSpPr txBox="1"/>
          <p:nvPr/>
        </p:nvSpPr>
        <p:spPr>
          <a:xfrm>
            <a:off x="512064"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AIAG-VDA FMEA / SAE J1739</a:t>
            </a:r>
            <a:endParaRPr lang="en-US" sz="1200" dirty="0"/>
          </a:p>
          <a:p>
            <a:pPr algn="ctr" indent="0" marL="0">
              <a:buNone/>
            </a:pPr>
            <a:r>
              <a:rPr lang="en-US" sz="1000" dirty="0">
                <a:solidFill>
                  <a:srgbClr val="5B6575"/>
                </a:solidFill>
              </a:rPr>
              <a:t>DFMEA, PFMEA · S, O, D · AP [14][15]</a:t>
            </a:r>
            <a:endParaRPr lang="en-US" sz="1200" dirty="0"/>
          </a:p>
        </p:txBody>
      </p:sp>
      <p:sp>
        <p:nvSpPr>
          <p:cNvPr id="11" name="Shape 9"/>
          <p:cNvSpPr/>
          <p:nvPr/>
        </p:nvSpPr>
        <p:spPr>
          <a:xfrm>
            <a:off x="3310128" y="2148840"/>
            <a:ext cx="2514600" cy="868680"/>
          </a:xfrm>
          <a:prstGeom prst="roundRect">
            <a:avLst>
              <a:gd name="adj" fmla="val 10526"/>
            </a:avLst>
          </a:prstGeom>
          <a:solidFill>
            <a:srgbClr val="E3F4F1"/>
          </a:solidFill>
          <a:ln w="9525">
            <a:solidFill>
              <a:srgbClr val="C9D3DC"/>
            </a:solidFill>
            <a:prstDash val="solid"/>
          </a:ln>
        </p:spPr>
      </p:sp>
      <p:sp>
        <p:nvSpPr>
          <p:cNvPr id="12" name="Text 10"/>
          <p:cNvSpPr txBox="1"/>
          <p:nvPr/>
        </p:nvSpPr>
        <p:spPr>
          <a:xfrm>
            <a:off x="3364992"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APQP 3 / Control Plan 1 (2024)</a:t>
            </a:r>
            <a:endParaRPr lang="en-US" sz="1200" dirty="0"/>
          </a:p>
          <a:p>
            <a:pPr algn="ctr" indent="0" marL="0">
              <a:buNone/>
            </a:pPr>
            <a:r>
              <a:rPr lang="en-US" sz="1000" dirty="0">
                <a:solidFill>
                  <a:srgbClr val="5B6575"/>
                </a:solidFill>
              </a:rPr>
              <a:t>control plan · test specification [19]</a:t>
            </a:r>
            <a:endParaRPr lang="en-US" sz="1200" dirty="0"/>
          </a:p>
        </p:txBody>
      </p:sp>
      <p:sp>
        <p:nvSpPr>
          <p:cNvPr id="13" name="Shape 11"/>
          <p:cNvSpPr/>
          <p:nvPr/>
        </p:nvSpPr>
        <p:spPr>
          <a:xfrm>
            <a:off x="6172200" y="2148840"/>
            <a:ext cx="2514600" cy="868680"/>
          </a:xfrm>
          <a:prstGeom prst="roundRect">
            <a:avLst>
              <a:gd name="adj" fmla="val 10526"/>
            </a:avLst>
          </a:prstGeom>
          <a:solidFill>
            <a:srgbClr val="E3F4F1"/>
          </a:solidFill>
          <a:ln w="9525">
            <a:solidFill>
              <a:srgbClr val="C9D3DC"/>
            </a:solidFill>
            <a:prstDash val="solid"/>
          </a:ln>
        </p:spPr>
      </p:sp>
      <p:sp>
        <p:nvSpPr>
          <p:cNvPr id="14" name="Text 12"/>
          <p:cNvSpPr txBox="1"/>
          <p:nvPr/>
        </p:nvSpPr>
        <p:spPr>
          <a:xfrm>
            <a:off x="6227064" y="2176272"/>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IPC-A-610J / J-STD-001J</a:t>
            </a:r>
            <a:endParaRPr lang="en-US" sz="1200" dirty="0"/>
          </a:p>
          <a:p>
            <a:pPr algn="ctr" indent="0" marL="0">
              <a:buNone/>
            </a:pPr>
            <a:r>
              <a:rPr lang="en-US" sz="1000" dirty="0">
                <a:solidFill>
                  <a:srgbClr val="5B6575"/>
                </a:solidFill>
              </a:rPr>
              <a:t>acceptance criteria · automotive addendum 2025 [9]</a:t>
            </a:r>
            <a:endParaRPr lang="en-US" sz="1200" dirty="0"/>
          </a:p>
        </p:txBody>
      </p:sp>
      <p:sp>
        <p:nvSpPr>
          <p:cNvPr id="15" name="Shape 13"/>
          <p:cNvSpPr/>
          <p:nvPr/>
        </p:nvSpPr>
        <p:spPr>
          <a:xfrm>
            <a:off x="1874520" y="3310128"/>
            <a:ext cx="2514600" cy="868680"/>
          </a:xfrm>
          <a:prstGeom prst="roundRect">
            <a:avLst>
              <a:gd name="adj" fmla="val 10526"/>
            </a:avLst>
          </a:prstGeom>
          <a:solidFill>
            <a:srgbClr val="FFF4DE"/>
          </a:solidFill>
          <a:ln w="9525">
            <a:solidFill>
              <a:srgbClr val="C9D3DC"/>
            </a:solidFill>
            <a:prstDash val="solid"/>
          </a:ln>
        </p:spPr>
      </p:sp>
      <p:sp>
        <p:nvSpPr>
          <p:cNvPr id="16" name="Text 14"/>
          <p:cNvSpPr txBox="1"/>
          <p:nvPr/>
        </p:nvSpPr>
        <p:spPr>
          <a:xfrm>
            <a:off x="1929384" y="3337560"/>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HW TCA</a:t>
            </a:r>
            <a:endParaRPr lang="en-US" sz="1200" dirty="0"/>
          </a:p>
          <a:p>
            <a:pPr algn="ctr" indent="0" marL="0">
              <a:buNone/>
            </a:pPr>
            <a:r>
              <a:rPr lang="en-US" sz="1000" dirty="0">
                <a:solidFill>
                  <a:srgbClr val="5B6575"/>
                </a:solidFill>
              </a:rPr>
              <a:t>PCOLA/SOQ/FAM · D for AOI, AXI, ICT, FT [1]</a:t>
            </a:r>
            <a:endParaRPr lang="en-US" sz="1200" dirty="0"/>
          </a:p>
        </p:txBody>
      </p:sp>
      <p:sp>
        <p:nvSpPr>
          <p:cNvPr id="17" name="Shape 15"/>
          <p:cNvSpPr/>
          <p:nvPr/>
        </p:nvSpPr>
        <p:spPr>
          <a:xfrm>
            <a:off x="4754880" y="3310128"/>
            <a:ext cx="2514600" cy="868680"/>
          </a:xfrm>
          <a:prstGeom prst="roundRect">
            <a:avLst>
              <a:gd name="adj" fmla="val 10526"/>
            </a:avLst>
          </a:prstGeom>
          <a:solidFill>
            <a:srgbClr val="FCE9E7"/>
          </a:solidFill>
          <a:ln w="9525">
            <a:solidFill>
              <a:srgbClr val="C9D3DC"/>
            </a:solidFill>
            <a:prstDash val="solid"/>
          </a:ln>
        </p:spPr>
      </p:sp>
      <p:sp>
        <p:nvSpPr>
          <p:cNvPr id="18" name="Text 16"/>
          <p:cNvSpPr txBox="1"/>
          <p:nvPr/>
        </p:nvSpPr>
        <p:spPr>
          <a:xfrm>
            <a:off x="4809744" y="3337560"/>
            <a:ext cx="2404872" cy="813816"/>
          </a:xfrm>
          <a:prstGeom prst="rect">
            <a:avLst/>
          </a:prstGeom>
          <a:noFill/>
          <a:ln/>
        </p:spPr>
        <p:txBody>
          <a:bodyPr wrap="square" lIns="0" tIns="0" rIns="0" bIns="0" rtlCol="0" anchor="ctr"/>
          <a:lstStyle/>
          <a:p>
            <a:pPr algn="ctr" indent="0" marL="0">
              <a:buNone/>
            </a:pPr>
            <a:r>
              <a:rPr lang="en-US" sz="1200" b="1" dirty="0">
                <a:solidFill>
                  <a:srgbClr val="1F2A37"/>
                </a:solidFill>
              </a:rPr>
              <a:t>Residual risk</a:t>
            </a:r>
            <a:endParaRPr lang="en-US" sz="1200" dirty="0"/>
          </a:p>
          <a:p>
            <a:pPr algn="ctr" indent="0" marL="0">
              <a:buNone/>
            </a:pPr>
            <a:r>
              <a:rPr lang="en-US" sz="1000" dirty="0">
                <a:solidFill>
                  <a:srgbClr val="5B6575"/>
                </a:solidFill>
              </a:rPr>
              <a:t>documented and accepted · ISO 31000, ISO Guide 73 [10][11]</a:t>
            </a:r>
            <a:endParaRPr lang="en-US" sz="1200" dirty="0"/>
          </a:p>
        </p:txBody>
      </p:sp>
      <p:sp>
        <p:nvSpPr>
          <p:cNvPr id="19" name="Shape 17"/>
          <p:cNvSpPr/>
          <p:nvPr/>
        </p:nvSpPr>
        <p:spPr>
          <a:xfrm>
            <a:off x="1714500" y="1874520"/>
            <a:ext cx="0" cy="274320"/>
          </a:xfrm>
          <a:prstGeom prst="line">
            <a:avLst/>
          </a:prstGeom>
          <a:noFill/>
          <a:ln w="15875">
            <a:solidFill>
              <a:srgbClr val="5B6575"/>
            </a:solidFill>
            <a:prstDash val="solid"/>
            <a:tailEnd type="triangle"/>
          </a:ln>
        </p:spPr>
      </p:sp>
      <p:sp>
        <p:nvSpPr>
          <p:cNvPr id="20" name="Shape 18"/>
          <p:cNvSpPr/>
          <p:nvPr/>
        </p:nvSpPr>
        <p:spPr>
          <a:xfrm>
            <a:off x="4567428" y="1874520"/>
            <a:ext cx="0" cy="274320"/>
          </a:xfrm>
          <a:prstGeom prst="line">
            <a:avLst/>
          </a:prstGeom>
          <a:noFill/>
          <a:ln w="15875">
            <a:solidFill>
              <a:srgbClr val="5B6575"/>
            </a:solidFill>
            <a:prstDash val="solid"/>
            <a:tailEnd type="triangle"/>
          </a:ln>
        </p:spPr>
      </p:sp>
      <p:sp>
        <p:nvSpPr>
          <p:cNvPr id="21" name="Shape 19"/>
          <p:cNvSpPr/>
          <p:nvPr/>
        </p:nvSpPr>
        <p:spPr>
          <a:xfrm>
            <a:off x="7429500" y="1874520"/>
            <a:ext cx="0" cy="274320"/>
          </a:xfrm>
          <a:prstGeom prst="line">
            <a:avLst/>
          </a:prstGeom>
          <a:noFill/>
          <a:ln w="15875">
            <a:solidFill>
              <a:srgbClr val="5B6575"/>
            </a:solidFill>
            <a:prstDash val="solid"/>
            <a:tailEnd type="triangle"/>
          </a:ln>
        </p:spPr>
      </p:sp>
      <p:sp>
        <p:nvSpPr>
          <p:cNvPr id="22" name="Shape 20"/>
          <p:cNvSpPr/>
          <p:nvPr/>
        </p:nvSpPr>
        <p:spPr>
          <a:xfrm>
            <a:off x="1714500" y="3017520"/>
            <a:ext cx="1371600" cy="292608"/>
          </a:xfrm>
          <a:prstGeom prst="line">
            <a:avLst/>
          </a:prstGeom>
          <a:noFill/>
          <a:ln w="15875">
            <a:solidFill>
              <a:srgbClr val="5B6575"/>
            </a:solidFill>
            <a:prstDash val="solid"/>
            <a:tailEnd type="triangle"/>
          </a:ln>
        </p:spPr>
      </p:sp>
      <p:sp>
        <p:nvSpPr>
          <p:cNvPr id="23" name="Shape 21"/>
          <p:cNvSpPr/>
          <p:nvPr/>
        </p:nvSpPr>
        <p:spPr>
          <a:xfrm flipH="1">
            <a:off x="3767328" y="3017520"/>
            <a:ext cx="800100" cy="292608"/>
          </a:xfrm>
          <a:prstGeom prst="line">
            <a:avLst/>
          </a:prstGeom>
          <a:noFill/>
          <a:ln w="15875">
            <a:solidFill>
              <a:srgbClr val="5B6575"/>
            </a:solidFill>
            <a:prstDash val="solid"/>
            <a:tailEnd type="triangle"/>
          </a:ln>
        </p:spPr>
      </p:sp>
      <p:sp>
        <p:nvSpPr>
          <p:cNvPr id="24" name="Shape 22"/>
          <p:cNvSpPr/>
          <p:nvPr/>
        </p:nvSpPr>
        <p:spPr>
          <a:xfrm flipH="1">
            <a:off x="5852160" y="3017520"/>
            <a:ext cx="1577340" cy="292608"/>
          </a:xfrm>
          <a:prstGeom prst="line">
            <a:avLst/>
          </a:prstGeom>
          <a:noFill/>
          <a:ln w="15875">
            <a:solidFill>
              <a:srgbClr val="5B6575"/>
            </a:solidFill>
            <a:prstDash val="solid"/>
            <a:tailEnd type="triangle"/>
          </a:ln>
        </p:spPr>
      </p:sp>
      <p:sp>
        <p:nvSpPr>
          <p:cNvPr id="25" name="Shape 23"/>
          <p:cNvSpPr/>
          <p:nvPr/>
        </p:nvSpPr>
        <p:spPr>
          <a:xfrm>
            <a:off x="4389120" y="3744468"/>
            <a:ext cx="365760" cy="0"/>
          </a:xfrm>
          <a:prstGeom prst="line">
            <a:avLst/>
          </a:prstGeom>
          <a:noFill/>
          <a:ln w="15875">
            <a:solidFill>
              <a:srgbClr val="5B6575"/>
            </a:solidFill>
            <a:prstDash val="solid"/>
            <a:tailEnd type="triangle"/>
          </a:ln>
        </p:spPr>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[13] ISO 26262-7:2018 · [18] IATF 16949:2016, AIAG · [19] AIAG APQP/CP 2024 · [9] IPC</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How FMEA and coverage analysis evolved</a:t>
            </a:r>
            <a:endParaRPr lang="en-US" sz="2600" dirty="0"/>
          </a:p>
        </p:txBody>
      </p:sp>
      <p:sp>
        <p:nvSpPr>
          <p:cNvPr id="3" name="Shape 1"/>
          <p:cNvSpPr/>
          <p:nvPr/>
        </p:nvSpPr>
        <p:spPr>
          <a:xfrm>
            <a:off x="548640" y="2331720"/>
            <a:ext cx="8046720" cy="0"/>
          </a:xfrm>
          <a:prstGeom prst="line">
            <a:avLst/>
          </a:prstGeom>
          <a:noFill/>
          <a:ln w="25400">
            <a:solidFill>
              <a:srgbClr val="0B6E69"/>
            </a:solidFill>
            <a:prstDash val="solid"/>
          </a:ln>
        </p:spPr>
      </p:sp>
      <p:sp>
        <p:nvSpPr>
          <p:cNvPr id="4" name="Shape 2"/>
          <p:cNvSpPr/>
          <p:nvPr/>
        </p:nvSpPr>
        <p:spPr>
          <a:xfrm>
            <a:off x="877824" y="2249424"/>
            <a:ext cx="164592" cy="164592"/>
          </a:xfrm>
          <a:prstGeom prst="ellipse">
            <a:avLst/>
          </a:prstGeom>
          <a:solidFill>
            <a:srgbClr val="0B6E69"/>
          </a:solidFill>
          <a:ln w="12700">
            <a:solidFill>
              <a:srgbClr val="FFFFFF"/>
            </a:solidFill>
            <a:prstDash val="solid"/>
          </a:ln>
        </p:spPr>
      </p:sp>
      <p:sp>
        <p:nvSpPr>
          <p:cNvPr id="5" name="Text 3"/>
          <p:cNvSpPr txBox="1"/>
          <p:nvPr/>
        </p:nvSpPr>
        <p:spPr>
          <a:xfrm>
            <a:off x="39319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1949</a:t>
            </a:r>
            <a:endParaRPr lang="en-US" sz="1400" dirty="0"/>
          </a:p>
          <a:p>
            <a:pPr algn="ctr" indent="0" marL="0">
              <a:buNone/>
            </a:pPr>
            <a:r>
              <a:rPr lang="en-US" sz="1050" dirty="0">
                <a:solidFill>
                  <a:srgbClr val="1F2A37"/>
                </a:solidFill>
              </a:rPr>
              <a:t>MIL-P-1629, US Army</a:t>
            </a:r>
            <a:endParaRPr lang="en-US" sz="1400" dirty="0"/>
          </a:p>
        </p:txBody>
      </p:sp>
      <p:sp>
        <p:nvSpPr>
          <p:cNvPr id="6" name="Shape 4"/>
          <p:cNvSpPr/>
          <p:nvPr/>
        </p:nvSpPr>
        <p:spPr>
          <a:xfrm>
            <a:off x="1680464" y="2249424"/>
            <a:ext cx="164592" cy="164592"/>
          </a:xfrm>
          <a:prstGeom prst="ellipse">
            <a:avLst/>
          </a:prstGeom>
          <a:solidFill>
            <a:srgbClr val="0B6E69"/>
          </a:solidFill>
          <a:ln w="12700">
            <a:solidFill>
              <a:srgbClr val="FFFFFF"/>
            </a:solidFill>
            <a:prstDash val="solid"/>
          </a:ln>
        </p:spPr>
      </p:sp>
      <p:sp>
        <p:nvSpPr>
          <p:cNvPr id="7" name="Text 5"/>
          <p:cNvSpPr txBox="1"/>
          <p:nvPr/>
        </p:nvSpPr>
        <p:spPr>
          <a:xfrm>
            <a:off x="119583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1966</a:t>
            </a:r>
            <a:endParaRPr lang="en-US" sz="1400" dirty="0"/>
          </a:p>
          <a:p>
            <a:pPr algn="ctr" indent="0" marL="0">
              <a:buNone/>
            </a:pPr>
            <a:r>
              <a:rPr lang="en-US" sz="1050" dirty="0">
                <a:solidFill>
                  <a:srgbClr val="1F2A37"/>
                </a:solidFill>
              </a:rPr>
              <a:t>NASA, Apollo programme</a:t>
            </a:r>
            <a:endParaRPr lang="en-US" sz="1400" dirty="0"/>
          </a:p>
        </p:txBody>
      </p:sp>
      <p:sp>
        <p:nvSpPr>
          <p:cNvPr id="8" name="Shape 6"/>
          <p:cNvSpPr/>
          <p:nvPr/>
        </p:nvSpPr>
        <p:spPr>
          <a:xfrm>
            <a:off x="2483104" y="2249424"/>
            <a:ext cx="164592" cy="164592"/>
          </a:xfrm>
          <a:prstGeom prst="ellipse">
            <a:avLst/>
          </a:prstGeom>
          <a:solidFill>
            <a:srgbClr val="0B6E69"/>
          </a:solidFill>
          <a:ln w="12700">
            <a:solidFill>
              <a:srgbClr val="FFFFFF"/>
            </a:solidFill>
            <a:prstDash val="solid"/>
          </a:ln>
        </p:spPr>
      </p:sp>
      <p:sp>
        <p:nvSpPr>
          <p:cNvPr id="9" name="Text 7"/>
          <p:cNvSpPr txBox="1"/>
          <p:nvPr/>
        </p:nvSpPr>
        <p:spPr>
          <a:xfrm>
            <a:off x="199847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1967</a:t>
            </a:r>
            <a:endParaRPr lang="en-US" sz="1400" dirty="0"/>
          </a:p>
          <a:p>
            <a:pPr algn="ctr" indent="0" marL="0">
              <a:buNone/>
            </a:pPr>
            <a:r>
              <a:rPr lang="en-US" sz="1050" dirty="0">
                <a:solidFill>
                  <a:srgbClr val="1F2A37"/>
                </a:solidFill>
              </a:rPr>
              <a:t>SAE ARP926</a:t>
            </a:r>
            <a:endParaRPr lang="en-US" sz="1400" dirty="0"/>
          </a:p>
        </p:txBody>
      </p:sp>
      <p:sp>
        <p:nvSpPr>
          <p:cNvPr id="10" name="Shape 8"/>
          <p:cNvSpPr/>
          <p:nvPr/>
        </p:nvSpPr>
        <p:spPr>
          <a:xfrm>
            <a:off x="3285744" y="2249424"/>
            <a:ext cx="164592" cy="164592"/>
          </a:xfrm>
          <a:prstGeom prst="ellipse">
            <a:avLst/>
          </a:prstGeom>
          <a:solidFill>
            <a:srgbClr val="0B6E69"/>
          </a:solidFill>
          <a:ln w="12700">
            <a:solidFill>
              <a:srgbClr val="FFFFFF"/>
            </a:solidFill>
            <a:prstDash val="solid"/>
          </a:ln>
        </p:spPr>
      </p:sp>
      <p:sp>
        <p:nvSpPr>
          <p:cNvPr id="11" name="Text 9"/>
          <p:cNvSpPr txBox="1"/>
          <p:nvPr/>
        </p:nvSpPr>
        <p:spPr>
          <a:xfrm>
            <a:off x="280111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1977</a:t>
            </a:r>
            <a:endParaRPr lang="en-US" sz="1400" dirty="0"/>
          </a:p>
          <a:p>
            <a:pPr algn="ctr" indent="0" marL="0">
              <a:buNone/>
            </a:pPr>
            <a:r>
              <a:rPr lang="en-US" sz="1050" dirty="0">
                <a:solidFill>
                  <a:srgbClr val="1F2A37"/>
                </a:solidFill>
              </a:rPr>
              <a:t>Ford brings FMEA to automotive</a:t>
            </a:r>
            <a:endParaRPr lang="en-US" sz="1400" dirty="0"/>
          </a:p>
        </p:txBody>
      </p:sp>
      <p:sp>
        <p:nvSpPr>
          <p:cNvPr id="12" name="Shape 10"/>
          <p:cNvSpPr/>
          <p:nvPr/>
        </p:nvSpPr>
        <p:spPr>
          <a:xfrm>
            <a:off x="4088384" y="2249424"/>
            <a:ext cx="164592" cy="164592"/>
          </a:xfrm>
          <a:prstGeom prst="ellipse">
            <a:avLst/>
          </a:prstGeom>
          <a:solidFill>
            <a:srgbClr val="0B6E69"/>
          </a:solidFill>
          <a:ln w="12700">
            <a:solidFill>
              <a:srgbClr val="FFFFFF"/>
            </a:solidFill>
            <a:prstDash val="solid"/>
          </a:ln>
        </p:spPr>
      </p:sp>
      <p:sp>
        <p:nvSpPr>
          <p:cNvPr id="13" name="Text 11"/>
          <p:cNvSpPr txBox="1"/>
          <p:nvPr/>
        </p:nvSpPr>
        <p:spPr>
          <a:xfrm>
            <a:off x="360375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1980</a:t>
            </a:r>
            <a:endParaRPr lang="en-US" sz="1400" dirty="0"/>
          </a:p>
          <a:p>
            <a:pPr algn="ctr" indent="0" marL="0">
              <a:buNone/>
            </a:pPr>
            <a:r>
              <a:rPr lang="en-US" sz="1050" dirty="0">
                <a:solidFill>
                  <a:srgbClr val="1F2A37"/>
                </a:solidFill>
              </a:rPr>
              <a:t>MIL-STD-1629A</a:t>
            </a:r>
            <a:endParaRPr lang="en-US" sz="1400" dirty="0"/>
          </a:p>
        </p:txBody>
      </p:sp>
      <p:sp>
        <p:nvSpPr>
          <p:cNvPr id="14" name="Shape 12"/>
          <p:cNvSpPr/>
          <p:nvPr/>
        </p:nvSpPr>
        <p:spPr>
          <a:xfrm>
            <a:off x="4891024" y="2249424"/>
            <a:ext cx="164592" cy="164592"/>
          </a:xfrm>
          <a:prstGeom prst="ellipse">
            <a:avLst/>
          </a:prstGeom>
          <a:solidFill>
            <a:srgbClr val="0B6E69"/>
          </a:solidFill>
          <a:ln w="12700">
            <a:solidFill>
              <a:srgbClr val="FFFFFF"/>
            </a:solidFill>
            <a:prstDash val="solid"/>
          </a:ln>
        </p:spPr>
      </p:sp>
      <p:sp>
        <p:nvSpPr>
          <p:cNvPr id="15" name="Text 13"/>
          <p:cNvSpPr txBox="1"/>
          <p:nvPr/>
        </p:nvSpPr>
        <p:spPr>
          <a:xfrm>
            <a:off x="440639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1994</a:t>
            </a:r>
            <a:endParaRPr lang="en-US" sz="1400" dirty="0"/>
          </a:p>
          <a:p>
            <a:pPr algn="ctr" indent="0" marL="0">
              <a:buNone/>
            </a:pPr>
            <a:r>
              <a:rPr lang="en-US" sz="1050" dirty="0">
                <a:solidFill>
                  <a:srgbClr val="1F2A37"/>
                </a:solidFill>
              </a:rPr>
              <a:t>SAE J1739, first edition</a:t>
            </a:r>
            <a:endParaRPr lang="en-US" sz="1400" dirty="0"/>
          </a:p>
        </p:txBody>
      </p:sp>
      <p:sp>
        <p:nvSpPr>
          <p:cNvPr id="16" name="Shape 14"/>
          <p:cNvSpPr/>
          <p:nvPr/>
        </p:nvSpPr>
        <p:spPr>
          <a:xfrm>
            <a:off x="5693664" y="2249424"/>
            <a:ext cx="164592" cy="164592"/>
          </a:xfrm>
          <a:prstGeom prst="ellipse">
            <a:avLst/>
          </a:prstGeom>
          <a:solidFill>
            <a:srgbClr val="F2A93B"/>
          </a:solidFill>
          <a:ln w="12700">
            <a:solidFill>
              <a:srgbClr val="FFFFFF"/>
            </a:solidFill>
            <a:prstDash val="solid"/>
          </a:ln>
        </p:spPr>
      </p:sp>
      <p:sp>
        <p:nvSpPr>
          <p:cNvPr id="17" name="Text 15"/>
          <p:cNvSpPr txBox="1"/>
          <p:nvPr/>
        </p:nvSpPr>
        <p:spPr>
          <a:xfrm>
            <a:off x="5209032" y="1005840"/>
            <a:ext cx="1133856" cy="1188720"/>
          </a:xfrm>
          <a:prstGeom prst="rect">
            <a:avLst/>
          </a:prstGeom>
          <a:noFill/>
          <a:ln/>
        </p:spPr>
        <p:txBody>
          <a:bodyPr wrap="square" lIns="0" tIns="0" rIns="0" bIns="0" rtlCol="0" anchor="b"/>
          <a:lstStyle/>
          <a:p>
            <a:pPr algn="ctr" indent="0" marL="0">
              <a:buNone/>
            </a:pPr>
            <a:r>
              <a:rPr lang="en-US" sz="1400" b="1" dirty="0">
                <a:solidFill>
                  <a:srgbClr val="B7791F"/>
                </a:solidFill>
              </a:rPr>
              <a:t>2002</a:t>
            </a:r>
            <a:endParaRPr lang="en-US" sz="1400" dirty="0"/>
          </a:p>
          <a:p>
            <a:pPr algn="ctr" indent="0" marL="0">
              <a:buNone/>
            </a:pPr>
            <a:r>
              <a:rPr lang="en-US" sz="1050" dirty="0">
                <a:solidFill>
                  <a:srgbClr val="1F2A37"/>
                </a:solidFill>
              </a:rPr>
              <a:t>PCOLA/SOQ, Agilent (ITC)</a:t>
            </a:r>
            <a:endParaRPr lang="en-US" sz="1400" dirty="0"/>
          </a:p>
        </p:txBody>
      </p:sp>
      <p:sp>
        <p:nvSpPr>
          <p:cNvPr id="18" name="Shape 16"/>
          <p:cNvSpPr/>
          <p:nvPr/>
        </p:nvSpPr>
        <p:spPr>
          <a:xfrm>
            <a:off x="6496304" y="2249424"/>
            <a:ext cx="164592" cy="164592"/>
          </a:xfrm>
          <a:prstGeom prst="ellipse">
            <a:avLst/>
          </a:prstGeom>
          <a:solidFill>
            <a:srgbClr val="0B6E69"/>
          </a:solidFill>
          <a:ln w="12700">
            <a:solidFill>
              <a:srgbClr val="FFFFFF"/>
            </a:solidFill>
            <a:prstDash val="solid"/>
          </a:ln>
        </p:spPr>
      </p:sp>
      <p:sp>
        <p:nvSpPr>
          <p:cNvPr id="19" name="Text 17"/>
          <p:cNvSpPr txBox="1"/>
          <p:nvPr/>
        </p:nvSpPr>
        <p:spPr>
          <a:xfrm>
            <a:off x="6011672" y="2514600"/>
            <a:ext cx="1133856" cy="1188720"/>
          </a:xfrm>
          <a:prstGeom prst="rect">
            <a:avLst/>
          </a:prstGeom>
          <a:noFill/>
          <a:ln/>
        </p:spPr>
        <p:txBody>
          <a:bodyPr wrap="square" lIns="0" tIns="0" rIns="0" bIns="0" rtlCol="0" anchor="t"/>
          <a:lstStyle/>
          <a:p>
            <a:pPr algn="ctr" indent="0" marL="0">
              <a:buNone/>
            </a:pPr>
            <a:r>
              <a:rPr lang="en-US" sz="1400" b="1" dirty="0">
                <a:solidFill>
                  <a:srgbClr val="0B6E69"/>
                </a:solidFill>
              </a:rPr>
              <a:t>2019</a:t>
            </a:r>
            <a:endParaRPr lang="en-US" sz="1400" dirty="0"/>
          </a:p>
          <a:p>
            <a:pPr algn="ctr" indent="0" marL="0">
              <a:buNone/>
            </a:pPr>
            <a:r>
              <a:rPr lang="en-US" sz="1050" dirty="0">
                <a:solidFill>
                  <a:srgbClr val="1F2A37"/>
                </a:solidFill>
              </a:rPr>
              <a:t>AIAG-VDA: 7 steps, AP</a:t>
            </a:r>
            <a:endParaRPr lang="en-US" sz="1400" dirty="0"/>
          </a:p>
        </p:txBody>
      </p:sp>
      <p:sp>
        <p:nvSpPr>
          <p:cNvPr id="20" name="Shape 18"/>
          <p:cNvSpPr/>
          <p:nvPr/>
        </p:nvSpPr>
        <p:spPr>
          <a:xfrm>
            <a:off x="7298944" y="2249424"/>
            <a:ext cx="164592" cy="164592"/>
          </a:xfrm>
          <a:prstGeom prst="ellipse">
            <a:avLst/>
          </a:prstGeom>
          <a:solidFill>
            <a:srgbClr val="0B6E69"/>
          </a:solidFill>
          <a:ln w="12700">
            <a:solidFill>
              <a:srgbClr val="FFFFFF"/>
            </a:solidFill>
            <a:prstDash val="solid"/>
          </a:ln>
        </p:spPr>
      </p:sp>
      <p:sp>
        <p:nvSpPr>
          <p:cNvPr id="21" name="Text 19"/>
          <p:cNvSpPr txBox="1"/>
          <p:nvPr/>
        </p:nvSpPr>
        <p:spPr>
          <a:xfrm>
            <a:off x="6814312" y="1005840"/>
            <a:ext cx="1133856" cy="1188720"/>
          </a:xfrm>
          <a:prstGeom prst="rect">
            <a:avLst/>
          </a:prstGeom>
          <a:noFill/>
          <a:ln/>
        </p:spPr>
        <p:txBody>
          <a:bodyPr wrap="square" lIns="0" tIns="0" rIns="0" bIns="0" rtlCol="0" anchor="b"/>
          <a:lstStyle/>
          <a:p>
            <a:pPr algn="ctr" indent="0" marL="0">
              <a:buNone/>
            </a:pPr>
            <a:r>
              <a:rPr lang="en-US" sz="1400" b="1" dirty="0">
                <a:solidFill>
                  <a:srgbClr val="0B6E69"/>
                </a:solidFill>
              </a:rPr>
              <a:t>2021</a:t>
            </a:r>
            <a:endParaRPr lang="en-US" sz="1400" dirty="0"/>
          </a:p>
          <a:p>
            <a:pPr algn="ctr" indent="0" marL="0">
              <a:buNone/>
            </a:pPr>
            <a:r>
              <a:rPr lang="en-US" sz="1050" dirty="0">
                <a:solidFill>
                  <a:srgbClr val="1F2A37"/>
                </a:solidFill>
              </a:rPr>
              <a:t>SAE J1739, current edition</a:t>
            </a:r>
            <a:endParaRPr lang="en-US" sz="1400" dirty="0"/>
          </a:p>
        </p:txBody>
      </p:sp>
      <p:sp>
        <p:nvSpPr>
          <p:cNvPr id="22" name="Shape 20"/>
          <p:cNvSpPr/>
          <p:nvPr/>
        </p:nvSpPr>
        <p:spPr>
          <a:xfrm>
            <a:off x="8101584" y="2249424"/>
            <a:ext cx="164592" cy="164592"/>
          </a:xfrm>
          <a:prstGeom prst="ellipse">
            <a:avLst/>
          </a:prstGeom>
          <a:solidFill>
            <a:srgbClr val="F2A93B"/>
          </a:solidFill>
          <a:ln w="12700">
            <a:solidFill>
              <a:srgbClr val="FFFFFF"/>
            </a:solidFill>
            <a:prstDash val="solid"/>
          </a:ln>
        </p:spPr>
      </p:sp>
      <p:sp>
        <p:nvSpPr>
          <p:cNvPr id="23" name="Text 21"/>
          <p:cNvSpPr txBox="1"/>
          <p:nvPr/>
        </p:nvSpPr>
        <p:spPr>
          <a:xfrm>
            <a:off x="7616952" y="2514600"/>
            <a:ext cx="1133856" cy="1188720"/>
          </a:xfrm>
          <a:prstGeom prst="rect">
            <a:avLst/>
          </a:prstGeom>
          <a:noFill/>
          <a:ln/>
        </p:spPr>
        <p:txBody>
          <a:bodyPr wrap="square" lIns="0" tIns="0" rIns="0" bIns="0" rtlCol="0" anchor="t"/>
          <a:lstStyle/>
          <a:p>
            <a:pPr algn="ctr" indent="0" marL="0">
              <a:buNone/>
            </a:pPr>
            <a:r>
              <a:rPr lang="en-US" sz="1400" b="1" dirty="0">
                <a:solidFill>
                  <a:srgbClr val="B7791F"/>
                </a:solidFill>
              </a:rPr>
              <a:t>2026</a:t>
            </a:r>
            <a:endParaRPr lang="en-US" sz="1400" dirty="0"/>
          </a:p>
          <a:p>
            <a:pPr algn="ctr" indent="0" marL="0">
              <a:buNone/>
            </a:pPr>
            <a:r>
              <a:rPr lang="en-US" sz="1050" dirty="0">
                <a:solidFill>
                  <a:srgbClr val="1F2A37"/>
                </a:solidFill>
              </a:rPr>
              <a:t>Siemens acquires ASTER (TestWay)</a:t>
            </a:r>
            <a:endParaRPr lang="en-US" sz="1400" dirty="0"/>
          </a:p>
        </p:txBody>
      </p:sp>
      <p:sp>
        <p:nvSpPr>
          <p:cNvPr id="24" name="image placeholder"/>
          <p:cNvSpPr/>
          <p:nvPr/>
        </p:nvSpPr>
        <p:spPr>
          <a:xfrm>
            <a:off x="457200" y="3840480"/>
            <a:ext cx="8229600" cy="640080"/>
          </a:xfrm>
          <a:prstGeom prst="roundRect">
            <a:avLst>
              <a:gd name="adj" fmla="val 17143"/>
            </a:avLst>
          </a:prstGeom>
          <a:solidFill>
            <a:srgbClr val="F4F6F8"/>
          </a:solidFill>
          <a:ln w="12700">
            <a:solidFill>
              <a:srgbClr val="9AA5B1"/>
            </a:solidFill>
            <a:prstDash val="dash"/>
          </a:ln>
        </p:spPr>
      </p:sp>
      <p:sp>
        <p:nvSpPr>
          <p:cNvPr id="25" name="image placeholder label"/>
          <p:cNvSpPr txBox="1"/>
          <p:nvPr/>
        </p:nvSpPr>
        <p:spPr>
          <a:xfrm>
            <a:off x="594360" y="3931920"/>
            <a:ext cx="7955280" cy="457200"/>
          </a:xfrm>
          <a:prstGeom prst="rect">
            <a:avLst/>
          </a:prstGeom>
          <a:noFill/>
          <a:ln/>
        </p:spPr>
        <p:txBody>
          <a:bodyPr wrap="square" rtlCol="0" anchor="ctr"/>
          <a:lstStyle/>
          <a:p>
            <a:pPr algn="ctr" indent="0" marL="0">
              <a:buNone/>
            </a:pPr>
            <a:r>
              <a:rPr lang="en-US" sz="1200" i="1" dirty="0">
                <a:solidFill>
                  <a:srgbClr val="5B6575"/>
                </a:solidFill>
              </a:rPr>
              <a:t>Image placeholder: evolution of the standards (e.g. your own diagram or edition covers)</a:t>
            </a:r>
            <a:endParaRPr lang="en-US" sz="1200" dirty="0"/>
          </a:p>
        </p:txBody>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[20] Acta Natura et Scientia, 2026 · [15] SAE J1739 · [1] Hird et al. · [7] Siemens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Laws and regulations</a:t>
            </a:r>
            <a:endParaRPr lang="en-US" sz="2600" dirty="0"/>
          </a:p>
        </p:txBody>
      </p:sp>
      <p:sp>
        <p:nvSpPr>
          <p:cNvPr id="3" name="Shape 1"/>
          <p:cNvSpPr/>
          <p:nvPr/>
        </p:nvSpPr>
        <p:spPr>
          <a:xfrm>
            <a:off x="457200" y="1024128"/>
            <a:ext cx="2633472" cy="1609344"/>
          </a:xfrm>
          <a:prstGeom prst="roundRect">
            <a:avLst>
              <a:gd name="adj" fmla="val 5682"/>
            </a:avLst>
          </a:prstGeom>
          <a:solidFill>
            <a:srgbClr val="FCE9E7"/>
          </a:solidFill>
          <a:ln w="6350">
            <a:solidFill>
              <a:srgbClr val="FCE9E7"/>
            </a:solidFill>
            <a:prstDash val="solid"/>
          </a:ln>
        </p:spPr>
      </p:sp>
      <p:sp>
        <p:nvSpPr>
          <p:cNvPr id="4" name="Text 2"/>
          <p:cNvSpPr txBox="1"/>
          <p:nvPr/>
        </p:nvSpPr>
        <p:spPr>
          <a:xfrm>
            <a:off x="566928"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Product liability (EU)</a:t>
            </a:r>
            <a:endParaRPr lang="en-US" sz="1400" dirty="0"/>
          </a:p>
          <a:p>
            <a:pPr indent="0" marL="0">
              <a:spcAft>
                <a:spcPts val="300"/>
              </a:spcAft>
              <a:buNone/>
            </a:pPr>
            <a:r>
              <a:rPr lang="en-US" sz="1300" dirty="0">
                <a:solidFill>
                  <a:srgbClr val="1F2A37"/>
                </a:solidFill>
              </a:rPr>
              <a:t>Directive (EU) 2024/2853 replaces 85/374/EEC; it applies to products placed on the market after 9 December 2026 and covers software and components [21].</a:t>
            </a:r>
            <a:endParaRPr lang="en-US" sz="1400" dirty="0"/>
          </a:p>
        </p:txBody>
      </p:sp>
      <p:sp>
        <p:nvSpPr>
          <p:cNvPr id="5" name="Shape 3"/>
          <p:cNvSpPr/>
          <p:nvPr/>
        </p:nvSpPr>
        <p:spPr>
          <a:xfrm>
            <a:off x="3255264" y="1024128"/>
            <a:ext cx="2633472" cy="1609344"/>
          </a:xfrm>
          <a:prstGeom prst="roundRect">
            <a:avLst>
              <a:gd name="adj" fmla="val 5682"/>
            </a:avLst>
          </a:prstGeom>
          <a:solidFill>
            <a:srgbClr val="E3F4F1"/>
          </a:solidFill>
          <a:ln w="6350">
            <a:solidFill>
              <a:srgbClr val="E3F4F1"/>
            </a:solidFill>
            <a:prstDash val="solid"/>
          </a:ln>
        </p:spPr>
      </p:sp>
      <p:sp>
        <p:nvSpPr>
          <p:cNvPr id="6" name="Text 4"/>
          <p:cNvSpPr txBox="1"/>
          <p:nvPr/>
        </p:nvSpPr>
        <p:spPr>
          <a:xfrm>
            <a:off x="3364992"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General product safety</a:t>
            </a:r>
            <a:endParaRPr lang="en-US" sz="1400" dirty="0"/>
          </a:p>
          <a:p>
            <a:pPr indent="0" marL="0">
              <a:spcAft>
                <a:spcPts val="300"/>
              </a:spcAft>
              <a:buNone/>
            </a:pPr>
            <a:r>
              <a:rPr lang="en-US" sz="1300" dirty="0">
                <a:solidFill>
                  <a:srgbClr val="1F2A37"/>
                </a:solidFill>
              </a:rPr>
              <a:t>Regulation (EU) 2023/988 (GPSR) [22].</a:t>
            </a:r>
            <a:endParaRPr lang="en-US" sz="1400" dirty="0"/>
          </a:p>
        </p:txBody>
      </p:sp>
      <p:sp>
        <p:nvSpPr>
          <p:cNvPr id="7" name="Shape 5"/>
          <p:cNvSpPr/>
          <p:nvPr/>
        </p:nvSpPr>
        <p:spPr>
          <a:xfrm>
            <a:off x="6053328" y="1024128"/>
            <a:ext cx="2633472" cy="1609344"/>
          </a:xfrm>
          <a:prstGeom prst="roundRect">
            <a:avLst>
              <a:gd name="adj" fmla="val 5682"/>
            </a:avLst>
          </a:prstGeom>
          <a:solidFill>
            <a:srgbClr val="E3F4F1"/>
          </a:solidFill>
          <a:ln w="6350">
            <a:solidFill>
              <a:srgbClr val="E3F4F1"/>
            </a:solidFill>
            <a:prstDash val="solid"/>
          </a:ln>
        </p:spPr>
      </p:sp>
      <p:sp>
        <p:nvSpPr>
          <p:cNvPr id="8" name="Text 6"/>
          <p:cNvSpPr txBox="1"/>
          <p:nvPr/>
        </p:nvSpPr>
        <p:spPr>
          <a:xfrm>
            <a:off x="6163056"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Vehicle type approval</a:t>
            </a:r>
            <a:endParaRPr lang="en-US" sz="1400" dirty="0"/>
          </a:p>
          <a:p>
            <a:pPr indent="0" marL="0">
              <a:spcAft>
                <a:spcPts val="300"/>
              </a:spcAft>
              <a:buNone/>
            </a:pPr>
            <a:r>
              <a:rPr lang="en-US" sz="1300" dirty="0">
                <a:solidFill>
                  <a:srgbClr val="1F2A37"/>
                </a:solidFill>
              </a:rPr>
              <a:t>Regulation (EU) 2018/858: approval and market surveillance [22].</a:t>
            </a:r>
            <a:endParaRPr lang="en-US" sz="1400" dirty="0"/>
          </a:p>
        </p:txBody>
      </p:sp>
      <p:sp>
        <p:nvSpPr>
          <p:cNvPr id="9" name="Shape 7"/>
          <p:cNvSpPr/>
          <p:nvPr/>
        </p:nvSpPr>
        <p:spPr>
          <a:xfrm>
            <a:off x="457200" y="2798064"/>
            <a:ext cx="2633472" cy="1609344"/>
          </a:xfrm>
          <a:prstGeom prst="roundRect">
            <a:avLst>
              <a:gd name="adj" fmla="val 5682"/>
            </a:avLst>
          </a:prstGeom>
          <a:solidFill>
            <a:srgbClr val="FFF4DE"/>
          </a:solidFill>
          <a:ln w="6350">
            <a:solidFill>
              <a:srgbClr val="FFF4DE"/>
            </a:solidFill>
            <a:prstDash val="solid"/>
          </a:ln>
        </p:spPr>
      </p:sp>
      <p:sp>
        <p:nvSpPr>
          <p:cNvPr id="10" name="Text 8"/>
          <p:cNvSpPr txBox="1"/>
          <p:nvPr/>
        </p:nvSpPr>
        <p:spPr>
          <a:xfrm>
            <a:off x="566928"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Electromagnetic compatibility</a:t>
            </a:r>
            <a:endParaRPr lang="en-US" sz="1400" dirty="0"/>
          </a:p>
          <a:p>
            <a:pPr indent="0" marL="0">
              <a:spcAft>
                <a:spcPts val="300"/>
              </a:spcAft>
              <a:buNone/>
            </a:pPr>
            <a:r>
              <a:rPr lang="en-US" sz="1300" dirty="0">
                <a:solidFill>
                  <a:srgbClr val="1F2A37"/>
                </a:solidFill>
              </a:rPr>
              <a:t>UNECE R10: this is why, in the lab, EMC effects get S = 9 (regulatory non-compliance) [23].</a:t>
            </a:r>
            <a:endParaRPr lang="en-US" sz="1400" dirty="0"/>
          </a:p>
        </p:txBody>
      </p:sp>
      <p:sp>
        <p:nvSpPr>
          <p:cNvPr id="11" name="Shape 9"/>
          <p:cNvSpPr/>
          <p:nvPr/>
        </p:nvSpPr>
        <p:spPr>
          <a:xfrm>
            <a:off x="3255264" y="2798064"/>
            <a:ext cx="2633472" cy="1609344"/>
          </a:xfrm>
          <a:prstGeom prst="roundRect">
            <a:avLst>
              <a:gd name="adj" fmla="val 5682"/>
            </a:avLst>
          </a:prstGeom>
          <a:solidFill>
            <a:srgbClr val="E5F0FA"/>
          </a:solidFill>
          <a:ln w="6350">
            <a:solidFill>
              <a:srgbClr val="E5F0FA"/>
            </a:solidFill>
            <a:prstDash val="solid"/>
          </a:ln>
        </p:spPr>
      </p:sp>
      <p:sp>
        <p:nvSpPr>
          <p:cNvPr id="12" name="Text 10"/>
          <p:cNvSpPr txBox="1"/>
          <p:nvPr/>
        </p:nvSpPr>
        <p:spPr>
          <a:xfrm>
            <a:off x="3364992"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Recalls in the US</a:t>
            </a:r>
            <a:endParaRPr lang="en-US" sz="1400" dirty="0"/>
          </a:p>
          <a:p>
            <a:pPr indent="0" marL="0">
              <a:spcAft>
                <a:spcPts val="300"/>
              </a:spcAft>
              <a:buNone/>
            </a:pPr>
            <a:r>
              <a:rPr lang="en-US" sz="1300" dirty="0">
                <a:solidFill>
                  <a:srgbClr val="1F2A37"/>
                </a:solidFill>
              </a:rPr>
              <a:t>TREAD Act (2000) and 49 CFR Part 573: manufacturers report defects and recalls to NHTSA [24].</a:t>
            </a:r>
            <a:endParaRPr lang="en-US" sz="1400" dirty="0"/>
          </a:p>
        </p:txBody>
      </p:sp>
      <p:sp>
        <p:nvSpPr>
          <p:cNvPr id="13" name="Shape 11"/>
          <p:cNvSpPr/>
          <p:nvPr/>
        </p:nvSpPr>
        <p:spPr>
          <a:xfrm>
            <a:off x="6053328" y="2798064"/>
            <a:ext cx="2633472" cy="1609344"/>
          </a:xfrm>
          <a:prstGeom prst="roundRect">
            <a:avLst>
              <a:gd name="adj" fmla="val 5682"/>
            </a:avLst>
          </a:prstGeom>
          <a:solidFill>
            <a:srgbClr val="FCE9E7"/>
          </a:solidFill>
          <a:ln w="6350">
            <a:solidFill>
              <a:srgbClr val="FCE9E7"/>
            </a:solidFill>
            <a:prstDash val="solid"/>
          </a:ln>
        </p:spPr>
      </p:sp>
      <p:sp>
        <p:nvSpPr>
          <p:cNvPr id="14" name="Text 12"/>
          <p:cNvSpPr txBox="1"/>
          <p:nvPr/>
        </p:nvSpPr>
        <p:spPr>
          <a:xfrm>
            <a:off x="6163056"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What it means for us</a:t>
            </a:r>
            <a:endParaRPr lang="en-US" sz="1400" dirty="0"/>
          </a:p>
          <a:p>
            <a:pPr indent="0" marL="0">
              <a:spcAft>
                <a:spcPts val="300"/>
              </a:spcAft>
              <a:buNone/>
            </a:pPr>
            <a:r>
              <a:rPr lang="en-US" sz="1300" dirty="0">
                <a:solidFill>
                  <a:srgbClr val="1F2A37"/>
                </a:solidFill>
              </a:rPr>
              <a:t>A defect that escapes testing becomes a legal and financial problem, not just a technical one.</a:t>
            </a:r>
            <a:endParaRPr lang="en-US" sz="1400" dirty="0"/>
          </a:p>
        </p:txBody>
      </p:sp>
      <p:sp>
        <p:nvSpPr>
          <p:cNvPr id="1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[21] EUR-Lex, Dir. (EU) 2024/2853 · [22] Reg. (EU) 2023/988, 2018/858 · [23] UNECE R10 · [24] 49 CFR 573</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When the defect reaches the customer</a:t>
            </a:r>
            <a:endParaRPr lang="en-US" sz="2600" dirty="0"/>
          </a:p>
        </p:txBody>
      </p:sp>
      <p:sp>
        <p:nvSpPr>
          <p:cNvPr id="3" name="Shape 1"/>
          <p:cNvSpPr/>
          <p:nvPr/>
        </p:nvSpPr>
        <p:spPr>
          <a:xfrm>
            <a:off x="457200" y="1005840"/>
            <a:ext cx="1965960" cy="1600200"/>
          </a:xfrm>
          <a:prstGeom prst="roundRect">
            <a:avLst>
              <a:gd name="adj" fmla="val 5714"/>
            </a:avLst>
          </a:prstGeom>
          <a:solidFill>
            <a:srgbClr val="FCE9E7"/>
          </a:solidFill>
          <a:ln w="12700">
            <a:solidFill>
              <a:srgbClr val="FCE9E7"/>
            </a:solidFill>
            <a:prstDash val="solid"/>
          </a:ln>
        </p:spPr>
      </p:sp>
      <p:sp>
        <p:nvSpPr>
          <p:cNvPr id="4" name="Text 2"/>
          <p:cNvSpPr txBox="1"/>
          <p:nvPr/>
        </p:nvSpPr>
        <p:spPr>
          <a:xfrm>
            <a:off x="530352" y="1051560"/>
            <a:ext cx="1819656" cy="1508760"/>
          </a:xfrm>
          <a:prstGeom prst="rect">
            <a:avLst/>
          </a:prstGeom>
          <a:noFill/>
          <a:ln/>
        </p:spPr>
        <p:txBody>
          <a:bodyPr wrap="square" lIns="0" tIns="0" rIns="0" bIns="0" rtlCol="0" anchor="ctr"/>
          <a:lstStyle/>
          <a:p>
            <a:pPr algn="ctr" indent="0" marL="0">
              <a:buNone/>
            </a:pPr>
            <a:r>
              <a:rPr lang="en-US" sz="2800" b="1" dirty="0">
                <a:solidFill>
                  <a:srgbClr val="E46A5E"/>
                </a:solidFill>
              </a:rPr>
              <a:t>12.3 M</a:t>
            </a:r>
            <a:endParaRPr lang="en-US" sz="2800" dirty="0"/>
          </a:p>
          <a:p>
            <a:pPr algn="ctr" indent="0" marL="0">
              <a:buNone/>
            </a:pPr>
            <a:r>
              <a:rPr lang="en-US" sz="1100" dirty="0">
                <a:solidFill>
                  <a:srgbClr val="1F2A37"/>
                </a:solidFill>
              </a:rPr>
              <a:t>vehicles covered by NHTSA investigation EA19-001 (ZF-TRW airbag units) [25]</a:t>
            </a:r>
            <a:endParaRPr lang="en-US" sz="2800" dirty="0"/>
          </a:p>
        </p:txBody>
      </p:sp>
      <p:sp>
        <p:nvSpPr>
          <p:cNvPr id="5" name="Shape 3"/>
          <p:cNvSpPr/>
          <p:nvPr/>
        </p:nvSpPr>
        <p:spPr>
          <a:xfrm>
            <a:off x="2560320" y="1005840"/>
            <a:ext cx="1965960" cy="1600200"/>
          </a:xfrm>
          <a:prstGeom prst="roundRect">
            <a:avLst>
              <a:gd name="adj" fmla="val 5714"/>
            </a:avLst>
          </a:prstGeom>
          <a:solidFill>
            <a:srgbClr val="E3F4F1"/>
          </a:solidFill>
          <a:ln w="12700">
            <a:solidFill>
              <a:srgbClr val="E3F4F1"/>
            </a:solidFill>
            <a:prstDash val="solid"/>
          </a:ln>
        </p:spPr>
      </p:sp>
      <p:sp>
        <p:nvSpPr>
          <p:cNvPr id="6" name="Text 4"/>
          <p:cNvSpPr txBox="1"/>
          <p:nvPr/>
        </p:nvSpPr>
        <p:spPr>
          <a:xfrm>
            <a:off x="263347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2.59 M</a:t>
            </a:r>
            <a:endParaRPr lang="en-US" sz="2800" dirty="0"/>
          </a:p>
          <a:p>
            <a:pPr algn="ctr" indent="0" marL="0">
              <a:buNone/>
            </a:pPr>
            <a:r>
              <a:rPr lang="en-US" sz="1100" dirty="0">
                <a:solidFill>
                  <a:srgbClr val="1F2A37"/>
                </a:solidFill>
              </a:rPr>
              <a:t>Toyota Corolla and Matrix, recall 20V-024 (2020) [25]</a:t>
            </a:r>
            <a:endParaRPr lang="en-US" sz="2800" dirty="0"/>
          </a:p>
        </p:txBody>
      </p:sp>
      <p:sp>
        <p:nvSpPr>
          <p:cNvPr id="7" name="Shape 5"/>
          <p:cNvSpPr/>
          <p:nvPr/>
        </p:nvSpPr>
        <p:spPr>
          <a:xfrm>
            <a:off x="4663440" y="1005840"/>
            <a:ext cx="1965960" cy="1600200"/>
          </a:xfrm>
          <a:prstGeom prst="roundRect">
            <a:avLst>
              <a:gd name="adj" fmla="val 5714"/>
            </a:avLst>
          </a:prstGeom>
          <a:solidFill>
            <a:srgbClr val="E3F4F1"/>
          </a:solidFill>
          <a:ln w="12700">
            <a:solidFill>
              <a:srgbClr val="E3F4F1"/>
            </a:solidFill>
            <a:prstDash val="solid"/>
          </a:ln>
        </p:spPr>
      </p:sp>
      <p:sp>
        <p:nvSpPr>
          <p:cNvPr id="8" name="Text 6"/>
          <p:cNvSpPr txBox="1"/>
          <p:nvPr/>
        </p:nvSpPr>
        <p:spPr>
          <a:xfrm>
            <a:off x="473659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1.43 M</a:t>
            </a:r>
            <a:endParaRPr lang="en-US" sz="2800" dirty="0"/>
          </a:p>
          <a:p>
            <a:pPr algn="ctr" indent="0" marL="0">
              <a:buNone/>
            </a:pPr>
            <a:r>
              <a:rPr lang="en-US" sz="1100" dirty="0">
                <a:solidFill>
                  <a:srgbClr val="1F2A37"/>
                </a:solidFill>
              </a:rPr>
              <a:t>FCA vehicles, recall 16V-668 (2016) [25]</a:t>
            </a:r>
            <a:endParaRPr lang="en-US" sz="2800" dirty="0"/>
          </a:p>
        </p:txBody>
      </p:sp>
      <p:sp>
        <p:nvSpPr>
          <p:cNvPr id="9" name="Shape 7"/>
          <p:cNvSpPr/>
          <p:nvPr/>
        </p:nvSpPr>
        <p:spPr>
          <a:xfrm>
            <a:off x="6766560" y="1005840"/>
            <a:ext cx="1965960" cy="1600200"/>
          </a:xfrm>
          <a:prstGeom prst="roundRect">
            <a:avLst>
              <a:gd name="adj" fmla="val 5714"/>
            </a:avLst>
          </a:prstGeom>
          <a:solidFill>
            <a:srgbClr val="E3F4F1"/>
          </a:solidFill>
          <a:ln w="12700">
            <a:solidFill>
              <a:srgbClr val="E3F4F1"/>
            </a:solidFill>
            <a:prstDash val="solid"/>
          </a:ln>
        </p:spPr>
      </p:sp>
      <p:sp>
        <p:nvSpPr>
          <p:cNvPr id="10" name="Text 8"/>
          <p:cNvSpPr txBox="1"/>
          <p:nvPr/>
        </p:nvSpPr>
        <p:spPr>
          <a:xfrm>
            <a:off x="6839712" y="1051560"/>
            <a:ext cx="1819656" cy="1508760"/>
          </a:xfrm>
          <a:prstGeom prst="rect">
            <a:avLst/>
          </a:prstGeom>
          <a:noFill/>
          <a:ln/>
        </p:spPr>
        <p:txBody>
          <a:bodyPr wrap="square" lIns="0" tIns="0" rIns="0" bIns="0" rtlCol="0" anchor="ctr"/>
          <a:lstStyle/>
          <a:p>
            <a:pPr algn="ctr" indent="0" marL="0">
              <a:buNone/>
            </a:pPr>
            <a:r>
              <a:rPr lang="en-US" sz="2800" b="1" dirty="0">
                <a:solidFill>
                  <a:srgbClr val="0B6E69"/>
                </a:solidFill>
              </a:rPr>
              <a:t>Takata</a:t>
            </a:r>
            <a:endParaRPr lang="en-US" sz="2800" dirty="0"/>
          </a:p>
          <a:p>
            <a:pPr algn="ctr" indent="0" marL="0">
              <a:buNone/>
            </a:pPr>
            <a:r>
              <a:rPr lang="en-US" sz="1100" dirty="0">
                <a:solidFill>
                  <a:srgbClr val="1F2A37"/>
                </a:solidFill>
              </a:rPr>
              <a:t>“the largest and most complex safety recall in U.S. history” [26]</a:t>
            </a:r>
            <a:endParaRPr lang="en-US" sz="2800" dirty="0"/>
          </a:p>
        </p:txBody>
      </p:sp>
      <p:sp>
        <p:nvSpPr>
          <p:cNvPr id="11" name="Text 9"/>
          <p:cNvSpPr txBox="1"/>
          <p:nvPr/>
        </p:nvSpPr>
        <p:spPr>
          <a:xfrm>
            <a:off x="457200" y="2788920"/>
            <a:ext cx="8229600" cy="1691640"/>
          </a:xfrm>
          <a:prstGeom prst="rect">
            <a:avLst/>
          </a:prstGeom>
          <a:noFill/>
          <a:ln/>
        </p:spPr>
        <p:txBody>
          <a:bodyPr wrap="square" lIns="635" tIns="635" rIns="635" bIns="635" rtlCol="0" anchor="t"/>
          <a:lstStyle/>
          <a:p>
            <a:pPr marL="177800" indent="-177800">
              <a:spcAft>
                <a:spcPts val="600"/>
              </a:spcAft>
              <a:buSzPct val="100000"/>
              <a:buChar char="•"/>
            </a:pPr>
            <a:r>
              <a:rPr lang="en-US" sz="1300" b="1" dirty="0">
                <a:solidFill>
                  <a:srgbClr val="1F2A37"/>
                </a:solidFill>
              </a:rPr>
              <a:t>Cause in EA19-001: </a:t>
            </a:r>
            <a:pPr indent="0" marL="0">
              <a:buNone/>
            </a:pPr>
            <a:r>
              <a:rPr lang="en-US" sz="1300" dirty="0">
                <a:solidFill>
                  <a:srgbClr val="1F2A37"/>
                </a:solidFill>
              </a:rPr>
              <a:t>an ASIC (DS84) in the airbag control unit was not sufficiently protected against electrical overstress [25].</a:t>
            </a:r>
            <a:endParaRPr lang="en-US" sz="1300" dirty="0"/>
          </a:p>
          <a:p>
            <a:pPr marL="177800" indent="-177800">
              <a:spcAft>
                <a:spcPts val="600"/>
              </a:spcAft>
              <a:buSzPct val="100000"/>
              <a:buChar char="•"/>
            </a:pPr>
            <a:r>
              <a:rPr lang="en-US" sz="1300" b="1" dirty="0">
                <a:solidFill>
                  <a:srgbClr val="1F2A37"/>
                </a:solidFill>
              </a:rPr>
              <a:t>Toyota's remedy: </a:t>
            </a:r>
            <a:pPr indent="0" marL="0">
              <a:buNone/>
            </a:pPr>
            <a:r>
              <a:rPr lang="en-US" sz="1300" dirty="0">
                <a:solidFill>
                  <a:srgbClr val="1F2A37"/>
                </a:solidFill>
              </a:rPr>
              <a:t>a noise filter between the unit and the wiring harness, that is a design change [25].</a:t>
            </a:r>
            <a:endParaRPr lang="en-US" sz="1300" dirty="0"/>
          </a:p>
          <a:p>
            <a:pPr marL="177800" indent="-177800">
              <a:spcAft>
                <a:spcPts val="600"/>
              </a:spcAft>
              <a:buSzPct val="100000"/>
              <a:buChar char="•"/>
            </a:pPr>
            <a:r>
              <a:rPr lang="en-US" sz="1300" b="1" dirty="0">
                <a:solidFill>
                  <a:srgbClr val="1F2A37"/>
                </a:solidFill>
              </a:rPr>
              <a:t>Cost grows at every stage: </a:t>
            </a:r>
            <a:pPr indent="0" marL="0">
              <a:buNone/>
            </a:pPr>
            <a:r>
              <a:rPr lang="en-US" sz="1300" dirty="0">
                <a:solidFill>
                  <a:srgbClr val="1F2A37"/>
                </a:solidFill>
              </a:rPr>
              <a:t>the “×10 per stage” rule is a heuristic, not a law; the economic model of board test is in Davis [27].</a:t>
            </a:r>
            <a:endParaRPr lang="en-US" sz="1300" dirty="0"/>
          </a:p>
        </p:txBody>
      </p:sp>
      <p:sp>
        <p:nvSpPr>
          <p:cNvPr id="12"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[25] NHTSA ODI EA19-001; reports 16V-668, 20V-024 · [26] NHTSA Takata · [27] Davis, JETTA 1994</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In other industries too</a:t>
            </a:r>
            <a:endParaRPr lang="en-US" sz="2600" dirty="0"/>
          </a:p>
        </p:txBody>
      </p:sp>
      <p:sp>
        <p:nvSpPr>
          <p:cNvPr id="3" name="Shape 1"/>
          <p:cNvSpPr/>
          <p:nvPr/>
        </p:nvSpPr>
        <p:spPr>
          <a:xfrm>
            <a:off x="457200" y="1024128"/>
            <a:ext cx="2633472" cy="1609344"/>
          </a:xfrm>
          <a:prstGeom prst="roundRect">
            <a:avLst>
              <a:gd name="adj" fmla="val 5682"/>
            </a:avLst>
          </a:prstGeom>
          <a:solidFill>
            <a:srgbClr val="E5F0FA"/>
          </a:solidFill>
          <a:ln w="6350">
            <a:solidFill>
              <a:srgbClr val="E5F0FA"/>
            </a:solidFill>
            <a:prstDash val="solid"/>
          </a:ln>
        </p:spPr>
      </p:sp>
      <p:sp>
        <p:nvSpPr>
          <p:cNvPr id="4" name="Text 2"/>
          <p:cNvSpPr txBox="1"/>
          <p:nvPr/>
        </p:nvSpPr>
        <p:spPr>
          <a:xfrm>
            <a:off x="566928"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Aerospace</a:t>
            </a:r>
            <a:endParaRPr lang="en-US" sz="1400" dirty="0"/>
          </a:p>
          <a:p>
            <a:pPr indent="0" marL="0">
              <a:spcAft>
                <a:spcPts val="300"/>
              </a:spcAft>
              <a:buNone/>
            </a:pPr>
            <a:r>
              <a:rPr lang="en-US" sz="1300" dirty="0">
                <a:solidFill>
                  <a:srgbClr val="1F2A37"/>
                </a:solidFill>
              </a:rPr>
              <a:t>SAE ARP4761A (2023), RTCA DO-254 for hardware, SAE AS13004 for PFMEA [29].</a:t>
            </a:r>
            <a:endParaRPr lang="en-US" sz="1400" dirty="0"/>
          </a:p>
        </p:txBody>
      </p:sp>
      <p:sp>
        <p:nvSpPr>
          <p:cNvPr id="5" name="Shape 3"/>
          <p:cNvSpPr/>
          <p:nvPr/>
        </p:nvSpPr>
        <p:spPr>
          <a:xfrm>
            <a:off x="3255264" y="1024128"/>
            <a:ext cx="2633472" cy="1609344"/>
          </a:xfrm>
          <a:prstGeom prst="roundRect">
            <a:avLst>
              <a:gd name="adj" fmla="val 5682"/>
            </a:avLst>
          </a:prstGeom>
          <a:solidFill>
            <a:srgbClr val="E3F4F1"/>
          </a:solidFill>
          <a:ln w="6350">
            <a:solidFill>
              <a:srgbClr val="E3F4F1"/>
            </a:solidFill>
            <a:prstDash val="solid"/>
          </a:ln>
        </p:spPr>
      </p:sp>
      <p:sp>
        <p:nvSpPr>
          <p:cNvPr id="6" name="Text 4"/>
          <p:cNvSpPr txBox="1"/>
          <p:nvPr/>
        </p:nvSpPr>
        <p:spPr>
          <a:xfrm>
            <a:off x="3364992"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Medical</a:t>
            </a:r>
            <a:endParaRPr lang="en-US" sz="1400" dirty="0"/>
          </a:p>
          <a:p>
            <a:pPr indent="0" marL="0">
              <a:spcAft>
                <a:spcPts val="300"/>
              </a:spcAft>
              <a:buNone/>
            </a:pPr>
            <a:r>
              <a:rPr lang="en-US" sz="1300" dirty="0">
                <a:solidFill>
                  <a:srgbClr val="1F2A37"/>
                </a:solidFill>
              </a:rPr>
              <a:t>ISO 14971:2019: risk management for medical devices [29].</a:t>
            </a:r>
            <a:endParaRPr lang="en-US" sz="1400" dirty="0"/>
          </a:p>
        </p:txBody>
      </p:sp>
      <p:sp>
        <p:nvSpPr>
          <p:cNvPr id="7" name="Shape 5"/>
          <p:cNvSpPr/>
          <p:nvPr/>
        </p:nvSpPr>
        <p:spPr>
          <a:xfrm>
            <a:off x="6053328" y="1024128"/>
            <a:ext cx="2633472" cy="1609344"/>
          </a:xfrm>
          <a:prstGeom prst="roundRect">
            <a:avLst>
              <a:gd name="adj" fmla="val 5682"/>
            </a:avLst>
          </a:prstGeom>
          <a:solidFill>
            <a:srgbClr val="E3F4F1"/>
          </a:solidFill>
          <a:ln w="6350">
            <a:solidFill>
              <a:srgbClr val="E3F4F1"/>
            </a:solidFill>
            <a:prstDash val="solid"/>
          </a:ln>
        </p:spPr>
      </p:sp>
      <p:sp>
        <p:nvSpPr>
          <p:cNvPr id="8" name="Text 6"/>
          <p:cNvSpPr txBox="1"/>
          <p:nvPr/>
        </p:nvSpPr>
        <p:spPr>
          <a:xfrm>
            <a:off x="6163056" y="1097280"/>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Rail</a:t>
            </a:r>
            <a:endParaRPr lang="en-US" sz="1400" dirty="0"/>
          </a:p>
          <a:p>
            <a:pPr indent="0" marL="0">
              <a:spcAft>
                <a:spcPts val="300"/>
              </a:spcAft>
              <a:buNone/>
            </a:pPr>
            <a:r>
              <a:rPr lang="en-US" sz="1300" dirty="0">
                <a:solidFill>
                  <a:srgbClr val="1F2A37"/>
                </a:solidFill>
              </a:rPr>
              <a:t>EN 50126: reliability, availability, maintainability, safety (RAMS) [29].</a:t>
            </a:r>
            <a:endParaRPr lang="en-US" sz="1400" dirty="0"/>
          </a:p>
        </p:txBody>
      </p:sp>
      <p:sp>
        <p:nvSpPr>
          <p:cNvPr id="9" name="Shape 7"/>
          <p:cNvSpPr/>
          <p:nvPr/>
        </p:nvSpPr>
        <p:spPr>
          <a:xfrm>
            <a:off x="457200" y="2798064"/>
            <a:ext cx="2633472" cy="1609344"/>
          </a:xfrm>
          <a:prstGeom prst="roundRect">
            <a:avLst>
              <a:gd name="adj" fmla="val 5682"/>
            </a:avLst>
          </a:prstGeom>
          <a:solidFill>
            <a:srgbClr val="E3F4F1"/>
          </a:solidFill>
          <a:ln w="6350">
            <a:solidFill>
              <a:srgbClr val="E3F4F1"/>
            </a:solidFill>
            <a:prstDash val="solid"/>
          </a:ln>
        </p:spPr>
      </p:sp>
      <p:sp>
        <p:nvSpPr>
          <p:cNvPr id="10" name="Text 8"/>
          <p:cNvSpPr txBox="1"/>
          <p:nvPr/>
        </p:nvSpPr>
        <p:spPr>
          <a:xfrm>
            <a:off x="566928"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Industrial and defence</a:t>
            </a:r>
            <a:endParaRPr lang="en-US" sz="1400" dirty="0"/>
          </a:p>
          <a:p>
            <a:pPr indent="0" marL="0">
              <a:spcAft>
                <a:spcPts val="300"/>
              </a:spcAft>
              <a:buNone/>
            </a:pPr>
            <a:r>
              <a:rPr lang="en-US" sz="1300" dirty="0">
                <a:solidFill>
                  <a:srgbClr val="1F2A37"/>
                </a:solidFill>
              </a:rPr>
              <a:t>IEC 61508 (generic functional safety); MIL-STD-1629A (FMECA) [29].</a:t>
            </a:r>
            <a:endParaRPr lang="en-US" sz="1400" dirty="0"/>
          </a:p>
        </p:txBody>
      </p:sp>
      <p:sp>
        <p:nvSpPr>
          <p:cNvPr id="11" name="Shape 9"/>
          <p:cNvSpPr/>
          <p:nvPr/>
        </p:nvSpPr>
        <p:spPr>
          <a:xfrm>
            <a:off x="3255264" y="2798064"/>
            <a:ext cx="2633472" cy="1609344"/>
          </a:xfrm>
          <a:prstGeom prst="roundRect">
            <a:avLst>
              <a:gd name="adj" fmla="val 5682"/>
            </a:avLst>
          </a:prstGeom>
          <a:solidFill>
            <a:srgbClr val="FFF4DE"/>
          </a:solidFill>
          <a:ln w="6350">
            <a:solidFill>
              <a:srgbClr val="FFF4DE"/>
            </a:solidFill>
            <a:prstDash val="solid"/>
          </a:ln>
        </p:spPr>
      </p:sp>
      <p:sp>
        <p:nvSpPr>
          <p:cNvPr id="12" name="Text 10"/>
          <p:cNvSpPr txBox="1"/>
          <p:nvPr/>
        </p:nvSpPr>
        <p:spPr>
          <a:xfrm>
            <a:off x="3364992"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Telecom</a:t>
            </a:r>
            <a:endParaRPr lang="en-US" sz="1400" dirty="0"/>
          </a:p>
          <a:p>
            <a:pPr indent="0" marL="0">
              <a:spcAft>
                <a:spcPts val="300"/>
              </a:spcAft>
              <a:buNone/>
            </a:pPr>
            <a:r>
              <a:rPr lang="en-US" sz="1300" dirty="0">
                <a:solidFill>
                  <a:srgbClr val="1F2A37"/>
                </a:solidFill>
              </a:rPr>
              <a:t>TL 9000 R6.3 (QMS for ICT), Telcordia SR-332 Issue 4 (reliability prediction), ETSI GS NFV-REL 001, ITU-T E.800 [28].</a:t>
            </a:r>
            <a:endParaRPr lang="en-US" sz="1400" dirty="0"/>
          </a:p>
        </p:txBody>
      </p:sp>
      <p:sp>
        <p:nvSpPr>
          <p:cNvPr id="13" name="Shape 11"/>
          <p:cNvSpPr/>
          <p:nvPr/>
        </p:nvSpPr>
        <p:spPr>
          <a:xfrm>
            <a:off x="6053328" y="2798064"/>
            <a:ext cx="2633472" cy="1609344"/>
          </a:xfrm>
          <a:prstGeom prst="roundRect">
            <a:avLst>
              <a:gd name="adj" fmla="val 5682"/>
            </a:avLst>
          </a:prstGeom>
          <a:solidFill>
            <a:srgbClr val="FCE9E7"/>
          </a:solidFill>
          <a:ln w="6350">
            <a:solidFill>
              <a:srgbClr val="FCE9E7"/>
            </a:solidFill>
            <a:prstDash val="solid"/>
          </a:ln>
        </p:spPr>
      </p:sp>
      <p:sp>
        <p:nvSpPr>
          <p:cNvPr id="14" name="Text 12"/>
          <p:cNvSpPr txBox="1"/>
          <p:nvPr/>
        </p:nvSpPr>
        <p:spPr>
          <a:xfrm>
            <a:off x="6163056" y="2871216"/>
            <a:ext cx="2414016" cy="1463040"/>
          </a:xfrm>
          <a:prstGeom prst="rect">
            <a:avLst/>
          </a:prstGeom>
          <a:noFill/>
          <a:ln/>
        </p:spPr>
        <p:txBody>
          <a:bodyPr wrap="square" lIns="254" tIns="254" rIns="254" bIns="254" rtlCol="0" anchor="t"/>
          <a:lstStyle/>
          <a:p>
            <a:pPr indent="0" marL="0">
              <a:spcAft>
                <a:spcPts val="300"/>
              </a:spcAft>
              <a:buNone/>
            </a:pPr>
            <a:r>
              <a:rPr lang="en-US" sz="1400" b="1" dirty="0">
                <a:solidFill>
                  <a:srgbClr val="E46A5E"/>
                </a:solidFill>
              </a:rPr>
              <a:t>Conclusion for telecom</a:t>
            </a:r>
            <a:endParaRPr lang="en-US" sz="1400" dirty="0"/>
          </a:p>
          <a:p>
            <a:pPr indent="0" marL="0">
              <a:spcAft>
                <a:spcPts val="300"/>
              </a:spcAft>
              <a:buNone/>
            </a:pPr>
            <a:r>
              <a:rPr lang="en-US" sz="1300" dirty="0">
                <a:solidFill>
                  <a:srgbClr val="1F2A37"/>
                </a:solidFill>
              </a:rPr>
              <a:t>Quality and reliability standards exist, but the public texts we checked contain no explicit FMEA requirement [28].</a:t>
            </a:r>
            <a:endParaRPr lang="en-US" sz="1400" dirty="0"/>
          </a:p>
        </p:txBody>
      </p:sp>
      <p:sp>
        <p:nvSpPr>
          <p:cNvPr id="15"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[28] tl9000.org; Telcordia; ETSI; ITU-T · [29] SAE, RTCA, ISO, CENELEC, IEC, DoD</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The case study: the front radar's CAN module</a:t>
            </a:r>
            <a:endParaRPr lang="en-US" sz="2600" dirty="0"/>
          </a:p>
        </p:txBody>
      </p:sp>
      <p:sp>
        <p:nvSpPr>
          <p:cNvPr id="3" name="Shape 1"/>
          <p:cNvSpPr/>
          <p:nvPr/>
        </p:nvSpPr>
        <p:spPr>
          <a:xfrm>
            <a:off x="457200" y="1005840"/>
            <a:ext cx="4480560" cy="1051560"/>
          </a:xfrm>
          <a:prstGeom prst="roundRect">
            <a:avLst>
              <a:gd name="adj" fmla="val 8696"/>
            </a:avLst>
          </a:prstGeom>
          <a:solidFill>
            <a:srgbClr val="E3F4F1"/>
          </a:solidFill>
          <a:ln w="6350">
            <a:solidFill>
              <a:srgbClr val="E3F4F1"/>
            </a:solidFill>
            <a:prstDash val="solid"/>
          </a:ln>
        </p:spPr>
      </p:sp>
      <p:sp>
        <p:nvSpPr>
          <p:cNvPr id="4" name="Text 2"/>
          <p:cNvSpPr txBox="1"/>
          <p:nvPr/>
        </p:nvSpPr>
        <p:spPr>
          <a:xfrm>
            <a:off x="566928" y="1078992"/>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The radar</a:t>
            </a:r>
            <a:endParaRPr lang="en-US" sz="1300" dirty="0"/>
          </a:p>
          <a:p>
            <a:pPr indent="0" marL="0">
              <a:spcAft>
                <a:spcPts val="300"/>
              </a:spcAft>
              <a:buNone/>
            </a:pPr>
            <a:r>
              <a:rPr lang="en-US" sz="1200" dirty="0">
                <a:solidFill>
                  <a:srgbClr val="1F2A37"/>
                </a:solidFill>
              </a:rPr>
              <a:t>ARS 408-21: 0.20–250 m, ~72 ms cycle, CAN at 500 kbit/s [31]. ASIL B is a lab assumption.</a:t>
            </a:r>
            <a:endParaRPr lang="en-US" sz="1300" dirty="0"/>
          </a:p>
        </p:txBody>
      </p:sp>
      <p:sp>
        <p:nvSpPr>
          <p:cNvPr id="5" name="Shape 3"/>
          <p:cNvSpPr/>
          <p:nvPr/>
        </p:nvSpPr>
        <p:spPr>
          <a:xfrm>
            <a:off x="457200" y="2167128"/>
            <a:ext cx="4480560" cy="1051560"/>
          </a:xfrm>
          <a:prstGeom prst="roundRect">
            <a:avLst>
              <a:gd name="adj" fmla="val 8696"/>
            </a:avLst>
          </a:prstGeom>
          <a:solidFill>
            <a:srgbClr val="E5F0FA"/>
          </a:solidFill>
          <a:ln w="6350">
            <a:solidFill>
              <a:srgbClr val="E5F0FA"/>
            </a:solidFill>
            <a:prstDash val="solid"/>
          </a:ln>
        </p:spPr>
      </p:sp>
      <p:sp>
        <p:nvSpPr>
          <p:cNvPr id="6" name="Text 4"/>
          <p:cNvSpPr txBox="1"/>
          <p:nvPr/>
        </p:nvSpPr>
        <p:spPr>
          <a:xfrm>
            <a:off x="566928" y="2240280"/>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3B82C4"/>
                </a:solidFill>
              </a:rPr>
              <a:t>The MCP2551 transceiver</a:t>
            </a:r>
            <a:endParaRPr lang="en-US" sz="1300" dirty="0"/>
          </a:p>
          <a:p>
            <a:pPr indent="0" marL="0">
              <a:spcAft>
                <a:spcPts val="300"/>
              </a:spcAft>
              <a:buNone/>
            </a:pPr>
            <a:r>
              <a:rPr lang="en-US" sz="1200" dirty="0">
                <a:solidFill>
                  <a:srgbClr val="1F2A37"/>
                </a:solidFill>
              </a:rPr>
              <a:t>VDD 4.5–5.5 V; IDD ≤ 75 mA dominant, ≤ 10 mA recessive; recessive 2.0–3.0 V; dominant differential 1.5–3.0 V [30].</a:t>
            </a:r>
            <a:endParaRPr lang="en-US" sz="1300" dirty="0"/>
          </a:p>
        </p:txBody>
      </p:sp>
      <p:sp>
        <p:nvSpPr>
          <p:cNvPr id="7" name="Shape 5"/>
          <p:cNvSpPr/>
          <p:nvPr/>
        </p:nvSpPr>
        <p:spPr>
          <a:xfrm>
            <a:off x="457200" y="3328416"/>
            <a:ext cx="4480560" cy="1051560"/>
          </a:xfrm>
          <a:prstGeom prst="roundRect">
            <a:avLst>
              <a:gd name="adj" fmla="val 8696"/>
            </a:avLst>
          </a:prstGeom>
          <a:solidFill>
            <a:srgbClr val="FFF4DE"/>
          </a:solidFill>
          <a:ln w="6350">
            <a:solidFill>
              <a:srgbClr val="FFF4DE"/>
            </a:solidFill>
            <a:prstDash val="solid"/>
          </a:ln>
        </p:spPr>
      </p:sp>
      <p:sp>
        <p:nvSpPr>
          <p:cNvPr id="8" name="Text 6"/>
          <p:cNvSpPr txBox="1"/>
          <p:nvPr/>
        </p:nvSpPr>
        <p:spPr>
          <a:xfrm>
            <a:off x="566928" y="3401568"/>
            <a:ext cx="4261104" cy="905256"/>
          </a:xfrm>
          <a:prstGeom prst="rect">
            <a:avLst/>
          </a:prstGeom>
          <a:noFill/>
          <a:ln/>
        </p:spPr>
        <p:txBody>
          <a:bodyPr wrap="square" lIns="254" tIns="254" rIns="254" bIns="254" rtlCol="0" anchor="t"/>
          <a:lstStyle/>
          <a:p>
            <a:pPr indent="0" marL="0">
              <a:spcAft>
                <a:spcPts val="300"/>
              </a:spcAft>
              <a:buNone/>
            </a:pPr>
            <a:r>
              <a:rPr lang="en-US" sz="1300" b="1" dirty="0">
                <a:solidFill>
                  <a:srgbClr val="0B6E69"/>
                </a:solidFill>
              </a:rPr>
              <a:t>The module</a:t>
            </a:r>
            <a:endParaRPr lang="en-US" sz="1300" dirty="0"/>
          </a:p>
          <a:p>
            <a:pPr indent="0" marL="0">
              <a:spcAft>
                <a:spcPts val="300"/>
              </a:spcAft>
              <a:buNone/>
            </a:pPr>
            <a:r>
              <a:rPr lang="en-US" sz="1200" dirty="0">
                <a:solidFill>
                  <a:srgbClr val="1F2A37"/>
                </a:solidFill>
              </a:rPr>
              <a:t>J1, U1, C3, R3 (RS), R4 + JP1 (termination), R1/C1 and R2/C2 (RC filters), J2, LED1 + R5. No test points: you add them.</a:t>
            </a:r>
            <a:endParaRPr lang="en-US" sz="1300" dirty="0"/>
          </a:p>
        </p:txBody>
      </p:sp>
      <p:sp>
        <p:nvSpPr>
          <p:cNvPr id="9" name="image placeholder"/>
          <p:cNvSpPr/>
          <p:nvPr/>
        </p:nvSpPr>
        <p:spPr>
          <a:xfrm>
            <a:off x="5120640" y="1005840"/>
            <a:ext cx="3566160" cy="3364992"/>
          </a:xfrm>
          <a:prstGeom prst="roundRect">
            <a:avLst>
              <a:gd name="adj" fmla="val 3261"/>
            </a:avLst>
          </a:prstGeom>
          <a:solidFill>
            <a:srgbClr val="F4F6F8"/>
          </a:solidFill>
          <a:ln w="12700">
            <a:solidFill>
              <a:srgbClr val="9AA5B1"/>
            </a:solidFill>
            <a:prstDash val="dash"/>
          </a:ln>
        </p:spPr>
      </p:sp>
      <p:sp>
        <p:nvSpPr>
          <p:cNvPr id="10" name="image placeholder label"/>
          <p:cNvSpPr txBox="1"/>
          <p:nvPr/>
        </p:nvSpPr>
        <p:spPr>
          <a:xfrm>
            <a:off x="5257800" y="1097280"/>
            <a:ext cx="3291840" cy="3182112"/>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module schematic / board photo</a:t>
            </a:r>
            <a:endParaRPr lang="en-US" sz="1200" dirty="0"/>
          </a:p>
        </p:txBody>
      </p:sp>
      <p:sp>
        <p:nvSpPr>
          <p:cNvPr id="11"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[30] Microchip DS21667F; ISO 11898-2:2024 · [31] AUMOVIO ARS 408-21</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What you do in today's lab</a:t>
            </a:r>
            <a:endParaRPr lang="en-US" sz="2600" dirty="0"/>
          </a:p>
        </p:txBody>
      </p:sp>
      <p:sp>
        <p:nvSpPr>
          <p:cNvPr id="3" name="Shape 1"/>
          <p:cNvSpPr/>
          <p:nvPr/>
        </p:nvSpPr>
        <p:spPr>
          <a:xfrm>
            <a:off x="457200" y="1005840"/>
            <a:ext cx="384048" cy="384048"/>
          </a:xfrm>
          <a:prstGeom prst="ellipse">
            <a:avLst/>
          </a:prstGeom>
          <a:solidFill>
            <a:srgbClr val="0B6E69"/>
          </a:solidFill>
          <a:ln w="12700">
            <a:solidFill>
              <a:srgbClr val="0B6E69"/>
            </a:solidFill>
            <a:prstDash val="solid"/>
          </a:ln>
        </p:spPr>
      </p:sp>
      <p:sp>
        <p:nvSpPr>
          <p:cNvPr id="4" name="Text 2"/>
          <p:cNvSpPr txBox="1"/>
          <p:nvPr/>
        </p:nvSpPr>
        <p:spPr>
          <a:xfrm>
            <a:off x="457200" y="1005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960120" y="960120"/>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Severity  </a:t>
            </a:r>
            <a:pPr indent="0" marL="0">
              <a:buNone/>
            </a:pPr>
            <a:r>
              <a:rPr lang="en-US" sz="1300" dirty="0">
                <a:solidFill>
                  <a:srgbClr val="5B6575"/>
                </a:solidFill>
              </a:rPr>
              <a:t>choose the effect class (E1–E10); S follows from it</a:t>
            </a:r>
            <a:endParaRPr lang="en-US" sz="1300" dirty="0"/>
          </a:p>
        </p:txBody>
      </p:sp>
      <p:sp>
        <p:nvSpPr>
          <p:cNvPr id="6" name="Shape 4"/>
          <p:cNvSpPr/>
          <p:nvPr/>
        </p:nvSpPr>
        <p:spPr>
          <a:xfrm>
            <a:off x="457200" y="1499616"/>
            <a:ext cx="384048" cy="384048"/>
          </a:xfrm>
          <a:prstGeom prst="ellipse">
            <a:avLst/>
          </a:prstGeom>
          <a:solidFill>
            <a:srgbClr val="0B6E69"/>
          </a:solidFill>
          <a:ln w="12700">
            <a:solidFill>
              <a:srgbClr val="0B6E69"/>
            </a:solidFill>
            <a:prstDash val="solid"/>
          </a:ln>
        </p:spPr>
      </p:sp>
      <p:sp>
        <p:nvSpPr>
          <p:cNvPr id="7" name="Text 5"/>
          <p:cNvSpPr txBox="1"/>
          <p:nvPr/>
        </p:nvSpPr>
        <p:spPr>
          <a:xfrm>
            <a:off x="4572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960120" y="1453896"/>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Occurrence  </a:t>
            </a:r>
            <a:pPr indent="0" marL="0">
              <a:buNone/>
            </a:pPr>
            <a:r>
              <a:rPr lang="en-US" sz="1300" dirty="0">
                <a:solidFill>
                  <a:srgbClr val="5B6575"/>
                </a:solidFill>
              </a:rPr>
              <a:t>from the AIAG-VDA table (mature SMT technology)</a:t>
            </a:r>
            <a:endParaRPr lang="en-US" sz="1300" dirty="0"/>
          </a:p>
        </p:txBody>
      </p:sp>
      <p:sp>
        <p:nvSpPr>
          <p:cNvPr id="9" name="Shape 7"/>
          <p:cNvSpPr/>
          <p:nvPr/>
        </p:nvSpPr>
        <p:spPr>
          <a:xfrm>
            <a:off x="457200" y="1993392"/>
            <a:ext cx="384048" cy="384048"/>
          </a:xfrm>
          <a:prstGeom prst="ellipse">
            <a:avLst/>
          </a:prstGeom>
          <a:solidFill>
            <a:srgbClr val="0B6E69"/>
          </a:solidFill>
          <a:ln w="12700">
            <a:solidFill>
              <a:srgbClr val="0B6E69"/>
            </a:solidFill>
            <a:prstDash val="solid"/>
          </a:ln>
        </p:spPr>
      </p:sp>
      <p:sp>
        <p:nvSpPr>
          <p:cNvPr id="10" name="Text 8"/>
          <p:cNvSpPr txBox="1"/>
          <p:nvPr/>
        </p:nvSpPr>
        <p:spPr>
          <a:xfrm>
            <a:off x="45720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960120" y="1947672"/>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AOI, AXI, ICT  </a:t>
            </a:r>
            <a:pPr indent="0" marL="0">
              <a:buNone/>
            </a:pPr>
            <a:r>
              <a:rPr lang="en-US" sz="1300" dirty="0">
                <a:solidFill>
                  <a:srgbClr val="5B6575"/>
                </a:solidFill>
              </a:rPr>
              <a:t>D comes from the detection rules, with the reason shown</a:t>
            </a:r>
            <a:endParaRPr lang="en-US" sz="1300" dirty="0"/>
          </a:p>
        </p:txBody>
      </p:sp>
      <p:sp>
        <p:nvSpPr>
          <p:cNvPr id="12" name="Shape 10"/>
          <p:cNvSpPr/>
          <p:nvPr/>
        </p:nvSpPr>
        <p:spPr>
          <a:xfrm>
            <a:off x="457200" y="2487168"/>
            <a:ext cx="384048" cy="384048"/>
          </a:xfrm>
          <a:prstGeom prst="ellipse">
            <a:avLst/>
          </a:prstGeom>
          <a:solidFill>
            <a:srgbClr val="0B6E69"/>
          </a:solidFill>
          <a:ln w="12700">
            <a:solidFill>
              <a:srgbClr val="0B6E69"/>
            </a:solidFill>
            <a:prstDash val="solid"/>
          </a:ln>
        </p:spPr>
      </p:sp>
      <p:sp>
        <p:nvSpPr>
          <p:cNvPr id="13" name="Text 11"/>
          <p:cNvSpPr txBox="1"/>
          <p:nvPr/>
        </p:nvSpPr>
        <p:spPr>
          <a:xfrm>
            <a:off x="45720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960120" y="2441448"/>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FT  </a:t>
            </a:r>
            <a:pPr indent="0" marL="0">
              <a:buNone/>
            </a:pPr>
            <a:r>
              <a:rPr lang="en-US" sz="1300" dirty="0">
                <a:solidFill>
                  <a:srgbClr val="5B6575"/>
                </a:solidFill>
              </a:rPr>
              <a:t>follow the pin's net, choose test FT1–FT8 or NONE, D from 1 to 10 and the justification</a:t>
            </a:r>
            <a:endParaRPr lang="en-US" sz="1300" dirty="0"/>
          </a:p>
        </p:txBody>
      </p:sp>
      <p:sp>
        <p:nvSpPr>
          <p:cNvPr id="15" name="Shape 13"/>
          <p:cNvSpPr/>
          <p:nvPr/>
        </p:nvSpPr>
        <p:spPr>
          <a:xfrm>
            <a:off x="457200" y="2980944"/>
            <a:ext cx="384048" cy="384048"/>
          </a:xfrm>
          <a:prstGeom prst="ellipse">
            <a:avLst/>
          </a:prstGeom>
          <a:solidFill>
            <a:srgbClr val="0B6E69"/>
          </a:solidFill>
          <a:ln w="12700">
            <a:solidFill>
              <a:srgbClr val="0B6E69"/>
            </a:solidFill>
            <a:prstDash val="solid"/>
          </a:ln>
        </p:spPr>
      </p:sp>
      <p:sp>
        <p:nvSpPr>
          <p:cNvPr id="16" name="Text 14"/>
          <p:cNvSpPr txBox="1"/>
          <p:nvPr/>
        </p:nvSpPr>
        <p:spPr>
          <a:xfrm>
            <a:off x="457200" y="2980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960120" y="2935224"/>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AP  </a:t>
            </a:r>
            <a:pPr indent="0" marL="0">
              <a:buNone/>
            </a:pPr>
            <a:r>
              <a:rPr lang="en-US" sz="1300" dirty="0">
                <a:solidFill>
                  <a:srgbClr val="5B6575"/>
                </a:solidFill>
              </a:rPr>
              <a:t>D = minimum over methods; AP from the AIAG-VDA table</a:t>
            </a:r>
            <a:endParaRPr lang="en-US" sz="1300" dirty="0"/>
          </a:p>
        </p:txBody>
      </p:sp>
      <p:sp>
        <p:nvSpPr>
          <p:cNvPr id="18" name="Shape 16"/>
          <p:cNvSpPr/>
          <p:nvPr/>
        </p:nvSpPr>
        <p:spPr>
          <a:xfrm>
            <a:off x="457200" y="3474720"/>
            <a:ext cx="384048" cy="384048"/>
          </a:xfrm>
          <a:prstGeom prst="ellipse">
            <a:avLst/>
          </a:prstGeom>
          <a:solidFill>
            <a:srgbClr val="0B6E69"/>
          </a:solidFill>
          <a:ln w="12700">
            <a:solidFill>
              <a:srgbClr val="0B6E69"/>
            </a:solidFill>
            <a:prstDash val="solid"/>
          </a:ln>
        </p:spPr>
      </p:sp>
      <p:sp>
        <p:nvSpPr>
          <p:cNvPr id="19" name="Text 17"/>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960120" y="3429000"/>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Improvements  </a:t>
            </a:r>
            <a:pPr indent="0" marL="0">
              <a:buNone/>
            </a:pPr>
            <a:r>
              <a:rPr lang="en-US" sz="1300" dirty="0">
                <a:solidFill>
                  <a:srgbClr val="5B6575"/>
                </a:solidFill>
              </a:rPr>
              <a:t>test points, BOTTOM-side AOI, new FT tests</a:t>
            </a:r>
            <a:endParaRPr lang="en-US" sz="1300" dirty="0"/>
          </a:p>
        </p:txBody>
      </p:sp>
      <p:sp>
        <p:nvSpPr>
          <p:cNvPr id="21" name="Shape 19"/>
          <p:cNvSpPr/>
          <p:nvPr/>
        </p:nvSpPr>
        <p:spPr>
          <a:xfrm>
            <a:off x="457200" y="3968496"/>
            <a:ext cx="384048" cy="384048"/>
          </a:xfrm>
          <a:prstGeom prst="ellipse">
            <a:avLst/>
          </a:prstGeom>
          <a:solidFill>
            <a:srgbClr val="E46A5E"/>
          </a:solidFill>
          <a:ln w="12700">
            <a:solidFill>
              <a:srgbClr val="E46A5E"/>
            </a:solidFill>
            <a:prstDash val="solid"/>
          </a:ln>
        </p:spPr>
      </p:sp>
      <p:sp>
        <p:nvSpPr>
          <p:cNvPr id="22" name="Text 20"/>
          <p:cNvSpPr txBox="1"/>
          <p:nvPr/>
        </p:nvSpPr>
        <p:spPr>
          <a:xfrm>
            <a:off x="45720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960120" y="3922776"/>
            <a:ext cx="4526280" cy="502920"/>
          </a:xfrm>
          <a:prstGeom prst="rect">
            <a:avLst/>
          </a:prstGeom>
          <a:noFill/>
          <a:ln/>
        </p:spPr>
        <p:txBody>
          <a:bodyPr wrap="square" lIns="0" tIns="0" rIns="0" bIns="0" rtlCol="0" anchor="ctr"/>
          <a:lstStyle/>
          <a:p>
            <a:pPr indent="0" marL="0">
              <a:buNone/>
            </a:pPr>
            <a:r>
              <a:rPr lang="en-US" sz="1300" b="1" dirty="0">
                <a:solidFill>
                  <a:srgbClr val="1F2A37"/>
                </a:solidFill>
              </a:rPr>
              <a:t>Residual risk  </a:t>
            </a:r>
            <a:pPr indent="0" marL="0">
              <a:buNone/>
            </a:pPr>
            <a:r>
              <a:rPr lang="en-US" sz="1300" dirty="0">
                <a:solidFill>
                  <a:srgbClr val="5B6575"/>
                </a:solidFill>
              </a:rPr>
              <a:t>where AP stays H or M: document it and send the report</a:t>
            </a:r>
            <a:endParaRPr lang="en-US" sz="1300" dirty="0"/>
          </a:p>
        </p:txBody>
      </p:sp>
      <p:sp>
        <p:nvSpPr>
          <p:cNvPr id="24" name="image placeholder"/>
          <p:cNvSpPr/>
          <p:nvPr/>
        </p:nvSpPr>
        <p:spPr>
          <a:xfrm>
            <a:off x="5669280" y="1005840"/>
            <a:ext cx="3017520" cy="3383280"/>
          </a:xfrm>
          <a:prstGeom prst="roundRect">
            <a:avLst>
              <a:gd name="adj" fmla="val 3636"/>
            </a:avLst>
          </a:prstGeom>
          <a:solidFill>
            <a:srgbClr val="F4F6F8"/>
          </a:solidFill>
          <a:ln w="12700">
            <a:solidFill>
              <a:srgbClr val="9AA5B1"/>
            </a:solidFill>
            <a:prstDash val="dash"/>
          </a:ln>
        </p:spPr>
      </p:sp>
      <p:sp>
        <p:nvSpPr>
          <p:cNvPr id="25" name="image placeholder label"/>
          <p:cNvSpPr txBox="1"/>
          <p:nvPr/>
        </p:nvSpPr>
        <p:spPr>
          <a:xfrm>
            <a:off x="5806440" y="1097280"/>
            <a:ext cx="2743200" cy="3200400"/>
          </a:xfrm>
          <a:prstGeom prst="rect">
            <a:avLst/>
          </a:prstGeom>
          <a:noFill/>
          <a:ln/>
        </p:spPr>
        <p:txBody>
          <a:bodyPr wrap="square" rtlCol="0" anchor="ctr"/>
          <a:lstStyle/>
          <a:p>
            <a:pPr algn="ctr" indent="0" marL="0">
              <a:buNone/>
            </a:pPr>
            <a:r>
              <a:rPr lang="en-US" sz="1200" i="1" dirty="0">
                <a:solidFill>
                  <a:srgbClr val="5B6575"/>
                </a:solidFill>
              </a:rPr>
              <a:t>Image placeholder:</a:t>
            </a:r>
            <a:endParaRPr lang="en-US" sz="1200" dirty="0"/>
          </a:p>
          <a:p>
            <a:pPr algn="ctr" indent="0" marL="0">
              <a:buNone/>
            </a:pPr>
            <a:r>
              <a:rPr lang="en-US" sz="1200" i="1" dirty="0">
                <a:solidFill>
                  <a:srgbClr val="5B6575"/>
                </a:solidFill>
              </a:rPr>
              <a:t>screenshot of the HW TCA app (analysis sheet)</a:t>
            </a:r>
            <a:endParaRPr lang="en-US" sz="1200" dirty="0"/>
          </a:p>
        </p:txBody>
      </p:sp>
      <p:sp>
        <p:nvSpPr>
          <p:cNvPr id="26"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The app: madalinatolontan1-ai.github.io/sw-tca-lab/hw/</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Where it is used and which careers it opens</a:t>
            </a:r>
            <a:endParaRPr lang="en-US" sz="2600" dirty="0"/>
          </a:p>
        </p:txBody>
      </p:sp>
      <p:sp>
        <p:nvSpPr>
          <p:cNvPr id="3" name="Shape 1"/>
          <p:cNvSpPr/>
          <p:nvPr/>
        </p:nvSpPr>
        <p:spPr>
          <a:xfrm>
            <a:off x="457200" y="1024128"/>
            <a:ext cx="2633472" cy="1083564"/>
          </a:xfrm>
          <a:prstGeom prst="roundRect">
            <a:avLst>
              <a:gd name="adj" fmla="val 8439"/>
            </a:avLst>
          </a:prstGeom>
          <a:solidFill>
            <a:srgbClr val="E3F4F1"/>
          </a:solidFill>
          <a:ln w="6350">
            <a:solidFill>
              <a:srgbClr val="E3F4F1"/>
            </a:solidFill>
            <a:prstDash val="solid"/>
          </a:ln>
        </p:spPr>
      </p:sp>
      <p:sp>
        <p:nvSpPr>
          <p:cNvPr id="4" name="Text 2"/>
          <p:cNvSpPr txBox="1"/>
          <p:nvPr/>
        </p:nvSpPr>
        <p:spPr>
          <a:xfrm>
            <a:off x="566928"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Test engineer (ICT / FCT)</a:t>
            </a:r>
            <a:endParaRPr lang="en-US" sz="1400" dirty="0"/>
          </a:p>
          <a:p>
            <a:pPr indent="0" marL="0">
              <a:spcAft>
                <a:spcPts val="300"/>
              </a:spcAft>
              <a:buNone/>
            </a:pPr>
            <a:r>
              <a:rPr lang="en-US" sz="1300" dirty="0">
                <a:solidFill>
                  <a:srgbClr val="1F2A37"/>
                </a:solidFill>
              </a:rPr>
              <a:t>develops production test programs and fixtures.</a:t>
            </a:r>
            <a:endParaRPr lang="en-US" sz="1400" dirty="0"/>
          </a:p>
        </p:txBody>
      </p:sp>
      <p:sp>
        <p:nvSpPr>
          <p:cNvPr id="5" name="Shape 3"/>
          <p:cNvSpPr/>
          <p:nvPr/>
        </p:nvSpPr>
        <p:spPr>
          <a:xfrm>
            <a:off x="3255264" y="1024128"/>
            <a:ext cx="2633472" cy="1083564"/>
          </a:xfrm>
          <a:prstGeom prst="roundRect">
            <a:avLst>
              <a:gd name="adj" fmla="val 8439"/>
            </a:avLst>
          </a:prstGeom>
          <a:solidFill>
            <a:srgbClr val="E5F0FA"/>
          </a:solidFill>
          <a:ln w="6350">
            <a:solidFill>
              <a:srgbClr val="E5F0FA"/>
            </a:solidFill>
            <a:prstDash val="solid"/>
          </a:ln>
        </p:spPr>
      </p:sp>
      <p:sp>
        <p:nvSpPr>
          <p:cNvPr id="6" name="Text 4"/>
          <p:cNvSpPr txBox="1"/>
          <p:nvPr/>
        </p:nvSpPr>
        <p:spPr>
          <a:xfrm>
            <a:off x="3364992"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DfT / coverage engineer</a:t>
            </a:r>
            <a:endParaRPr lang="en-US" sz="1400" dirty="0"/>
          </a:p>
          <a:p>
            <a:pPr indent="0" marL="0">
              <a:spcAft>
                <a:spcPts val="300"/>
              </a:spcAft>
              <a:buNone/>
            </a:pPr>
            <a:r>
              <a:rPr lang="en-US" sz="1300" dirty="0">
                <a:solidFill>
                  <a:srgbClr val="1F2A37"/>
                </a:solidFill>
              </a:rPr>
              <a:t>analyses testability and coverage from the design phase.</a:t>
            </a:r>
            <a:endParaRPr lang="en-US" sz="1400" dirty="0"/>
          </a:p>
        </p:txBody>
      </p:sp>
      <p:sp>
        <p:nvSpPr>
          <p:cNvPr id="7" name="Shape 5"/>
          <p:cNvSpPr/>
          <p:nvPr/>
        </p:nvSpPr>
        <p:spPr>
          <a:xfrm>
            <a:off x="6053328" y="1024128"/>
            <a:ext cx="2633472" cy="1083564"/>
          </a:xfrm>
          <a:prstGeom prst="roundRect">
            <a:avLst>
              <a:gd name="adj" fmla="val 8439"/>
            </a:avLst>
          </a:prstGeom>
          <a:solidFill>
            <a:srgbClr val="E3F4F1"/>
          </a:solidFill>
          <a:ln w="6350">
            <a:solidFill>
              <a:srgbClr val="E3F4F1"/>
            </a:solidFill>
            <a:prstDash val="solid"/>
          </a:ln>
        </p:spPr>
      </p:sp>
      <p:sp>
        <p:nvSpPr>
          <p:cNvPr id="8" name="Text 6"/>
          <p:cNvSpPr txBox="1"/>
          <p:nvPr/>
        </p:nvSpPr>
        <p:spPr>
          <a:xfrm>
            <a:off x="6163056" y="1097280"/>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Quality engineer</a:t>
            </a:r>
            <a:endParaRPr lang="en-US" sz="1400" dirty="0"/>
          </a:p>
          <a:p>
            <a:pPr indent="0" marL="0">
              <a:spcAft>
                <a:spcPts val="300"/>
              </a:spcAft>
              <a:buNone/>
            </a:pPr>
            <a:r>
              <a:rPr lang="en-US" sz="1300" dirty="0">
                <a:solidFill>
                  <a:srgbClr val="1F2A37"/>
                </a:solidFill>
              </a:rPr>
              <a:t>FMEA, control plan, IATF 16949.</a:t>
            </a:r>
            <a:endParaRPr lang="en-US" sz="1400" dirty="0"/>
          </a:p>
        </p:txBody>
      </p:sp>
      <p:sp>
        <p:nvSpPr>
          <p:cNvPr id="9" name="Shape 7"/>
          <p:cNvSpPr/>
          <p:nvPr/>
        </p:nvSpPr>
        <p:spPr>
          <a:xfrm>
            <a:off x="457200" y="2272284"/>
            <a:ext cx="2633472" cy="1083564"/>
          </a:xfrm>
          <a:prstGeom prst="roundRect">
            <a:avLst>
              <a:gd name="adj" fmla="val 8439"/>
            </a:avLst>
          </a:prstGeom>
          <a:solidFill>
            <a:srgbClr val="E5F0FA"/>
          </a:solidFill>
          <a:ln w="6350">
            <a:solidFill>
              <a:srgbClr val="E5F0FA"/>
            </a:solidFill>
            <a:prstDash val="solid"/>
          </a:ln>
        </p:spPr>
      </p:sp>
      <p:sp>
        <p:nvSpPr>
          <p:cNvPr id="10" name="Text 8"/>
          <p:cNvSpPr txBox="1"/>
          <p:nvPr/>
        </p:nvSpPr>
        <p:spPr>
          <a:xfrm>
            <a:off x="566928"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3B82C4"/>
                </a:solidFill>
              </a:rPr>
              <a:t>Reliability engineer</a:t>
            </a:r>
            <a:endParaRPr lang="en-US" sz="1400" dirty="0"/>
          </a:p>
          <a:p>
            <a:pPr indent="0" marL="0">
              <a:spcAft>
                <a:spcPts val="300"/>
              </a:spcAft>
              <a:buNone/>
            </a:pPr>
            <a:r>
              <a:rPr lang="en-US" sz="1300" dirty="0">
                <a:solidFill>
                  <a:srgbClr val="1F2A37"/>
                </a:solidFill>
              </a:rPr>
              <a:t>prediction, endurance tests, failure analysis.</a:t>
            </a:r>
            <a:endParaRPr lang="en-US" sz="1400" dirty="0"/>
          </a:p>
        </p:txBody>
      </p:sp>
      <p:sp>
        <p:nvSpPr>
          <p:cNvPr id="11" name="Shape 9"/>
          <p:cNvSpPr/>
          <p:nvPr/>
        </p:nvSpPr>
        <p:spPr>
          <a:xfrm>
            <a:off x="3255264" y="2272284"/>
            <a:ext cx="2633472" cy="1083564"/>
          </a:xfrm>
          <a:prstGeom prst="roundRect">
            <a:avLst>
              <a:gd name="adj" fmla="val 8439"/>
            </a:avLst>
          </a:prstGeom>
          <a:solidFill>
            <a:srgbClr val="E3F4F1"/>
          </a:solidFill>
          <a:ln w="6350">
            <a:solidFill>
              <a:srgbClr val="E3F4F1"/>
            </a:solidFill>
            <a:prstDash val="solid"/>
          </a:ln>
        </p:spPr>
      </p:sp>
      <p:sp>
        <p:nvSpPr>
          <p:cNvPr id="12" name="Text 10"/>
          <p:cNvSpPr txBox="1"/>
          <p:nvPr/>
        </p:nvSpPr>
        <p:spPr>
          <a:xfrm>
            <a:off x="3364992"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Functional safety engineer</a:t>
            </a:r>
            <a:endParaRPr lang="en-US" sz="1400" dirty="0"/>
          </a:p>
          <a:p>
            <a:pPr indent="0" marL="0">
              <a:spcAft>
                <a:spcPts val="300"/>
              </a:spcAft>
              <a:buNone/>
            </a:pPr>
            <a:r>
              <a:rPr lang="en-US" sz="1300" dirty="0">
                <a:solidFill>
                  <a:srgbClr val="1F2A37"/>
                </a:solidFill>
              </a:rPr>
              <a:t>ISO 26262, ASIL, hardware metrics.</a:t>
            </a:r>
            <a:endParaRPr lang="en-US" sz="1400" dirty="0"/>
          </a:p>
        </p:txBody>
      </p:sp>
      <p:sp>
        <p:nvSpPr>
          <p:cNvPr id="13" name="Shape 11"/>
          <p:cNvSpPr/>
          <p:nvPr/>
        </p:nvSpPr>
        <p:spPr>
          <a:xfrm>
            <a:off x="6053328" y="2272284"/>
            <a:ext cx="2633472" cy="1083564"/>
          </a:xfrm>
          <a:prstGeom prst="roundRect">
            <a:avLst>
              <a:gd name="adj" fmla="val 8439"/>
            </a:avLst>
          </a:prstGeom>
          <a:solidFill>
            <a:srgbClr val="FFF4DE"/>
          </a:solidFill>
          <a:ln w="6350">
            <a:solidFill>
              <a:srgbClr val="FFF4DE"/>
            </a:solidFill>
            <a:prstDash val="solid"/>
          </a:ln>
        </p:spPr>
      </p:sp>
      <p:sp>
        <p:nvSpPr>
          <p:cNvPr id="14" name="Text 12"/>
          <p:cNvSpPr txBox="1"/>
          <p:nvPr/>
        </p:nvSpPr>
        <p:spPr>
          <a:xfrm>
            <a:off x="6163056" y="2345436"/>
            <a:ext cx="2414016" cy="937260"/>
          </a:xfrm>
          <a:prstGeom prst="rect">
            <a:avLst/>
          </a:prstGeom>
          <a:noFill/>
          <a:ln/>
        </p:spPr>
        <p:txBody>
          <a:bodyPr wrap="square" lIns="254" tIns="254" rIns="254" bIns="254" rtlCol="0" anchor="t"/>
          <a:lstStyle/>
          <a:p>
            <a:pPr indent="0" marL="0">
              <a:spcAft>
                <a:spcPts val="300"/>
              </a:spcAft>
              <a:buNone/>
            </a:pPr>
            <a:r>
              <a:rPr lang="en-US" sz="1400" b="1" dirty="0">
                <a:solidFill>
                  <a:srgbClr val="0B6E69"/>
                </a:solidFill>
              </a:rPr>
              <a:t>Technical risk analyst</a:t>
            </a:r>
            <a:endParaRPr lang="en-US" sz="1400" dirty="0"/>
          </a:p>
          <a:p>
            <a:pPr indent="0" marL="0">
              <a:spcAft>
                <a:spcPts val="300"/>
              </a:spcAft>
              <a:buNone/>
            </a:pPr>
            <a:r>
              <a:rPr lang="en-US" sz="1300" dirty="0">
                <a:solidFill>
                  <a:srgbClr val="1F2A37"/>
                </a:solidFill>
              </a:rPr>
              <a:t>FMEA, TCA, risk assessment and documentation.</a:t>
            </a:r>
            <a:endParaRPr lang="en-US" sz="1400" dirty="0"/>
          </a:p>
        </p:txBody>
      </p:sp>
      <p:sp>
        <p:nvSpPr>
          <p:cNvPr id="15" name="image placeholder"/>
          <p:cNvSpPr/>
          <p:nvPr/>
        </p:nvSpPr>
        <p:spPr>
          <a:xfrm>
            <a:off x="457200" y="3493008"/>
            <a:ext cx="8229600" cy="960120"/>
          </a:xfrm>
          <a:prstGeom prst="roundRect">
            <a:avLst>
              <a:gd name="adj" fmla="val 11429"/>
            </a:avLst>
          </a:prstGeom>
          <a:solidFill>
            <a:srgbClr val="F4F6F8"/>
          </a:solidFill>
          <a:ln w="12700">
            <a:solidFill>
              <a:srgbClr val="9AA5B1"/>
            </a:solidFill>
            <a:prstDash val="dash"/>
          </a:ln>
        </p:spPr>
      </p:sp>
      <p:sp>
        <p:nvSpPr>
          <p:cNvPr id="16" name="image placeholder label"/>
          <p:cNvSpPr txBox="1"/>
          <p:nvPr/>
        </p:nvSpPr>
        <p:spPr>
          <a:xfrm>
            <a:off x="594360" y="3584448"/>
            <a:ext cx="7955280" cy="777240"/>
          </a:xfrm>
          <a:prstGeom prst="rect">
            <a:avLst/>
          </a:prstGeom>
          <a:noFill/>
          <a:ln/>
        </p:spPr>
        <p:txBody>
          <a:bodyPr wrap="square" rtlCol="0" anchor="ctr"/>
          <a:lstStyle/>
          <a:p>
            <a:pPr algn="ctr" indent="0" marL="0">
              <a:buNone/>
            </a:pPr>
            <a:r>
              <a:rPr lang="en-US" sz="1200" i="1" dirty="0">
                <a:solidFill>
                  <a:srgbClr val="5B6575"/>
                </a:solidFill>
              </a:rPr>
              <a:t>Image placeholder: certifications (IPC CIS/CIT, ASQ CRE/CQE, functional safety engineer) or employer logos</a:t>
            </a:r>
            <a:endParaRPr lang="en-US" sz="1200" dirty="0"/>
          </a:p>
        </p:txBody>
      </p:sp>
      <p:sp>
        <p:nvSpPr>
          <p:cNvPr id="17" name="sources"/>
          <p:cNvSpPr txBox="1"/>
          <p:nvPr/>
        </p:nvSpPr>
        <p:spPr>
          <a:xfrm>
            <a:off x="457200" y="4572000"/>
            <a:ext cx="7772400" cy="237744"/>
          </a:xfrm>
          <a:prstGeom prst="rect">
            <a:avLst/>
          </a:prstGeom>
          <a:noFill/>
          <a:ln/>
        </p:spPr>
        <p:txBody>
          <a:bodyPr wrap="square" lIns="0" tIns="0" rIns="0" bIns="0" rtlCol="0" anchor="ctr"/>
          <a:lstStyle/>
          <a:p>
            <a:pPr indent="0" marL="0">
              <a:buNone/>
            </a:pPr>
            <a:r>
              <a:rPr lang="en-US" sz="1000" i="1" dirty="0">
                <a:solidFill>
                  <a:srgbClr val="5B6575"/>
                </a:solidFill>
              </a:rPr>
              <a:t>Sources: [32] ASQ (CRE, CQE); IPC (CIS, CIT)</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References (1/2)</a:t>
            </a:r>
            <a:endParaRPr lang="en-US" sz="2600" dirty="0"/>
          </a:p>
        </p:txBody>
      </p:sp>
      <p:sp>
        <p:nvSpPr>
          <p:cNvPr id="3" name="Text 1"/>
          <p:cNvSpPr txBox="1"/>
          <p:nvPr/>
        </p:nvSpPr>
        <p:spPr>
          <a:xfrm>
            <a:off x="45720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[1] K. Hird, K. P. Parker, B. Follis, “Test Coverage: What Does It Mean When a Board Test Passes?”, Proc. IEEE ITC, 2002, pp. 1066–1074, doi:10.1109/TEST.2002.1041863.</a:t>
            </a:r>
            <a:endParaRPr lang="en-US" sz="1000" dirty="0"/>
          </a:p>
          <a:p>
            <a:pPr indent="0" marL="0">
              <a:spcAft>
                <a:spcPts val="400"/>
              </a:spcAft>
              <a:buNone/>
            </a:pPr>
            <a:r>
              <a:rPr lang="en-US" sz="1000" dirty="0">
                <a:solidFill>
                  <a:srgbClr val="1F2A37"/>
                </a:solidFill>
              </a:rPr>
              <a:t>[2] M. V. Tegethoff, K. P. Parker, K. Lee, “Opens Board Test Coverage: When is 99% Really 40%?”, Proc. ITC, 1996, pp. 333–339.</a:t>
            </a:r>
            <a:endParaRPr lang="en-US" sz="1000" dirty="0"/>
          </a:p>
          <a:p>
            <a:pPr indent="0" marL="0">
              <a:spcAft>
                <a:spcPts val="400"/>
              </a:spcAft>
              <a:buNone/>
            </a:pPr>
            <a:r>
              <a:rPr lang="en-US" sz="1000" dirty="0">
                <a:solidFill>
                  <a:srgbClr val="1F2A37"/>
                </a:solidFill>
              </a:rPr>
              <a:t>[3] K. P. Parker, “Defect Coverage of Boundary-Scan Tests: What does it mean when a Boundary-Scan test passes?”, Proc. ITC, 2003, pp. 1268–1276.</a:t>
            </a:r>
            <a:endParaRPr lang="en-US" sz="1000" dirty="0"/>
          </a:p>
          <a:p>
            <a:pPr indent="0" marL="0">
              <a:spcAft>
                <a:spcPts val="400"/>
              </a:spcAft>
              <a:buNone/>
            </a:pPr>
            <a:r>
              <a:rPr lang="en-US" sz="1000" dirty="0">
                <a:solidFill>
                  <a:srgbClr val="1F2A37"/>
                </a:solidFill>
              </a:rPr>
              <a:t>[4] K. P. Parker, K. Hird, E. Ramos, “Methods and apparatus for characterizing board test coverage”, US 6,948,140 B2, Agilent Technologies.</a:t>
            </a:r>
            <a:endParaRPr lang="en-US" sz="1000" dirty="0"/>
          </a:p>
          <a:p>
            <a:pPr indent="0" marL="0">
              <a:spcAft>
                <a:spcPts val="400"/>
              </a:spcAft>
              <a:buNone/>
            </a:pPr>
            <a:r>
              <a:rPr lang="en-US" sz="1000" dirty="0">
                <a:solidFill>
                  <a:srgbClr val="1F2A37"/>
                </a:solidFill>
              </a:rPr>
              <a:t>[5] A. W. Ley, “Defect Coverage for Non-intrusive Board Tests”, ASSET InterTech, smtnet.com/library/files/upload/defect_coverage_for_NBT.pdf.</a:t>
            </a:r>
            <a:endParaRPr lang="en-US" sz="1000" dirty="0"/>
          </a:p>
          <a:p>
            <a:pPr indent="0" marL="0">
              <a:spcAft>
                <a:spcPts val="400"/>
              </a:spcAft>
              <a:buNone/>
            </a:pPr>
            <a:r>
              <a:rPr lang="en-US" sz="1000" dirty="0">
                <a:solidFill>
                  <a:srgbClr val="1F2A37"/>
                </a:solidFill>
              </a:rPr>
              <a:t>[6] M. Smith, “Integrated Electrical Test within the Production Line”, IPC APEX, electronics.org/system/files/technical_resource/E5&amp;S03_01.pdf.</a:t>
            </a:r>
            <a:endParaRPr lang="en-US" sz="1000" dirty="0"/>
          </a:p>
          <a:p>
            <a:pPr indent="0" marL="0">
              <a:spcAft>
                <a:spcPts val="400"/>
              </a:spcAft>
              <a:buNone/>
            </a:pPr>
            <a:r>
              <a:rPr lang="en-US" sz="1000" dirty="0">
                <a:solidFill>
                  <a:srgbClr val="1F2A37"/>
                </a:solidFill>
              </a:rPr>
              <a:t>[7] Siemens, “Siemens acquires Aster Technologies”, 13 Jan 2026, news.siemens.com/en-us/siemens-acquires-aster-technologies/.</a:t>
            </a:r>
            <a:endParaRPr lang="en-US" sz="1000" dirty="0"/>
          </a:p>
          <a:p>
            <a:pPr indent="0" marL="0">
              <a:spcAft>
                <a:spcPts val="400"/>
              </a:spcAft>
              <a:buNone/>
            </a:pPr>
            <a:r>
              <a:rPr lang="en-US" sz="1000" dirty="0">
                <a:solidFill>
                  <a:srgbClr val="1F2A37"/>
                </a:solidFill>
              </a:rPr>
              <a:t>[8] Control.com, “Siemens acquires Aster to strengthen PCB design and testing”, 2026.</a:t>
            </a:r>
            <a:endParaRPr lang="en-US" sz="1000" dirty="0"/>
          </a:p>
        </p:txBody>
      </p:sp>
      <p:sp>
        <p:nvSpPr>
          <p:cNvPr id="4" name="Text 2"/>
          <p:cNvSpPr txBox="1"/>
          <p:nvPr/>
        </p:nvSpPr>
        <p:spPr>
          <a:xfrm>
            <a:off x="466344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[9] IPC-A-610J and IPC J-STD-001J (2024); J-STD-001JA/IPC-A-610JA Automotive Addendum (2025).</a:t>
            </a:r>
            <a:endParaRPr lang="en-US" sz="1000" dirty="0"/>
          </a:p>
          <a:p>
            <a:pPr indent="0" marL="0">
              <a:spcAft>
                <a:spcPts val="400"/>
              </a:spcAft>
              <a:buNone/>
            </a:pPr>
            <a:r>
              <a:rPr lang="en-US" sz="1000" dirty="0">
                <a:solidFill>
                  <a:srgbClr val="1F2A37"/>
                </a:solidFill>
              </a:rPr>
              <a:t>[10] ISO 31000:2018, Risk management — Guidelines, iso.org/standard/65694.html.</a:t>
            </a:r>
            <a:endParaRPr lang="en-US" sz="1000" dirty="0"/>
          </a:p>
          <a:p>
            <a:pPr indent="0" marL="0">
              <a:spcAft>
                <a:spcPts val="400"/>
              </a:spcAft>
              <a:buNone/>
            </a:pPr>
            <a:r>
              <a:rPr lang="en-US" sz="1000" dirty="0">
                <a:solidFill>
                  <a:srgbClr val="1F2A37"/>
                </a:solidFill>
              </a:rPr>
              <a:t>[11] ISO Guide 73:2009, Risk management — Vocabulary, iso.org/standard/44651.html.</a:t>
            </a:r>
            <a:endParaRPr lang="en-US" sz="1000" dirty="0"/>
          </a:p>
          <a:p>
            <a:pPr indent="0" marL="0">
              <a:spcAft>
                <a:spcPts val="400"/>
              </a:spcAft>
              <a:buNone/>
            </a:pPr>
            <a:r>
              <a:rPr lang="en-US" sz="1000" dirty="0">
                <a:solidFill>
                  <a:srgbClr val="1F2A37"/>
                </a:solidFill>
              </a:rPr>
              <a:t>[12] IEC 31010:2019, Risk management — Risk assessment techniques.</a:t>
            </a:r>
            <a:endParaRPr lang="en-US" sz="1000" dirty="0"/>
          </a:p>
          <a:p>
            <a:pPr indent="0" marL="0">
              <a:spcAft>
                <a:spcPts val="400"/>
              </a:spcAft>
              <a:buNone/>
            </a:pPr>
            <a:r>
              <a:rPr lang="en-US" sz="1000" dirty="0">
                <a:solidFill>
                  <a:srgbClr val="1F2A37"/>
                </a:solidFill>
              </a:rPr>
              <a:t>[13] ISO 26262:2018, Road vehicles — Functional safety, Parts 1, 5 and 7.</a:t>
            </a:r>
            <a:endParaRPr lang="en-US" sz="1000" dirty="0"/>
          </a:p>
          <a:p>
            <a:pPr indent="0" marL="0">
              <a:spcAft>
                <a:spcPts val="400"/>
              </a:spcAft>
              <a:buNone/>
            </a:pPr>
            <a:r>
              <a:rPr lang="en-US" sz="1000" dirty="0">
                <a:solidFill>
                  <a:srgbClr val="1F2A37"/>
                </a:solidFill>
              </a:rPr>
              <a:t>[14] AIAG &amp; VDA, FMEA Handbook, 1st ed., 2019, aiag.org.</a:t>
            </a:r>
            <a:endParaRPr lang="en-US" sz="1000" dirty="0"/>
          </a:p>
          <a:p>
            <a:pPr indent="0" marL="0">
              <a:spcAft>
                <a:spcPts val="400"/>
              </a:spcAft>
              <a:buNone/>
            </a:pPr>
            <a:r>
              <a:rPr lang="en-US" sz="1000" dirty="0">
                <a:solidFill>
                  <a:srgbClr val="1F2A37"/>
                </a:solidFill>
              </a:rPr>
              <a:t>[15] SAE J1739_202101, Potential Failure Mode and Effects Analysis (FMEA), doi:10.4271/J1739_202101.</a:t>
            </a:r>
            <a:endParaRPr lang="en-US" sz="1000" dirty="0"/>
          </a:p>
          <a:p>
            <a:pPr indent="0" marL="0">
              <a:spcAft>
                <a:spcPts val="400"/>
              </a:spcAft>
              <a:buNone/>
            </a:pPr>
            <a:r>
              <a:rPr lang="en-US" sz="1000" dirty="0">
                <a:solidFill>
                  <a:srgbClr val="1F2A37"/>
                </a:solidFill>
              </a:rPr>
              <a:t>[16] IEC 60812:2018, Failure modes and effects analysis (FMEA and FMECA).</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6E69"/>
                </a:solidFill>
              </a:rPr>
              <a:t>References (2/2)</a:t>
            </a:r>
            <a:endParaRPr lang="en-US" sz="2600" dirty="0"/>
          </a:p>
        </p:txBody>
      </p:sp>
      <p:sp>
        <p:nvSpPr>
          <p:cNvPr id="3" name="Text 1"/>
          <p:cNvSpPr txBox="1"/>
          <p:nvPr/>
        </p:nvSpPr>
        <p:spPr>
          <a:xfrm>
            <a:off x="45720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[17] J. B. Bowles, “An Assessment of RPN Prioritization in a Failure Modes Effects and Criticality Analysis”, Proc. RAMS, 2003, pp. 380–386, doi:10.1109/RAMS.2003.1182019.</a:t>
            </a:r>
            <a:endParaRPr lang="en-US" sz="1000" dirty="0"/>
          </a:p>
          <a:p>
            <a:pPr indent="0" marL="0">
              <a:spcAft>
                <a:spcPts val="400"/>
              </a:spcAft>
              <a:buNone/>
            </a:pPr>
            <a:r>
              <a:rPr lang="en-US" sz="1000" dirty="0">
                <a:solidFill>
                  <a:srgbClr val="1F2A37"/>
                </a:solidFill>
              </a:rPr>
              <a:t>[18] IATF 16949:2016; AIAG, “Core Tools and IATF 16949:2016 Overview”, blog.aiag.org/core-tools-and-iatf-169492016-overview.</a:t>
            </a:r>
            <a:endParaRPr lang="en-US" sz="1000" dirty="0"/>
          </a:p>
          <a:p>
            <a:pPr indent="0" marL="0">
              <a:spcAft>
                <a:spcPts val="400"/>
              </a:spcAft>
              <a:buNone/>
            </a:pPr>
            <a:r>
              <a:rPr lang="en-US" sz="1000" dirty="0">
                <a:solidFill>
                  <a:srgbClr val="1F2A37"/>
                </a:solidFill>
              </a:rPr>
              <a:t>[19] AIAG, APQP 3rd ed. and Control Plan 1st ed., 2024, go.aiag.org/apqp-cp.</a:t>
            </a:r>
            <a:endParaRPr lang="en-US" sz="1000" dirty="0"/>
          </a:p>
          <a:p>
            <a:pPr indent="0" marL="0">
              <a:spcAft>
                <a:spcPts val="400"/>
              </a:spcAft>
              <a:buNone/>
            </a:pPr>
            <a:r>
              <a:rPr lang="en-US" sz="1000" dirty="0">
                <a:solidFill>
                  <a:srgbClr val="1F2A37"/>
                </a:solidFill>
              </a:rPr>
              <a:t>[20] “The Origin and Development of FMEAs in the North American Automotive Industry: A History Review”, Acta Natura et Scientia 7(1), 2026, doi:10.61326/actanatsci.v7i1.370.</a:t>
            </a:r>
            <a:endParaRPr lang="en-US" sz="1000" dirty="0"/>
          </a:p>
          <a:p>
            <a:pPr indent="0" marL="0">
              <a:spcAft>
                <a:spcPts val="400"/>
              </a:spcAft>
              <a:buNone/>
            </a:pPr>
            <a:r>
              <a:rPr lang="en-US" sz="1000" dirty="0">
                <a:solidFill>
                  <a:srgbClr val="1F2A37"/>
                </a:solidFill>
              </a:rPr>
              <a:t>[21] Directive (EU) 2024/2853 on liability for defective products, eur-lex.europa.eu/eli/dir/2024/2853/oj.</a:t>
            </a:r>
            <a:endParaRPr lang="en-US" sz="1000" dirty="0"/>
          </a:p>
          <a:p>
            <a:pPr indent="0" marL="0">
              <a:spcAft>
                <a:spcPts val="400"/>
              </a:spcAft>
              <a:buNone/>
            </a:pPr>
            <a:r>
              <a:rPr lang="en-US" sz="1000" dirty="0">
                <a:solidFill>
                  <a:srgbClr val="1F2A37"/>
                </a:solidFill>
              </a:rPr>
              <a:t>[22] Regulation (EU) 2023/988 (GPSR); Regulation (EU) 2018/858, eur-lex.europa.eu.</a:t>
            </a:r>
            <a:endParaRPr lang="en-US" sz="1000" dirty="0"/>
          </a:p>
          <a:p>
            <a:pPr indent="0" marL="0">
              <a:spcAft>
                <a:spcPts val="400"/>
              </a:spcAft>
              <a:buNone/>
            </a:pPr>
            <a:r>
              <a:rPr lang="en-US" sz="1000" dirty="0">
                <a:solidFill>
                  <a:srgbClr val="1F2A37"/>
                </a:solidFill>
              </a:rPr>
              <a:t>[23] UNECE, Regulation No. 10 (electromagnetic compatibility), unece.org.</a:t>
            </a:r>
            <a:endParaRPr lang="en-US" sz="1000" dirty="0"/>
          </a:p>
          <a:p>
            <a:pPr indent="0" marL="0">
              <a:spcAft>
                <a:spcPts val="400"/>
              </a:spcAft>
              <a:buNone/>
            </a:pPr>
            <a:r>
              <a:rPr lang="en-US" sz="1000" dirty="0">
                <a:solidFill>
                  <a:srgbClr val="1F2A37"/>
                </a:solidFill>
              </a:rPr>
              <a:t>[24] TREAD Act, Pub. L. 106-414 (2000); 49 CFR Part 573, ecfr.gov.</a:t>
            </a:r>
            <a:endParaRPr lang="en-US" sz="1000" dirty="0"/>
          </a:p>
        </p:txBody>
      </p:sp>
      <p:sp>
        <p:nvSpPr>
          <p:cNvPr id="4" name="Text 2"/>
          <p:cNvSpPr txBox="1"/>
          <p:nvPr/>
        </p:nvSpPr>
        <p:spPr>
          <a:xfrm>
            <a:off x="4663440" y="960120"/>
            <a:ext cx="4023360" cy="3749040"/>
          </a:xfrm>
          <a:prstGeom prst="rect">
            <a:avLst/>
          </a:prstGeom>
          <a:noFill/>
          <a:ln/>
        </p:spPr>
        <p:txBody>
          <a:bodyPr wrap="square" lIns="0" tIns="0" rIns="0" bIns="0" rtlCol="0" anchor="t"/>
          <a:lstStyle/>
          <a:p>
            <a:pPr indent="0" marL="0">
              <a:spcAft>
                <a:spcPts val="400"/>
              </a:spcAft>
              <a:buNone/>
            </a:pPr>
            <a:r>
              <a:rPr lang="en-US" sz="1000" dirty="0">
                <a:solidFill>
                  <a:srgbClr val="1F2A37"/>
                </a:solidFill>
              </a:rPr>
              <a:t>[25] NHTSA ODI, EA19-001 (static.nhtsa.gov/odi/inv/2019/INOA-EA19001-2536.PDF); reports 16V-668 and 20V-024.</a:t>
            </a:r>
            <a:endParaRPr lang="en-US" sz="1000" dirty="0"/>
          </a:p>
          <a:p>
            <a:pPr indent="0" marL="0">
              <a:spcAft>
                <a:spcPts val="400"/>
              </a:spcAft>
              <a:buNone/>
            </a:pPr>
            <a:r>
              <a:rPr lang="en-US" sz="1000" dirty="0">
                <a:solidFill>
                  <a:srgbClr val="1F2A37"/>
                </a:solidFill>
              </a:rPr>
              <a:t>[26] NHTSA, Takata Recall Spotlight, nhtsa.gov/takata-recall-spotlight/state-takata-recalls.</a:t>
            </a:r>
            <a:endParaRPr lang="en-US" sz="1000" dirty="0"/>
          </a:p>
          <a:p>
            <a:pPr indent="0" marL="0">
              <a:spcAft>
                <a:spcPts val="400"/>
              </a:spcAft>
              <a:buNone/>
            </a:pPr>
            <a:r>
              <a:rPr lang="en-US" sz="1000" dirty="0">
                <a:solidFill>
                  <a:srgbClr val="1F2A37"/>
                </a:solidFill>
              </a:rPr>
              <a:t>[27] B. Davis, “Economic modeling of board test strategies”, J. Electronic Testing 5, 1994, pp. 157–169, doi:10.1007/BF00972076.</a:t>
            </a:r>
            <a:endParaRPr lang="en-US" sz="1000" dirty="0"/>
          </a:p>
          <a:p>
            <a:pPr indent="0" marL="0">
              <a:spcAft>
                <a:spcPts val="400"/>
              </a:spcAft>
              <a:buNone/>
            </a:pPr>
            <a:r>
              <a:rPr lang="en-US" sz="1000" dirty="0">
                <a:solidFill>
                  <a:srgbClr val="1F2A37"/>
                </a:solidFill>
              </a:rPr>
              <a:t>[28] TL 9000 R6.3 (2021), tl9000.org; Telcordia SR-332 Issue 4 (2016); ETSI GS NFV-REL 001 V1.1.1 (2015); ITU-T E.800 (09/2008).</a:t>
            </a:r>
            <a:endParaRPr lang="en-US" sz="1000" dirty="0"/>
          </a:p>
          <a:p>
            <a:pPr indent="0" marL="0">
              <a:spcAft>
                <a:spcPts val="400"/>
              </a:spcAft>
              <a:buNone/>
            </a:pPr>
            <a:r>
              <a:rPr lang="en-US" sz="1000" dirty="0">
                <a:solidFill>
                  <a:srgbClr val="1F2A37"/>
                </a:solidFill>
              </a:rPr>
              <a:t>[29] SAE ARP4761A (2023); RTCA DO-254; SAE AS13004; ISO 14971:2019; EN 50126; IEC 61508:2010; MIL-STD-1629A (1980).</a:t>
            </a:r>
            <a:endParaRPr lang="en-US" sz="1000" dirty="0"/>
          </a:p>
          <a:p>
            <a:pPr indent="0" marL="0">
              <a:spcAft>
                <a:spcPts val="400"/>
              </a:spcAft>
              <a:buNone/>
            </a:pPr>
            <a:r>
              <a:rPr lang="en-US" sz="1000" dirty="0">
                <a:solidFill>
                  <a:srgbClr val="1F2A37"/>
                </a:solidFill>
              </a:rPr>
              <a:t>[30] Microchip, MCP2551 High-Speed CAN Transceiver, DS21667F, 2010; ISO 11898-2:2024, iso.org/standard/85120.html.</a:t>
            </a:r>
            <a:endParaRPr lang="en-US" sz="1000" dirty="0"/>
          </a:p>
          <a:p>
            <a:pPr indent="0" marL="0">
              <a:spcAft>
                <a:spcPts val="400"/>
              </a:spcAft>
              <a:buNone/>
            </a:pPr>
            <a:r>
              <a:rPr lang="en-US" sz="1000" dirty="0">
                <a:solidFill>
                  <a:srgbClr val="1F2A37"/>
                </a:solidFill>
              </a:rPr>
              <a:t>[31] AUMOVIO, ARS 408-21 Long Range Radar, datasheet, engineering-solutions.aumovio.com.</a:t>
            </a:r>
            <a:endParaRPr lang="en-US" sz="1000" dirty="0"/>
          </a:p>
          <a:p>
            <a:pPr indent="0" marL="0">
              <a:spcAft>
                <a:spcPts val="400"/>
              </a:spcAft>
              <a:buNone/>
            </a:pPr>
            <a:r>
              <a:rPr lang="en-US" sz="1000" dirty="0">
                <a:solidFill>
                  <a:srgbClr val="1F2A37"/>
                </a:solidFill>
              </a:rPr>
              <a:t>[32] ASQ, CRE and CQE certifications, asq.org; IPC, CIS and CIT certifications, electronics.org.</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57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HW TCA Light">
  <a:themeElements>
    <a:clrScheme name="HW TCA Light">
      <a:dk1>
        <a:srgbClr val="1F2A37"/>
      </a:dk1>
      <a:lt1>
        <a:srgbClr val="FFFFFF"/>
      </a:lt1>
      <a:dk2>
        <a:srgbClr val="0B6E69"/>
      </a:dk2>
      <a:lt2>
        <a:srgbClr val="E3F4F1"/>
      </a:lt2>
      <a:accent1>
        <a:srgbClr val="0B6E69"/>
      </a:accent1>
      <a:accent2>
        <a:srgbClr val="F2A93B"/>
      </a:accent2>
      <a:accent3>
        <a:srgbClr val="3B82C4"/>
      </a:accent3>
      <a:accent4>
        <a:srgbClr val="E46A5E"/>
      </a:accent4>
      <a:accent5>
        <a:srgbClr val="7C9A3D"/>
      </a:accent5>
      <a:accent6>
        <a:srgbClr val="8A6FD1"/>
      </a:accent6>
      <a:hlink>
        <a:srgbClr val="3B82C4"/>
      </a:hlink>
      <a:folHlink>
        <a:srgbClr val="6B7280"/>
      </a:folHlink>
    </a:clrScheme>
    <a:fontScheme name="HW TCA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Test Coverage Analysis (HW TCA)</dc:title>
  <dc:subject>Testing lab, 4th year, ETC UPT</dc:subject>
  <dc:creator>Mădălina Tolontan</dc:creator>
  <cp:lastModifiedBy>Mădălina Tolontan</cp:lastModifiedBy>
  <cp:revision>1</cp:revision>
  <dcterms:created xsi:type="dcterms:W3CDTF">2026-10-30T10:09:56Z</dcterms:created>
  <dcterms:modified xsi:type="dcterms:W3CDTF">2026-10-30T10:09:56Z</dcterms:modified>
</cp:coreProperties>
</file>