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Bun venit. Astăzi vorbim despre o analiză pe care o face orice firmă care produce electronică pentru auto: analiza acoperirii testelor de producție, pe scurt TCA HW (Test Coverage Analysis, hardware).
Întrebarea la care răspunde analiza este simplă: dacă o placă iese cu un defect de pe linia de asamblare, avem un test care să-l prindă înainte să ajungă la client? Și dacă nu, cât de mare e riscul?
În primele 30 de minute discutăm teoria: ce este analiza, la ce folosește, ce standarde și legi o cer, ce se întâmplă când lipsește și cum se leagă de testare. Apoi lucrați individual în aplicația web, pe modulul CAN al radarului frontal pe care îl folosim în toate laboratoarele.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are opt puncte. Pornim de la fluxul de producție, ca să vedem unde apar defectele și unde le căutăm. Definim apoi analiza acoperirii și modelul PCOLA/SOQ/FAM, care e limbajul comun al inginerilor de test.
Legăm analiza de risc: severitate, ocurență, detecție și prioritatea de acțiune din metoda AIAG-VDA. Vedem ce standarde și legi stau în spate și câteva cazuri reale în care defecte de electronică au ajuns la client. La final ne uităm la alte industrii, la cariere și la ce faceți concret în laborator.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 slide vedeți un flux tipic. Placa este asamblată: se pune pastă de lipit, se plantează componentele SMT, trece prin cuptorul de reflow, apoi se montează componentele THT. Urmează inspecțiile: AOI, optică, și AXI, cu raze X, pentru lipiturile ascunse. Apoi ICT, testul în circuit: un fixture cu ace atinge test point-urile și măsoară componentele una câte una. La final FT, testul funcțional, care alimentează placa și verifică funcțiile prin conectori.
O lucrare prezentată la IPC APEX, care citează date iNEMI din 2000, spune clar: etapele timpurii prind cel mai bine defectele de proces de asamblare, iar etapele târzii prind defectele de funcționare. De aceea combinăm metodele.
Ce nu prinde nicio etapă se numește escape și ajunge la client. Analiza de azi estimează exact acest risc.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Definiția vine de la oamenii care au creat domeniul. Brevetul Agilent pe caracterizarea acoperirii spune că acoperirea testului de placă este o indicație a calității suitei de teste.
Lucrarea de referință, Hird, Parker și Follis, ITC 2002, pune întrebarea din titlu: ce înseamnă când un test trece? Dacă o măsurătoare de rezistență trece, știm că rezistorul e prezent, are valoarea corectă și nu e întrerupt sau scurtcircuitat. Nu știm nimic despre ce nu am măsurat.
O lucrare din 1996, „când 99% înseamnă de fapt 40%”, arată că procentul de noduri accesibile poate supraestima mult acoperirea reală. De aceea, în TCA nu numărăm teste, ci ne întrebăm pentru fiecare defect posibil: îl prinde vreo metodă și cât de sigur? Rezultatul este o valoare D pentru fiecare defect și metodă, iar din ea riscul rămas.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PCOLA/SOQ este modelul introdus de Hird și colegii de la Agilent în 2002. Fiecare literă e o proprietate pe care un test o poate verifica.
Pentru componentă: P, prezența; C, corectitudinea, adică piesa cu valoarea bună; O, orientarea sau polaritatea; L, live, adică piesa funcționează la nivel de bază; A, alinierea pe pad-uri.
Pentru conexiune: S, scurtcircuite; O, întreruperi; Q, calitatea lipiturii.
Mai târziu, iNEMI a adăugat partea funcțională, FAM: F, funcția există; A, merge la viteza reală; M, performanța măsurată respectă cerința.
Modelul ne dă un limbaj comun: când spun că ICT acoperă S și O pentru un rezistor, toată lumea înțelege la ce mă refer.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Tabelul este orientativ și sintetizează literatura citată. Ideea principală: nicio metodă nu acoperă totul.
Inspecțiile vizuale, AOI și AXI, sunt bune la prezență, orientare și aliniere. AXI vede și lipiturile ascunse, de exemplu sub capsule BGA sau lipiturile THT, și deci scurtcircuitele și calitatea lipiturii. AOI poate citi marcajul unei componente, dar nu și valoarea unui condensator nemarcat.
ICT măsoară electric componentele și prinde foarte bine scurtcircuitele și întreruperile, cu condiția să aibă acces cu ace pe net-uri.
Boundary scan, pe care Parker l-a analizat în 2003, acoperă bine interconexiunile digitale, dar, cum arată și Ley, nu spune nimic despre funcție.
Testul funcțional e singurul care vede funcția la viteza reală, dar de multe ori nu poate spune unde e defectul.
În laborator veți avea exact aceste metode și veți da o valoare D fiecăreia.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ICT poate măsura doar ce atinge cu acele. Dacă un net nu are test point, componentele de pe el nu pot fi măsurate direct. De aceea analiza acoperirii se face în faza de design: dacă descoperim că un defect important nu e prins, putem încă adăuga un test point în layout.
Există unelte comerciale dedicate. TestWay Express, de la ASTER Technologies, simulează cât de testabil e un design și semnalează componentele netestabile și test point-urile lipsă, înainte să se producă placa. În ianuarie 2026, Siemens a anunțat preluarea ASTER, iar TestWay urmează să fie integrat în uneltele Xpedition și Valor. Asta arată cât de important a devenit subiectul pentru industrie.
În laborator nu folosim TestWay, care e comercial, ci o aplicație web construită pe aceleași principii: bifați test point-uri pe net-uri și vedeți cum se schimbă detecția 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Câteva definiții, ca să folosim termenii corect.
ISO 31000 definește evaluarea riscului, în engleză risk assessment, ca fiind procesul format din identificarea, analiza și evaluarea riscului. Analiza riscului înseamnă să înțelegem riscul: cât de grav e efectul, cât de des apare, cât de bine îl detectăm. Evaluarea înseamnă să comparăm rezultatul cu criterii și să decidem dacă acceptăm sau acționăm.
Urmează tratarea: acțiuni care reduc riscul. În cazul nostru: adăugăm un test point, un test funcțional nou sau schimbăm designul.
Ce rămâne după tratare este riscul rezidual, definit în ISO Guide 73. Acesta trebuie documentat: de ce rămâne și de ce îl acceptăm.
IEC 31010 listează FMEA printre tehnicile de evaluare a riscului. TCA HW folosește aceeași logică, aplicată testelor de producție.
Notă pentru prezentator: verifică numerele de clauză în textul licențiat al standardelor.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Analiza noastră folosește limbajul FMEA din industria auto. Manualul AIAG-VDA din 2019, rezultat din armonizarea metodei americane AIAG cu cea germană VDA, are șapte pași: planificare, analiza structurii, a funcțiilor, a defectărilor, analiza riscului, optimizarea și documentarea rezultatelor.
Riscul se descrie prin trei note de la 1 la 10. Severitatea S se dă pe efect: 10 înseamnă afectarea siguranței, 9 neconformitate cu reglementările, 8 pierderea unei funcții principale. Ocurența O se dă pe cauză și ține cont de prevenție. Detecția D spune cât de sigur prindem defectul: 1 aproape sigur, 10 deloc.
În TCA HW, S vine din clasa de efect, O e mică pentru o tehnologie SMT matură, iar D vine din fiecare metodă de test. Echivalentul american este SAE J1739, ediția 2021; pentru alte industrii, IEC 60812.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 timp, riscul s-a calculat ca produs: RPN = S × O × D. Problema e matematică. Bowles a arătat în 2003 că din cele 1000 de combinații posibile ies doar 120 de valori distincte, iar același număr poate însemna lucruri foarte diferite.
Uitați-vă la tabel. Cazurile A și B au același RPN, 108. Dar A e un efect de siguranță, S 9, iar B e un efect minor. Tabelul AP din manualul AIAG-VDA dă H, prioritate înaltă, pentru A și L, scăzută, pentru B. Cazul C are RPN mai mic, 80, dar AP M, pentru că e vorba de pierderea funcției principale.
De aceea manualul AIAG-VDA din 2019 a înlocuit RPN cu prioritatea de acțiune. În laborator lucrăm doar cu AP. Detecția combinată a unui defect este minimul dintre detecțiile metodelor de test, adică cea mai bună metodă care îl prinde. Asta presupune că toate testele rulează pe fiecare placă.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Diagrama arată cum se leagă standardele de analiza noastră.
Sus avem cerințele de nivel înalt. ISO 26262 stabilește ce trebuie să fie sigur: nivelul ASIL și, în Partea 7, un plan de control al producției pentru elementele relevante pentru siguranță. IATF 16949 este sistemul de management al calității pentru furnizorii auto și cere uneltele de bază, core tools: APQP, FMEA, planul de control, MSA, SPC, PPAP. Clauza 8.5.1.1 cere planul de control, iar 10.2.4 error-proofing-ul. În dreapta, legile: răspunderea pentru produse defecte, omologarea vehiculelor și compatibilitatea electromagnetică.
La mijloc: FMEA produce controalele de prevenție și detecție, care intră în planul de control și în specificația de test, conform APQP ediția a 3-a și Control Plan ediția 1 din 2024. IPC-A-610J și J-STD-001J dau criteriile de acceptare a lipiturilor, inclusiv un supliment auto din 2025.
Jos: TCA HW cuantifică detecția fiecărui test, iar ce nu se poate acoperi devine risc rezidual, documentat.
Aici ai loc să înlocuiești diagrama cu una desenată de tine.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Metoda nu e nouă. Armata SUA a publicat procedura MIL-P-1629 în 1949. NASA a folosit-o pentru Apollo, cu un standard propriu din 1966. SAE a publicat ARP926 în 1967, iar Ford a adus FMEA în industria auto în anii '70; o recenzie istorică recentă indică anul 1977. În 1980 a apărut MIL-STD-1629A, încă folosit deși a fost anulat în 1998.
În auto, SAE J1739 a apărut în 1994. În 2019, AIAG și VDA au armonizat metodele într-un singur manual, cu șapte pași și cu prioritatea de acțiune în loc de RPN. Ediția curentă SAE J1739 este din 2021.
Cu galben am marcat repere din analiza acoperirii: modelul PCOLA/SOQ în 2002 și preluarea ASTER de către Siemens în 2026.
La nevoie, poți adăuga aici edițiile manualului AIAG (1993–2008), după ce le verifici în catalogul AIAG.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ce ar face o firmă toată această analiză? În primul rând, din cauza răspunderii.
Noua Directivă europeană privind răspunderea pentru produse defecte, 2024/2853, înlocuiește directiva din 1985 și se aplică produselor puse pe piață după 9 decembrie 2026. O noutate importantă: include explicit software-ul și componentele.
Regulamentul privind siguranța generală a produselor și regulamentul de omologare a vehiculelor completează cadrul în UE. Pentru electronică auto contează și Regulamentul UNECE nr. 10, despre compatibilitatea electromagnetică. De aceea, în laborator, un defect care afectează doar EMC primește severitatea 9: neconformitate cu reglementările.
În SUA, după TREAD Act din 2000, producătorii raportează defectele la NHTSA, conform 49 CFR Part 573. De acolo vin cazurile reale de pe slide-ul următor.
Notă: verifică pe site-ul RAR rolul autorității române în rechemări înainte să-l menționezi.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Câteva cazuri reale, toate documentate public de autoritatea americană NHTSA.
Cel mai relevant pentru noi este investigația EA19-001, deschisă în 2019: unitățile de comandă ale airbagului, produse de ZF-TRW, puteau suferi electrical overstress la impact, din cauza tranzitoriilor din accident. Componenta afectată era un ASIC numit DS84. Investigația a vizat aproximativ 12,3 milioane de vehicule și a dus la rechemări la mai mulți producători: de exemplu FCA, 16V-668, cu circa 1,43 milioane de vehicule, și Toyota, 20V-024, cu aproape 2,6 milioane. Remedierea la Toyota a fost un filtru de zgomot, deci o modificare de design.
Takata este, după NHTSA, cea mai mare și mai complexă rechemare din istoria SUA.
O regulă des citată spune că un defect costă de zece ori mai mult la fiecare etapă în care scapă. Prezentați-o ca euristică, nu ca lege; pentru economia testului de placă, referința serioasă este Davis, 1994.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Analizele de risc și de acoperire nu sunt specifice auto.
În aeronautică, SAE ARP4761A, din 2023, descrie procesul de evaluare a siguranței, DO-254 acoperă hardware-ul electronic de bord, iar AS13004 tratează PFMEA și planurile de control. În medical, ISO 14971 este standardul de management al riscului pentru dispozitive medicale. În feroviar, EN 50126 tratează RAMS. Pentru industrie în general, IEC 61508 este standardul de bază pentru siguranța funcțională; din el derivă și ISO 26262.
Pentru telecom, întrebarea de la început a fost dacă există standarde. Da: TL 9000, versiunea R6.3 din 2021, este sistemul de management al calității pentru sectorul ICT, construit pe ISO 9001. Telcordia SR-332 tratează predicția fiabilității echipamentelor electronice. ETSI are specificații de reziliență pentru rețele virtualizate, cu moduri de defectare, iar ITU-T E.800 definește termenii de calitate a serviciului. Dar în textele publice verificate nu am găsit o cerință explicită de FMEA. În telecom, FMEA este o bună practică, nu o obligație din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Studiul de caz este același în toate laboratoarele. Un radar frontal trimite lista de obiecte detectate pe CAN. Valorile radarului vin din fișa tehnică ARS 408-21, astăzi sub marca AUMOVIO: distanță de la 0,2 la 250 de metri, ciclu de aproximativ 72 de milisecunde, CAN la 500 kbit/s. Faptul că îl tratăm ca ASIL B este o ipoteză a laboratorului, nu o informație din fișa tehnică.
Nodul CAN folosește un modul cu transceiverul MCP2551. Din fișa tehnică Microchip folosim limitele: alimentare 4,5–5,5 V, curent maxim 75 mA în dominant și 10 mA în recesiv, tensiuni pe bus de 2–3 V în recesiv și 1,5–3 V diferențial în dominant. Stratul fizic e descris de ISO 11898-2, ediția 2024.
Modulul are 13 componente și, important, nu are test point-uri. Le veți adăuga voi ca îmbunătățire.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Acum partea practică. Fiecare primește o variantă, de la H1 la H6, cu 12 moduri de defectare ale modulului.
Pentru fiecare mod: alegeți clasa de efect, iar severitatea rezultă din ea. Alegeți ocurența din tabelul AIAG-VDA; pentru o tehnologie SMT matură e de obicei mică. Pentru AOI, AXI și ICT, aplicația calculează detecția din regulile de detecție și vă arată motivul. Pentru testul funcțional, apăsați pe pinul componentei, pe placă sau în schemă: aplicația desenează netul acelui pin și arată, în panoul Conexiuni, dacă ajunge la un conector, adică dacă testul funcțional îl poate vedea, și dacă are test point. Apoi alegeți din lista FT1–FT8 testul care prinde defectul, sau NONE, alegeți D de la 1 la 10 din scala de detecție AIAG-VDA, ale cărei descrieri apar în listă, și scrieți de ce.
Detecția combinată este minimul dintre metode, iar AP rezultă din tabel. Apoi propuneți îmbunătățiri: test point-uri, AOI pe fața de jos sau teste funcționale noi, și urmăriți cum scade riscul. Unde AP rămâne H sau M, documentați riscul rezidual. La final, trimiteți raportul din aplicație.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Analizele de azi apar în industria auto, aeronautică, medicală, feroviară, industrială și de telecomunicații, oriunde o defectare costă mult.
Ca absolvenți, le veți întâlni în mai multe roluri: inginer de test, care scrie programele ICT și FCT; inginer DfT sau de acoperire, care lucrează cu designerii ca placa să fie testabilă; inginer de calitate, care ține FMEA și planul de control; inginer de fiabilitate; inginer de siguranță funcțională pe ISO 26262; analist de risc tehnic.
Există și certificări recunoscute: IPC CIS și CIT pentru standardele de asamblare, ASQ pentru inginer de fiabilitate și de calitate, programe de inginer de siguranță funcțională la organisme de certificare.
Poți adăuga aici exemple de angajatori din regiune, cu link spre paginile lor de cariere.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Bibliografia completă. Standardele ISO, IEC, SAE, IPC și AIAG sunt contra cost; le găsiți în biblioteca facultății sau la ASRO. Lucrările ITC sunt în IEEE Xplore.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Partea a doua a bibliografiei. Cazurile NHTSA au documente publice gratuite pe static.nhtsa.gov; actele UE sunt pe EUR-Lex.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ONLY">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rtlCol="0"/>
          <a:lstStyle>
            <a:lvl1pPr indent="0" marL="0">
              <a:buNone/>
              <a:defRPr lang="en-US" sz="2600" b="1" dirty="0">
                <a:solidFill>
                  <a:srgbClr val="0B6E69"/>
                </a:solidFill>
              </a:defRPr>
            </a:lvl1pPr>
          </a:lstStyle>
          <a:p>
            <a:pPr indent="0" marL="0">
              <a:buNone/>
            </a:pPr>
            <a:endParaRPr lang="en-US" sz="2600" dirty="0"/>
          </a:p>
        </p:txBody>
      </p:sp>
      <p:sp>
        <p:nvSpPr>
          <p:cNvPr id="3" name="Text 0"/>
          <p:cNvSpPr/>
          <p:nvPr/>
        </p:nvSpPr>
        <p:spPr>
          <a:xfrm>
            <a:off x="457200" y="4846320"/>
            <a:ext cx="5943600" cy="201168"/>
          </a:xfrm>
          <a:prstGeom prst="rect">
            <a:avLst/>
          </a:prstGeom>
          <a:noFill/>
          <a:ln/>
        </p:spPr>
        <p:txBody>
          <a:bodyPr wrap="square" lIns="0" tIns="0" rIns="0" bIns="0" rtlCol="0" anchor="ctr"/>
          <a:lstStyle/>
          <a:p>
            <a:pPr indent="0" marL="0">
              <a:buNone/>
            </a:pPr>
            <a:r>
              <a:rPr lang="en-US" sz="900" dirty="0">
                <a:solidFill>
                  <a:srgbClr val="5B6575"/>
                </a:solidFill>
              </a:rPr>
              <a:t>HW TCA · Laborator de testare · ETC, UPT</a:t>
            </a:r>
            <a:endParaRPr lang="en-US" sz="9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E3F4F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583680" y="-914400"/>
            <a:ext cx="3840480" cy="3840480"/>
          </a:xfrm>
          <a:prstGeom prst="ellipse">
            <a:avLst/>
          </a:prstGeom>
          <a:solidFill>
            <a:srgbClr val="CDEBE5"/>
          </a:solidFill>
          <a:ln w="12700">
            <a:solidFill>
              <a:srgbClr val="CDEBE5"/>
            </a:solidFill>
            <a:prstDash val="solid"/>
          </a:ln>
        </p:spPr>
      </p:sp>
      <p:sp>
        <p:nvSpPr>
          <p:cNvPr id="3" name="Shape 1"/>
          <p:cNvSpPr/>
          <p:nvPr/>
        </p:nvSpPr>
        <p:spPr>
          <a:xfrm>
            <a:off x="7589520" y="3291840"/>
            <a:ext cx="2194560" cy="2194560"/>
          </a:xfrm>
          <a:prstGeom prst="ellipse">
            <a:avLst/>
          </a:prstGeom>
          <a:solidFill>
            <a:srgbClr val="FFF4DE"/>
          </a:solidFill>
          <a:ln w="12700">
            <a:solidFill>
              <a:srgbClr val="FFF4DE"/>
            </a:solidFill>
            <a:prstDash val="solid"/>
          </a:ln>
        </p:spPr>
      </p:sp>
      <p:sp>
        <p:nvSpPr>
          <p:cNvPr id="4" name="Text 2"/>
          <p:cNvSpPr txBox="1"/>
          <p:nvPr/>
        </p:nvSpPr>
        <p:spPr>
          <a:xfrm>
            <a:off x="548640" y="822960"/>
            <a:ext cx="5943600" cy="365760"/>
          </a:xfrm>
          <a:prstGeom prst="rect">
            <a:avLst/>
          </a:prstGeom>
          <a:noFill/>
          <a:ln/>
        </p:spPr>
        <p:txBody>
          <a:bodyPr wrap="square" lIns="0" tIns="0" rIns="0" bIns="0" rtlCol="0" anchor="ctr"/>
          <a:lstStyle/>
          <a:p>
            <a:pPr indent="0" marL="0">
              <a:buNone/>
            </a:pPr>
            <a:r>
              <a:rPr lang="en-US" sz="1400" b="1" spc="100" kern="0" dirty="0">
                <a:solidFill>
                  <a:srgbClr val="F2A93B"/>
                </a:solidFill>
              </a:rPr>
              <a:t>LABORATOR DE TESTARE · ANUL IV</a:t>
            </a:r>
            <a:endParaRPr lang="en-US" sz="1400" dirty="0"/>
          </a:p>
        </p:txBody>
      </p:sp>
      <p:sp>
        <p:nvSpPr>
          <p:cNvPr id="5" name="Text 3"/>
          <p:cNvSpPr txBox="1"/>
          <p:nvPr/>
        </p:nvSpPr>
        <p:spPr>
          <a:xfrm>
            <a:off x="548640" y="1234440"/>
            <a:ext cx="6400800" cy="1371600"/>
          </a:xfrm>
          <a:prstGeom prst="rect">
            <a:avLst/>
          </a:prstGeom>
          <a:noFill/>
          <a:ln/>
        </p:spPr>
        <p:txBody>
          <a:bodyPr wrap="square" lIns="0" tIns="0" rIns="0" bIns="0" rtlCol="0" anchor="t"/>
          <a:lstStyle/>
          <a:p>
            <a:pPr indent="0" marL="0">
              <a:buNone/>
            </a:pPr>
            <a:r>
              <a:rPr lang="en-US" sz="3800" b="1" dirty="0">
                <a:solidFill>
                  <a:srgbClr val="0B6E69"/>
                </a:solidFill>
              </a:rPr>
              <a:t>Analiza acoperirii testelor de producție (HW TCA)</a:t>
            </a:r>
            <a:endParaRPr lang="en-US" sz="3800" dirty="0"/>
          </a:p>
        </p:txBody>
      </p:sp>
      <p:sp>
        <p:nvSpPr>
          <p:cNvPr id="6" name="Text 4"/>
          <p:cNvSpPr txBox="1"/>
          <p:nvPr/>
        </p:nvSpPr>
        <p:spPr>
          <a:xfrm>
            <a:off x="548640" y="2697480"/>
            <a:ext cx="6035040" cy="822960"/>
          </a:xfrm>
          <a:prstGeom prst="rect">
            <a:avLst/>
          </a:prstGeom>
          <a:noFill/>
          <a:ln/>
        </p:spPr>
        <p:txBody>
          <a:bodyPr wrap="square" lIns="0" tIns="0" rIns="0" bIns="0" rtlCol="0" anchor="t"/>
          <a:lstStyle/>
          <a:p>
            <a:pPr indent="0" marL="0">
              <a:buNone/>
            </a:pPr>
            <a:r>
              <a:rPr lang="en-US" sz="1700" dirty="0">
                <a:solidFill>
                  <a:srgbClr val="1F2A37"/>
                </a:solidFill>
              </a:rPr>
              <a:t>Cât de bine prind testele de producție defectele de fabricație ale unei plăci electronice auto</a:t>
            </a:r>
            <a:endParaRPr lang="en-US" sz="1700" dirty="0"/>
          </a:p>
        </p:txBody>
      </p:sp>
      <p:sp>
        <p:nvSpPr>
          <p:cNvPr id="7" name="Text 5"/>
          <p:cNvSpPr txBox="1"/>
          <p:nvPr/>
        </p:nvSpPr>
        <p:spPr>
          <a:xfrm>
            <a:off x="548640" y="4114800"/>
            <a:ext cx="6035040" cy="548640"/>
          </a:xfrm>
          <a:prstGeom prst="rect">
            <a:avLst/>
          </a:prstGeom>
          <a:noFill/>
          <a:ln/>
        </p:spPr>
        <p:txBody>
          <a:bodyPr wrap="square" lIns="0" tIns="0" rIns="0" bIns="0" rtlCol="0" anchor="t"/>
          <a:lstStyle/>
          <a:p>
            <a:pPr indent="0" marL="0">
              <a:buNone/>
            </a:pPr>
            <a:r>
              <a:rPr lang="en-US" sz="1200" dirty="0">
                <a:solidFill>
                  <a:srgbClr val="5B6575"/>
                </a:solidFill>
              </a:rPr>
              <a:t>Facultatea de Electronică, Telecomunicații și Tehnologii Informaționale, UPT</a:t>
            </a:r>
            <a:endParaRPr lang="en-US" sz="1200" dirty="0"/>
          </a:p>
          <a:p>
            <a:pPr indent="0" marL="0">
              <a:buNone/>
            </a:pPr>
            <a:r>
              <a:rPr lang="en-US" sz="1200" dirty="0">
                <a:solidFill>
                  <a:srgbClr val="5B6575"/>
                </a:solidFill>
              </a:rPr>
              <a:t>Studiu de caz: nodul CAN (MCP2551) al unui radar frontal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600" b="1" dirty="0">
                <a:solidFill>
                  <a:srgbClr val="0B6E69"/>
                </a:solidFill>
              </a:rPr>
              <a:t>Ce discutăm azi</a:t>
            </a:r>
            <a:endParaRPr lang="en-US" sz="2600" dirty="0"/>
          </a:p>
        </p:txBody>
      </p:sp>
      <p:sp>
        <p:nvSpPr>
          <p:cNvPr id="3" name="Shape 1"/>
          <p:cNvSpPr/>
          <p:nvPr/>
        </p:nvSpPr>
        <p:spPr>
          <a:xfrm>
            <a:off x="457200" y="1124712"/>
            <a:ext cx="384048" cy="384048"/>
          </a:xfrm>
          <a:prstGeom prst="ellipse">
            <a:avLst/>
          </a:prstGeom>
          <a:solidFill>
            <a:srgbClr val="0B6E69"/>
          </a:solidFill>
          <a:ln w="12700">
            <a:solidFill>
              <a:srgbClr val="0B6E69"/>
            </a:solidFill>
            <a:prstDash val="solid"/>
          </a:ln>
        </p:spPr>
      </p:sp>
      <p:sp>
        <p:nvSpPr>
          <p:cNvPr id="4" name="Text 2"/>
          <p:cNvSpPr txBox="1"/>
          <p:nvPr/>
        </p:nvSpPr>
        <p:spPr>
          <a:xfrm>
            <a:off x="457200" y="11247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5" name="Text 3"/>
          <p:cNvSpPr txBox="1"/>
          <p:nvPr/>
        </p:nvSpPr>
        <p:spPr>
          <a:xfrm>
            <a:off x="960120" y="1051560"/>
            <a:ext cx="3520440" cy="749808"/>
          </a:xfrm>
          <a:prstGeom prst="rect">
            <a:avLst/>
          </a:prstGeom>
          <a:noFill/>
          <a:ln/>
        </p:spPr>
        <p:txBody>
          <a:bodyPr wrap="square" lIns="254" tIns="254" rIns="254" bIns="254" rtlCol="0" anchor="t"/>
          <a:lstStyle/>
          <a:p>
            <a:pPr indent="0" marL="0">
              <a:buNone/>
            </a:pPr>
            <a:r>
              <a:rPr lang="en-US" sz="1500" b="1" dirty="0">
                <a:solidFill>
                  <a:srgbClr val="1F2A37"/>
                </a:solidFill>
              </a:rPr>
              <a:t>De ce testăm în producție</a:t>
            </a:r>
            <a:endParaRPr lang="en-US" sz="1500" dirty="0"/>
          </a:p>
          <a:p>
            <a:pPr indent="0" marL="0">
              <a:buNone/>
            </a:pPr>
            <a:r>
              <a:rPr lang="en-US" sz="1200" dirty="0">
                <a:solidFill>
                  <a:srgbClr val="5B6575"/>
                </a:solidFill>
              </a:rPr>
              <a:t>de la linia SMT la client</a:t>
            </a:r>
            <a:endParaRPr lang="en-US" sz="1500" dirty="0"/>
          </a:p>
        </p:txBody>
      </p:sp>
      <p:sp>
        <p:nvSpPr>
          <p:cNvPr id="6" name="Shape 4"/>
          <p:cNvSpPr/>
          <p:nvPr/>
        </p:nvSpPr>
        <p:spPr>
          <a:xfrm>
            <a:off x="4663440" y="1124712"/>
            <a:ext cx="384048" cy="384048"/>
          </a:xfrm>
          <a:prstGeom prst="ellipse">
            <a:avLst/>
          </a:prstGeom>
          <a:solidFill>
            <a:srgbClr val="3B82C4"/>
          </a:solidFill>
          <a:ln w="12700">
            <a:solidFill>
              <a:srgbClr val="3B82C4"/>
            </a:solidFill>
            <a:prstDash val="solid"/>
          </a:ln>
        </p:spPr>
      </p:sp>
      <p:sp>
        <p:nvSpPr>
          <p:cNvPr id="7" name="Text 5"/>
          <p:cNvSpPr txBox="1"/>
          <p:nvPr/>
        </p:nvSpPr>
        <p:spPr>
          <a:xfrm>
            <a:off x="4663440" y="11247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8" name="Text 6"/>
          <p:cNvSpPr txBox="1"/>
          <p:nvPr/>
        </p:nvSpPr>
        <p:spPr>
          <a:xfrm>
            <a:off x="5166360" y="1051560"/>
            <a:ext cx="3520440" cy="749808"/>
          </a:xfrm>
          <a:prstGeom prst="rect">
            <a:avLst/>
          </a:prstGeom>
          <a:noFill/>
          <a:ln/>
        </p:spPr>
        <p:txBody>
          <a:bodyPr wrap="square" lIns="254" tIns="254" rIns="254" bIns="254" rtlCol="0" anchor="t"/>
          <a:lstStyle/>
          <a:p>
            <a:pPr indent="0" marL="0">
              <a:buNone/>
            </a:pPr>
            <a:r>
              <a:rPr lang="en-US" sz="1500" b="1" dirty="0">
                <a:solidFill>
                  <a:srgbClr val="1F2A37"/>
                </a:solidFill>
              </a:rPr>
              <a:t>Ce este analiza acoperirii testelor</a:t>
            </a:r>
            <a:endParaRPr lang="en-US" sz="1500" dirty="0"/>
          </a:p>
          <a:p>
            <a:pPr indent="0" marL="0">
              <a:buNone/>
            </a:pPr>
            <a:r>
              <a:rPr lang="en-US" sz="1200" dirty="0">
                <a:solidFill>
                  <a:srgbClr val="5B6575"/>
                </a:solidFill>
              </a:rPr>
              <a:t>ce dovedește un test trecut</a:t>
            </a:r>
            <a:endParaRPr lang="en-US" sz="1500" dirty="0"/>
          </a:p>
        </p:txBody>
      </p:sp>
      <p:sp>
        <p:nvSpPr>
          <p:cNvPr id="9" name="Shape 7"/>
          <p:cNvSpPr/>
          <p:nvPr/>
        </p:nvSpPr>
        <p:spPr>
          <a:xfrm>
            <a:off x="457200" y="1965960"/>
            <a:ext cx="384048" cy="384048"/>
          </a:xfrm>
          <a:prstGeom prst="ellipse">
            <a:avLst/>
          </a:prstGeom>
          <a:solidFill>
            <a:srgbClr val="0B6E69"/>
          </a:solidFill>
          <a:ln w="12700">
            <a:solidFill>
              <a:srgbClr val="0B6E69"/>
            </a:solidFill>
            <a:prstDash val="solid"/>
          </a:ln>
        </p:spPr>
      </p:sp>
      <p:sp>
        <p:nvSpPr>
          <p:cNvPr id="10" name="Text 8"/>
          <p:cNvSpPr txBox="1"/>
          <p:nvPr/>
        </p:nvSpPr>
        <p:spPr>
          <a:xfrm>
            <a:off x="457200" y="1965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1" name="Text 9"/>
          <p:cNvSpPr txBox="1"/>
          <p:nvPr/>
        </p:nvSpPr>
        <p:spPr>
          <a:xfrm>
            <a:off x="960120" y="1892808"/>
            <a:ext cx="3520440" cy="749808"/>
          </a:xfrm>
          <a:prstGeom prst="rect">
            <a:avLst/>
          </a:prstGeom>
          <a:noFill/>
          <a:ln/>
        </p:spPr>
        <p:txBody>
          <a:bodyPr wrap="square" lIns="254" tIns="254" rIns="254" bIns="254" rtlCol="0" anchor="t"/>
          <a:lstStyle/>
          <a:p>
            <a:pPr indent="0" marL="0">
              <a:buNone/>
            </a:pPr>
            <a:r>
              <a:rPr lang="en-US" sz="1500" b="1" dirty="0">
                <a:solidFill>
                  <a:srgbClr val="1F2A37"/>
                </a:solidFill>
              </a:rPr>
              <a:t>PCOLA/SOQ/FAM și metodele de test</a:t>
            </a:r>
            <a:endParaRPr lang="en-US" sz="1500" dirty="0"/>
          </a:p>
          <a:p>
            <a:pPr indent="0" marL="0">
              <a:buNone/>
            </a:pPr>
            <a:r>
              <a:rPr lang="en-US" sz="1200" dirty="0">
                <a:solidFill>
                  <a:srgbClr val="5B6575"/>
                </a:solidFill>
              </a:rPr>
              <a:t>AOI, AXI, ICT, boundary scan, FT</a:t>
            </a:r>
            <a:endParaRPr lang="en-US" sz="1500" dirty="0"/>
          </a:p>
        </p:txBody>
      </p:sp>
      <p:sp>
        <p:nvSpPr>
          <p:cNvPr id="12" name="Shape 10"/>
          <p:cNvSpPr/>
          <p:nvPr/>
        </p:nvSpPr>
        <p:spPr>
          <a:xfrm>
            <a:off x="4663440" y="1965960"/>
            <a:ext cx="384048" cy="384048"/>
          </a:xfrm>
          <a:prstGeom prst="ellipse">
            <a:avLst/>
          </a:prstGeom>
          <a:solidFill>
            <a:srgbClr val="3B82C4"/>
          </a:solidFill>
          <a:ln w="12700">
            <a:solidFill>
              <a:srgbClr val="3B82C4"/>
            </a:solidFill>
            <a:prstDash val="solid"/>
          </a:ln>
        </p:spPr>
      </p:sp>
      <p:sp>
        <p:nvSpPr>
          <p:cNvPr id="13" name="Text 11"/>
          <p:cNvSpPr txBox="1"/>
          <p:nvPr/>
        </p:nvSpPr>
        <p:spPr>
          <a:xfrm>
            <a:off x="4663440" y="1965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4" name="Text 12"/>
          <p:cNvSpPr txBox="1"/>
          <p:nvPr/>
        </p:nvSpPr>
        <p:spPr>
          <a:xfrm>
            <a:off x="5166360" y="1892808"/>
            <a:ext cx="3520440" cy="749808"/>
          </a:xfrm>
          <a:prstGeom prst="rect">
            <a:avLst/>
          </a:prstGeom>
          <a:noFill/>
          <a:ln/>
        </p:spPr>
        <p:txBody>
          <a:bodyPr wrap="square" lIns="254" tIns="254" rIns="254" bIns="254" rtlCol="0" anchor="t"/>
          <a:lstStyle/>
          <a:p>
            <a:pPr indent="0" marL="0">
              <a:buNone/>
            </a:pPr>
            <a:r>
              <a:rPr lang="en-US" sz="1500" b="1" dirty="0">
                <a:solidFill>
                  <a:srgbClr val="1F2A37"/>
                </a:solidFill>
              </a:rPr>
              <a:t>Risc: analiză și evaluare</a:t>
            </a:r>
            <a:endParaRPr lang="en-US" sz="1500" dirty="0"/>
          </a:p>
          <a:p>
            <a:pPr indent="0" marL="0">
              <a:buNone/>
            </a:pPr>
            <a:r>
              <a:rPr lang="en-US" sz="1200" dirty="0">
                <a:solidFill>
                  <a:srgbClr val="5B6575"/>
                </a:solidFill>
              </a:rPr>
              <a:t>S, O, D și prioritatea de acțiune</a:t>
            </a:r>
            <a:endParaRPr lang="en-US" sz="1500" dirty="0"/>
          </a:p>
        </p:txBody>
      </p:sp>
      <p:sp>
        <p:nvSpPr>
          <p:cNvPr id="15" name="Shape 13"/>
          <p:cNvSpPr/>
          <p:nvPr/>
        </p:nvSpPr>
        <p:spPr>
          <a:xfrm>
            <a:off x="457200" y="2807208"/>
            <a:ext cx="384048" cy="384048"/>
          </a:xfrm>
          <a:prstGeom prst="ellipse">
            <a:avLst/>
          </a:prstGeom>
          <a:solidFill>
            <a:srgbClr val="0B6E69"/>
          </a:solidFill>
          <a:ln w="12700">
            <a:solidFill>
              <a:srgbClr val="0B6E69"/>
            </a:solidFill>
            <a:prstDash val="solid"/>
          </a:ln>
        </p:spPr>
      </p:sp>
      <p:sp>
        <p:nvSpPr>
          <p:cNvPr id="16" name="Text 14"/>
          <p:cNvSpPr txBox="1"/>
          <p:nvPr/>
        </p:nvSpPr>
        <p:spPr>
          <a:xfrm>
            <a:off x="457200" y="28072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17" name="Text 15"/>
          <p:cNvSpPr txBox="1"/>
          <p:nvPr/>
        </p:nvSpPr>
        <p:spPr>
          <a:xfrm>
            <a:off x="960120" y="2734056"/>
            <a:ext cx="3520440" cy="749808"/>
          </a:xfrm>
          <a:prstGeom prst="rect">
            <a:avLst/>
          </a:prstGeom>
          <a:noFill/>
          <a:ln/>
        </p:spPr>
        <p:txBody>
          <a:bodyPr wrap="square" lIns="254" tIns="254" rIns="254" bIns="254" rtlCol="0" anchor="t"/>
          <a:lstStyle/>
          <a:p>
            <a:pPr indent="0" marL="0">
              <a:buNone/>
            </a:pPr>
            <a:r>
              <a:rPr lang="en-US" sz="1500" b="1" dirty="0">
                <a:solidFill>
                  <a:srgbClr val="1F2A37"/>
                </a:solidFill>
              </a:rPr>
              <a:t>Standarde și legi</a:t>
            </a:r>
            <a:endParaRPr lang="en-US" sz="1500" dirty="0"/>
          </a:p>
          <a:p>
            <a:pPr indent="0" marL="0">
              <a:buNone/>
            </a:pPr>
            <a:r>
              <a:rPr lang="en-US" sz="1200" dirty="0">
                <a:solidFill>
                  <a:srgbClr val="5B6575"/>
                </a:solidFill>
              </a:rPr>
              <a:t>AIAG-VDA, ISO 26262, IATF 16949, IPC, UE</a:t>
            </a:r>
            <a:endParaRPr lang="en-US" sz="1500" dirty="0"/>
          </a:p>
        </p:txBody>
      </p:sp>
      <p:sp>
        <p:nvSpPr>
          <p:cNvPr id="18" name="Shape 16"/>
          <p:cNvSpPr/>
          <p:nvPr/>
        </p:nvSpPr>
        <p:spPr>
          <a:xfrm>
            <a:off x="4663440" y="2807208"/>
            <a:ext cx="384048" cy="384048"/>
          </a:xfrm>
          <a:prstGeom prst="ellipse">
            <a:avLst/>
          </a:prstGeom>
          <a:solidFill>
            <a:srgbClr val="3B82C4"/>
          </a:solidFill>
          <a:ln w="12700">
            <a:solidFill>
              <a:srgbClr val="3B82C4"/>
            </a:solidFill>
            <a:prstDash val="solid"/>
          </a:ln>
        </p:spPr>
      </p:sp>
      <p:sp>
        <p:nvSpPr>
          <p:cNvPr id="19" name="Text 17"/>
          <p:cNvSpPr txBox="1"/>
          <p:nvPr/>
        </p:nvSpPr>
        <p:spPr>
          <a:xfrm>
            <a:off x="4663440" y="28072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20" name="Text 18"/>
          <p:cNvSpPr txBox="1"/>
          <p:nvPr/>
        </p:nvSpPr>
        <p:spPr>
          <a:xfrm>
            <a:off x="5166360" y="2734056"/>
            <a:ext cx="3520440" cy="749808"/>
          </a:xfrm>
          <a:prstGeom prst="rect">
            <a:avLst/>
          </a:prstGeom>
          <a:noFill/>
          <a:ln/>
        </p:spPr>
        <p:txBody>
          <a:bodyPr wrap="square" lIns="254" tIns="254" rIns="254" bIns="254" rtlCol="0" anchor="t"/>
          <a:lstStyle/>
          <a:p>
            <a:pPr indent="0" marL="0">
              <a:buNone/>
            </a:pPr>
            <a:r>
              <a:rPr lang="en-US" sz="1500" b="1" dirty="0">
                <a:solidFill>
                  <a:srgbClr val="1F2A37"/>
                </a:solidFill>
              </a:rPr>
              <a:t>Consecințe reale</a:t>
            </a:r>
            <a:endParaRPr lang="en-US" sz="1500" dirty="0"/>
          </a:p>
          <a:p>
            <a:pPr indent="0" marL="0">
              <a:buNone/>
            </a:pPr>
            <a:r>
              <a:rPr lang="en-US" sz="1200" dirty="0">
                <a:solidFill>
                  <a:srgbClr val="5B6575"/>
                </a:solidFill>
              </a:rPr>
              <a:t>rechemări documentate de NHTSA</a:t>
            </a:r>
            <a:endParaRPr lang="en-US" sz="1500" dirty="0"/>
          </a:p>
        </p:txBody>
      </p:sp>
      <p:sp>
        <p:nvSpPr>
          <p:cNvPr id="21" name="Shape 19"/>
          <p:cNvSpPr/>
          <p:nvPr/>
        </p:nvSpPr>
        <p:spPr>
          <a:xfrm>
            <a:off x="457200" y="3648456"/>
            <a:ext cx="384048" cy="384048"/>
          </a:xfrm>
          <a:prstGeom prst="ellipse">
            <a:avLst/>
          </a:prstGeom>
          <a:solidFill>
            <a:srgbClr val="0B6E69"/>
          </a:solidFill>
          <a:ln w="12700">
            <a:solidFill>
              <a:srgbClr val="0B6E69"/>
            </a:solidFill>
            <a:prstDash val="solid"/>
          </a:ln>
        </p:spPr>
      </p:sp>
      <p:sp>
        <p:nvSpPr>
          <p:cNvPr id="22" name="Text 20"/>
          <p:cNvSpPr txBox="1"/>
          <p:nvPr/>
        </p:nvSpPr>
        <p:spPr>
          <a:xfrm>
            <a:off x="457200" y="36484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7</a:t>
            </a:r>
            <a:endParaRPr lang="en-US" sz="1300" dirty="0"/>
          </a:p>
        </p:txBody>
      </p:sp>
      <p:sp>
        <p:nvSpPr>
          <p:cNvPr id="23" name="Text 21"/>
          <p:cNvSpPr txBox="1"/>
          <p:nvPr/>
        </p:nvSpPr>
        <p:spPr>
          <a:xfrm>
            <a:off x="960120" y="3575304"/>
            <a:ext cx="3520440" cy="749808"/>
          </a:xfrm>
          <a:prstGeom prst="rect">
            <a:avLst/>
          </a:prstGeom>
          <a:noFill/>
          <a:ln/>
        </p:spPr>
        <p:txBody>
          <a:bodyPr wrap="square" lIns="254" tIns="254" rIns="254" bIns="254" rtlCol="0" anchor="t"/>
          <a:lstStyle/>
          <a:p>
            <a:pPr indent="0" marL="0">
              <a:buNone/>
            </a:pPr>
            <a:r>
              <a:rPr lang="en-US" sz="1500" b="1" dirty="0">
                <a:solidFill>
                  <a:srgbClr val="1F2A37"/>
                </a:solidFill>
              </a:rPr>
              <a:t>Alte industrii</a:t>
            </a:r>
            <a:endParaRPr lang="en-US" sz="1500" dirty="0"/>
          </a:p>
          <a:p>
            <a:pPr indent="0" marL="0">
              <a:buNone/>
            </a:pPr>
            <a:r>
              <a:rPr lang="en-US" sz="1200" dirty="0">
                <a:solidFill>
                  <a:srgbClr val="5B6575"/>
                </a:solidFill>
              </a:rPr>
              <a:t>aeronautică, medical, feroviar, telecom</a:t>
            </a:r>
            <a:endParaRPr lang="en-US" sz="1500" dirty="0"/>
          </a:p>
        </p:txBody>
      </p:sp>
      <p:sp>
        <p:nvSpPr>
          <p:cNvPr id="24" name="Shape 22"/>
          <p:cNvSpPr/>
          <p:nvPr/>
        </p:nvSpPr>
        <p:spPr>
          <a:xfrm>
            <a:off x="4663440" y="3648456"/>
            <a:ext cx="384048" cy="384048"/>
          </a:xfrm>
          <a:prstGeom prst="ellipse">
            <a:avLst/>
          </a:prstGeom>
          <a:solidFill>
            <a:srgbClr val="3B82C4"/>
          </a:solidFill>
          <a:ln w="12700">
            <a:solidFill>
              <a:srgbClr val="3B82C4"/>
            </a:solidFill>
            <a:prstDash val="solid"/>
          </a:ln>
        </p:spPr>
      </p:sp>
      <p:sp>
        <p:nvSpPr>
          <p:cNvPr id="25" name="Text 23"/>
          <p:cNvSpPr txBox="1"/>
          <p:nvPr/>
        </p:nvSpPr>
        <p:spPr>
          <a:xfrm>
            <a:off x="4663440" y="36484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8</a:t>
            </a:r>
            <a:endParaRPr lang="en-US" sz="1300" dirty="0"/>
          </a:p>
        </p:txBody>
      </p:sp>
      <p:sp>
        <p:nvSpPr>
          <p:cNvPr id="26" name="Text 24"/>
          <p:cNvSpPr txBox="1"/>
          <p:nvPr/>
        </p:nvSpPr>
        <p:spPr>
          <a:xfrm>
            <a:off x="5166360" y="3575304"/>
            <a:ext cx="3520440" cy="749808"/>
          </a:xfrm>
          <a:prstGeom prst="rect">
            <a:avLst/>
          </a:prstGeom>
          <a:noFill/>
          <a:ln/>
        </p:spPr>
        <p:txBody>
          <a:bodyPr wrap="square" lIns="254" tIns="254" rIns="254" bIns="254" rtlCol="0" anchor="t"/>
          <a:lstStyle/>
          <a:p>
            <a:pPr indent="0" marL="0">
              <a:buNone/>
            </a:pPr>
            <a:r>
              <a:rPr lang="en-US" sz="1500" b="1" dirty="0">
                <a:solidFill>
                  <a:srgbClr val="1F2A37"/>
                </a:solidFill>
              </a:rPr>
              <a:t>Laboratorul de azi și carierele</a:t>
            </a:r>
            <a:endParaRPr lang="en-US" sz="1500" dirty="0"/>
          </a:p>
          <a:p>
            <a:pPr indent="0" marL="0">
              <a:buNone/>
            </a:pPr>
            <a:r>
              <a:rPr lang="en-US" sz="1200" dirty="0">
                <a:solidFill>
                  <a:srgbClr val="5B6575"/>
                </a:solidFill>
              </a:rPr>
              <a:t>metoda pas cu pas</a:t>
            </a:r>
            <a:endParaRPr lang="en-US" sz="15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600" b="1" dirty="0">
                <a:solidFill>
                  <a:srgbClr val="0B6E69"/>
                </a:solidFill>
              </a:rPr>
              <a:t>De la linia de asamblare la client</a:t>
            </a:r>
            <a:endParaRPr lang="en-US" sz="2600" dirty="0"/>
          </a:p>
        </p:txBody>
      </p:sp>
      <p:sp>
        <p:nvSpPr>
          <p:cNvPr id="3" name="Shape 1"/>
          <p:cNvSpPr/>
          <p:nvPr/>
        </p:nvSpPr>
        <p:spPr>
          <a:xfrm>
            <a:off x="457200" y="1051560"/>
            <a:ext cx="1558138" cy="1417320"/>
          </a:xfrm>
          <a:prstGeom prst="roundRect">
            <a:avLst>
              <a:gd name="adj" fmla="val 6452"/>
            </a:avLst>
          </a:prstGeom>
          <a:solidFill>
            <a:srgbClr val="E3F4F1"/>
          </a:solidFill>
          <a:ln w="6350">
            <a:solidFill>
              <a:srgbClr val="E3F4F1"/>
            </a:solidFill>
            <a:prstDash val="solid"/>
          </a:ln>
        </p:spPr>
      </p:sp>
      <p:sp>
        <p:nvSpPr>
          <p:cNvPr id="4" name="Text 2"/>
          <p:cNvSpPr txBox="1"/>
          <p:nvPr/>
        </p:nvSpPr>
        <p:spPr>
          <a:xfrm>
            <a:off x="566928" y="1124712"/>
            <a:ext cx="1338682" cy="1271016"/>
          </a:xfrm>
          <a:prstGeom prst="rect">
            <a:avLst/>
          </a:prstGeom>
          <a:noFill/>
          <a:ln/>
        </p:spPr>
        <p:txBody>
          <a:bodyPr wrap="square" lIns="254" tIns="254" rIns="254" bIns="254" rtlCol="0" anchor="t"/>
          <a:lstStyle/>
          <a:p>
            <a:pPr indent="0" marL="0">
              <a:spcAft>
                <a:spcPts val="300"/>
              </a:spcAft>
              <a:buNone/>
            </a:pPr>
            <a:r>
              <a:rPr lang="en-US" sz="1300" b="1" dirty="0">
                <a:solidFill>
                  <a:srgbClr val="0B6E69"/>
                </a:solidFill>
              </a:rPr>
              <a:t>Asamblare</a:t>
            </a:r>
            <a:endParaRPr lang="en-US" sz="1300" dirty="0"/>
          </a:p>
          <a:p>
            <a:pPr indent="0" marL="0">
              <a:spcAft>
                <a:spcPts val="300"/>
              </a:spcAft>
              <a:buNone/>
            </a:pPr>
            <a:r>
              <a:rPr lang="en-US" sz="1200" dirty="0">
                <a:solidFill>
                  <a:srgbClr val="1F2A37"/>
                </a:solidFill>
              </a:rPr>
              <a:t>pastă, plantare SMT, reflow, THT</a:t>
            </a:r>
            <a:endParaRPr lang="en-US" sz="1300" dirty="0"/>
          </a:p>
        </p:txBody>
      </p:sp>
      <p:sp>
        <p:nvSpPr>
          <p:cNvPr id="5" name="Text 3"/>
          <p:cNvSpPr txBox="1"/>
          <p:nvPr/>
        </p:nvSpPr>
        <p:spPr>
          <a:xfrm>
            <a:off x="1997050" y="1554480"/>
            <a:ext cx="146304" cy="365760"/>
          </a:xfrm>
          <a:prstGeom prst="rect">
            <a:avLst/>
          </a:prstGeom>
          <a:noFill/>
          <a:ln/>
        </p:spPr>
        <p:txBody>
          <a:bodyPr wrap="square" lIns="0" tIns="0" rIns="0" bIns="0" rtlCol="0" anchor="ctr"/>
          <a:lstStyle/>
          <a:p>
            <a:pPr algn="ctr" indent="0" marL="0">
              <a:buNone/>
            </a:pPr>
            <a:r>
              <a:rPr lang="en-US" sz="2000" dirty="0">
                <a:solidFill>
                  <a:srgbClr val="5B6575"/>
                </a:solidFill>
              </a:rPr>
              <a:t>›</a:t>
            </a:r>
            <a:endParaRPr lang="en-US" sz="2000" dirty="0"/>
          </a:p>
        </p:txBody>
      </p:sp>
      <p:sp>
        <p:nvSpPr>
          <p:cNvPr id="6" name="Shape 4"/>
          <p:cNvSpPr/>
          <p:nvPr/>
        </p:nvSpPr>
        <p:spPr>
          <a:xfrm>
            <a:off x="2125066" y="1051560"/>
            <a:ext cx="1558138" cy="1417320"/>
          </a:xfrm>
          <a:prstGeom prst="roundRect">
            <a:avLst>
              <a:gd name="adj" fmla="val 6452"/>
            </a:avLst>
          </a:prstGeom>
          <a:solidFill>
            <a:srgbClr val="FFF4DE"/>
          </a:solidFill>
          <a:ln w="6350">
            <a:solidFill>
              <a:srgbClr val="FFF4DE"/>
            </a:solidFill>
            <a:prstDash val="solid"/>
          </a:ln>
        </p:spPr>
      </p:sp>
      <p:sp>
        <p:nvSpPr>
          <p:cNvPr id="7" name="Text 5"/>
          <p:cNvSpPr txBox="1"/>
          <p:nvPr/>
        </p:nvSpPr>
        <p:spPr>
          <a:xfrm>
            <a:off x="2234794" y="1124712"/>
            <a:ext cx="1338682" cy="1271016"/>
          </a:xfrm>
          <a:prstGeom prst="rect">
            <a:avLst/>
          </a:prstGeom>
          <a:noFill/>
          <a:ln/>
        </p:spPr>
        <p:txBody>
          <a:bodyPr wrap="square" lIns="254" tIns="254" rIns="254" bIns="254" rtlCol="0" anchor="t"/>
          <a:lstStyle/>
          <a:p>
            <a:pPr indent="0" marL="0">
              <a:spcAft>
                <a:spcPts val="300"/>
              </a:spcAft>
              <a:buNone/>
            </a:pPr>
            <a:r>
              <a:rPr lang="en-US" sz="1300" b="1" dirty="0">
                <a:solidFill>
                  <a:srgbClr val="0B6E69"/>
                </a:solidFill>
              </a:rPr>
              <a:t>AOI / AXI</a:t>
            </a:r>
            <a:endParaRPr lang="en-US" sz="1300" dirty="0"/>
          </a:p>
          <a:p>
            <a:pPr indent="0" marL="0">
              <a:spcAft>
                <a:spcPts val="300"/>
              </a:spcAft>
              <a:buNone/>
            </a:pPr>
            <a:r>
              <a:rPr lang="en-US" sz="1200" dirty="0">
                <a:solidFill>
                  <a:srgbClr val="1F2A37"/>
                </a:solidFill>
              </a:rPr>
              <a:t>inspecție optică și cu raze X</a:t>
            </a:r>
            <a:endParaRPr lang="en-US" sz="1300" dirty="0"/>
          </a:p>
        </p:txBody>
      </p:sp>
      <p:sp>
        <p:nvSpPr>
          <p:cNvPr id="8" name="Text 6"/>
          <p:cNvSpPr txBox="1"/>
          <p:nvPr/>
        </p:nvSpPr>
        <p:spPr>
          <a:xfrm>
            <a:off x="3664915" y="1554480"/>
            <a:ext cx="146304" cy="365760"/>
          </a:xfrm>
          <a:prstGeom prst="rect">
            <a:avLst/>
          </a:prstGeom>
          <a:noFill/>
          <a:ln/>
        </p:spPr>
        <p:txBody>
          <a:bodyPr wrap="square" lIns="0" tIns="0" rIns="0" bIns="0" rtlCol="0" anchor="ctr"/>
          <a:lstStyle/>
          <a:p>
            <a:pPr algn="ctr" indent="0" marL="0">
              <a:buNone/>
            </a:pPr>
            <a:r>
              <a:rPr lang="en-US" sz="2000" dirty="0">
                <a:solidFill>
                  <a:srgbClr val="5B6575"/>
                </a:solidFill>
              </a:rPr>
              <a:t>›</a:t>
            </a:r>
            <a:endParaRPr lang="en-US" sz="2000" dirty="0"/>
          </a:p>
        </p:txBody>
      </p:sp>
      <p:sp>
        <p:nvSpPr>
          <p:cNvPr id="9" name="Shape 7"/>
          <p:cNvSpPr/>
          <p:nvPr/>
        </p:nvSpPr>
        <p:spPr>
          <a:xfrm>
            <a:off x="3792931" y="1051560"/>
            <a:ext cx="1558138" cy="1417320"/>
          </a:xfrm>
          <a:prstGeom prst="roundRect">
            <a:avLst>
              <a:gd name="adj" fmla="val 6452"/>
            </a:avLst>
          </a:prstGeom>
          <a:solidFill>
            <a:srgbClr val="FFF4DE"/>
          </a:solidFill>
          <a:ln w="6350">
            <a:solidFill>
              <a:srgbClr val="FFF4DE"/>
            </a:solidFill>
            <a:prstDash val="solid"/>
          </a:ln>
        </p:spPr>
      </p:sp>
      <p:sp>
        <p:nvSpPr>
          <p:cNvPr id="10" name="Text 8"/>
          <p:cNvSpPr txBox="1"/>
          <p:nvPr/>
        </p:nvSpPr>
        <p:spPr>
          <a:xfrm>
            <a:off x="3902659" y="1124712"/>
            <a:ext cx="1338682" cy="1271016"/>
          </a:xfrm>
          <a:prstGeom prst="rect">
            <a:avLst/>
          </a:prstGeom>
          <a:noFill/>
          <a:ln/>
        </p:spPr>
        <p:txBody>
          <a:bodyPr wrap="square" lIns="254" tIns="254" rIns="254" bIns="254" rtlCol="0" anchor="t"/>
          <a:lstStyle/>
          <a:p>
            <a:pPr indent="0" marL="0">
              <a:spcAft>
                <a:spcPts val="300"/>
              </a:spcAft>
              <a:buNone/>
            </a:pPr>
            <a:r>
              <a:rPr lang="en-US" sz="1300" b="1" dirty="0">
                <a:solidFill>
                  <a:srgbClr val="0B6E69"/>
                </a:solidFill>
              </a:rPr>
              <a:t>ICT</a:t>
            </a:r>
            <a:endParaRPr lang="en-US" sz="1300" dirty="0"/>
          </a:p>
          <a:p>
            <a:pPr indent="0" marL="0">
              <a:spcAft>
                <a:spcPts val="300"/>
              </a:spcAft>
              <a:buNone/>
            </a:pPr>
            <a:r>
              <a:rPr lang="en-US" sz="1200" dirty="0">
                <a:solidFill>
                  <a:srgbClr val="1F2A37"/>
                </a:solidFill>
              </a:rPr>
              <a:t>test în circuit, ace pe test point-uri</a:t>
            </a:r>
            <a:endParaRPr lang="en-US" sz="1300" dirty="0"/>
          </a:p>
        </p:txBody>
      </p:sp>
      <p:sp>
        <p:nvSpPr>
          <p:cNvPr id="11" name="Text 9"/>
          <p:cNvSpPr txBox="1"/>
          <p:nvPr/>
        </p:nvSpPr>
        <p:spPr>
          <a:xfrm>
            <a:off x="5332781" y="1554480"/>
            <a:ext cx="146304" cy="365760"/>
          </a:xfrm>
          <a:prstGeom prst="rect">
            <a:avLst/>
          </a:prstGeom>
          <a:noFill/>
          <a:ln/>
        </p:spPr>
        <p:txBody>
          <a:bodyPr wrap="square" lIns="0" tIns="0" rIns="0" bIns="0" rtlCol="0" anchor="ctr"/>
          <a:lstStyle/>
          <a:p>
            <a:pPr algn="ctr" indent="0" marL="0">
              <a:buNone/>
            </a:pPr>
            <a:r>
              <a:rPr lang="en-US" sz="2000" dirty="0">
                <a:solidFill>
                  <a:srgbClr val="5B6575"/>
                </a:solidFill>
              </a:rPr>
              <a:t>›</a:t>
            </a:r>
            <a:endParaRPr lang="en-US" sz="2000" dirty="0"/>
          </a:p>
        </p:txBody>
      </p:sp>
      <p:sp>
        <p:nvSpPr>
          <p:cNvPr id="12" name="Shape 10"/>
          <p:cNvSpPr/>
          <p:nvPr/>
        </p:nvSpPr>
        <p:spPr>
          <a:xfrm>
            <a:off x="5460797" y="1051560"/>
            <a:ext cx="1558138" cy="1417320"/>
          </a:xfrm>
          <a:prstGeom prst="roundRect">
            <a:avLst>
              <a:gd name="adj" fmla="val 6452"/>
            </a:avLst>
          </a:prstGeom>
          <a:solidFill>
            <a:srgbClr val="FFF4DE"/>
          </a:solidFill>
          <a:ln w="6350">
            <a:solidFill>
              <a:srgbClr val="FFF4DE"/>
            </a:solidFill>
            <a:prstDash val="solid"/>
          </a:ln>
        </p:spPr>
      </p:sp>
      <p:sp>
        <p:nvSpPr>
          <p:cNvPr id="13" name="Text 11"/>
          <p:cNvSpPr txBox="1"/>
          <p:nvPr/>
        </p:nvSpPr>
        <p:spPr>
          <a:xfrm>
            <a:off x="5570525" y="1124712"/>
            <a:ext cx="1338682" cy="1271016"/>
          </a:xfrm>
          <a:prstGeom prst="rect">
            <a:avLst/>
          </a:prstGeom>
          <a:noFill/>
          <a:ln/>
        </p:spPr>
        <p:txBody>
          <a:bodyPr wrap="square" lIns="254" tIns="254" rIns="254" bIns="254" rtlCol="0" anchor="t"/>
          <a:lstStyle/>
          <a:p>
            <a:pPr indent="0" marL="0">
              <a:spcAft>
                <a:spcPts val="300"/>
              </a:spcAft>
              <a:buNone/>
            </a:pPr>
            <a:r>
              <a:rPr lang="en-US" sz="1300" b="1" dirty="0">
                <a:solidFill>
                  <a:srgbClr val="0B6E69"/>
                </a:solidFill>
              </a:rPr>
              <a:t>FT</a:t>
            </a:r>
            <a:endParaRPr lang="en-US" sz="1300" dirty="0"/>
          </a:p>
          <a:p>
            <a:pPr indent="0" marL="0">
              <a:spcAft>
                <a:spcPts val="300"/>
              </a:spcAft>
              <a:buNone/>
            </a:pPr>
            <a:r>
              <a:rPr lang="en-US" sz="1200" dirty="0">
                <a:solidFill>
                  <a:srgbClr val="1F2A37"/>
                </a:solidFill>
              </a:rPr>
              <a:t>test funcțional prin conectori</a:t>
            </a:r>
            <a:endParaRPr lang="en-US" sz="1300" dirty="0"/>
          </a:p>
        </p:txBody>
      </p:sp>
      <p:sp>
        <p:nvSpPr>
          <p:cNvPr id="14" name="Text 12"/>
          <p:cNvSpPr txBox="1"/>
          <p:nvPr/>
        </p:nvSpPr>
        <p:spPr>
          <a:xfrm>
            <a:off x="7000646" y="1554480"/>
            <a:ext cx="146304" cy="365760"/>
          </a:xfrm>
          <a:prstGeom prst="rect">
            <a:avLst/>
          </a:prstGeom>
          <a:noFill/>
          <a:ln/>
        </p:spPr>
        <p:txBody>
          <a:bodyPr wrap="square" lIns="0" tIns="0" rIns="0" bIns="0" rtlCol="0" anchor="ctr"/>
          <a:lstStyle/>
          <a:p>
            <a:pPr algn="ctr" indent="0" marL="0">
              <a:buNone/>
            </a:pPr>
            <a:r>
              <a:rPr lang="en-US" sz="2000" dirty="0">
                <a:solidFill>
                  <a:srgbClr val="5B6575"/>
                </a:solidFill>
              </a:rPr>
              <a:t>›</a:t>
            </a:r>
            <a:endParaRPr lang="en-US" sz="2000" dirty="0"/>
          </a:p>
        </p:txBody>
      </p:sp>
      <p:sp>
        <p:nvSpPr>
          <p:cNvPr id="15" name="Shape 13"/>
          <p:cNvSpPr/>
          <p:nvPr/>
        </p:nvSpPr>
        <p:spPr>
          <a:xfrm>
            <a:off x="7128662" y="1051560"/>
            <a:ext cx="1558138" cy="1417320"/>
          </a:xfrm>
          <a:prstGeom prst="roundRect">
            <a:avLst>
              <a:gd name="adj" fmla="val 6452"/>
            </a:avLst>
          </a:prstGeom>
          <a:solidFill>
            <a:srgbClr val="FCE9E7"/>
          </a:solidFill>
          <a:ln w="6350">
            <a:solidFill>
              <a:srgbClr val="FCE9E7"/>
            </a:solidFill>
            <a:prstDash val="solid"/>
          </a:ln>
        </p:spPr>
      </p:sp>
      <p:sp>
        <p:nvSpPr>
          <p:cNvPr id="16" name="Text 14"/>
          <p:cNvSpPr txBox="1"/>
          <p:nvPr/>
        </p:nvSpPr>
        <p:spPr>
          <a:xfrm>
            <a:off x="7238390" y="1124712"/>
            <a:ext cx="1338682" cy="1271016"/>
          </a:xfrm>
          <a:prstGeom prst="rect">
            <a:avLst/>
          </a:prstGeom>
          <a:noFill/>
          <a:ln/>
        </p:spPr>
        <p:txBody>
          <a:bodyPr wrap="square" lIns="254" tIns="254" rIns="254" bIns="254" rtlCol="0" anchor="t"/>
          <a:lstStyle/>
          <a:p>
            <a:pPr indent="0" marL="0">
              <a:spcAft>
                <a:spcPts val="300"/>
              </a:spcAft>
              <a:buNone/>
            </a:pPr>
            <a:r>
              <a:rPr lang="en-US" sz="1300" b="1" dirty="0">
                <a:solidFill>
                  <a:srgbClr val="E46A5E"/>
                </a:solidFill>
              </a:rPr>
              <a:t>Client</a:t>
            </a:r>
            <a:endParaRPr lang="en-US" sz="1300" dirty="0"/>
          </a:p>
          <a:p>
            <a:pPr indent="0" marL="0">
              <a:spcAft>
                <a:spcPts val="300"/>
              </a:spcAft>
              <a:buNone/>
            </a:pPr>
            <a:r>
              <a:rPr lang="en-US" sz="1200" dirty="0">
                <a:solidFill>
                  <a:srgbClr val="1F2A37"/>
                </a:solidFill>
              </a:rPr>
              <a:t>defectul scăpat ajunge în vehicul</a:t>
            </a:r>
            <a:endParaRPr lang="en-US" sz="1300" dirty="0"/>
          </a:p>
        </p:txBody>
      </p:sp>
      <p:sp>
        <p:nvSpPr>
          <p:cNvPr id="17" name="Text 15"/>
          <p:cNvSpPr txBox="1"/>
          <p:nvPr/>
        </p:nvSpPr>
        <p:spPr>
          <a:xfrm>
            <a:off x="457200" y="2697480"/>
            <a:ext cx="4937760" cy="1783080"/>
          </a:xfrm>
          <a:prstGeom prst="rect">
            <a:avLst/>
          </a:prstGeom>
          <a:noFill/>
          <a:ln/>
        </p:spPr>
        <p:txBody>
          <a:bodyPr wrap="square" lIns="635" tIns="635" rIns="635" bIns="635" rtlCol="0" anchor="t"/>
          <a:lstStyle/>
          <a:p>
            <a:pPr marL="177800" indent="-177800">
              <a:spcAft>
                <a:spcPts val="600"/>
              </a:spcAft>
              <a:buSzPct val="100000"/>
              <a:buChar char="•"/>
            </a:pPr>
            <a:r>
              <a:rPr lang="en-US" sz="1400" dirty="0">
                <a:solidFill>
                  <a:srgbClr val="1F2A37"/>
                </a:solidFill>
              </a:rPr>
              <a:t>Fiecare etapă de test caută alte tipuri de defecte.</a:t>
            </a:r>
            <a:endParaRPr lang="en-US" sz="1400" dirty="0"/>
          </a:p>
          <a:p>
            <a:pPr marL="177800" indent="-177800">
              <a:spcAft>
                <a:spcPts val="600"/>
              </a:spcAft>
              <a:buSzPct val="100000"/>
              <a:buChar char="•"/>
            </a:pPr>
            <a:r>
              <a:rPr lang="en-US" sz="1400" dirty="0">
                <a:solidFill>
                  <a:srgbClr val="1F2A37"/>
                </a:solidFill>
              </a:rPr>
              <a:t>Etapele timpurii prind cel mai bine defectele de asamblare; cele târzii, defectele de funcționare [6].</a:t>
            </a:r>
            <a:endParaRPr lang="en-US" sz="1400" dirty="0"/>
          </a:p>
          <a:p>
            <a:pPr marL="177800" indent="-177800">
              <a:spcAft>
                <a:spcPts val="600"/>
              </a:spcAft>
              <a:buSzPct val="100000"/>
              <a:buChar char="•"/>
            </a:pPr>
            <a:r>
              <a:rPr lang="en-US" sz="1400" dirty="0">
                <a:solidFill>
                  <a:srgbClr val="1F2A37"/>
                </a:solidFill>
              </a:rPr>
              <a:t>Un defect care trece de toate etapele este un „escape”: ajunge la client.</a:t>
            </a:r>
            <a:endParaRPr lang="en-US" sz="1400" dirty="0"/>
          </a:p>
        </p:txBody>
      </p:sp>
      <p:sp>
        <p:nvSpPr>
          <p:cNvPr id="18" name="image placeholder"/>
          <p:cNvSpPr/>
          <p:nvPr/>
        </p:nvSpPr>
        <p:spPr>
          <a:xfrm>
            <a:off x="5577840" y="2697480"/>
            <a:ext cx="3108960" cy="1783080"/>
          </a:xfrm>
          <a:prstGeom prst="roundRect">
            <a:avLst>
              <a:gd name="adj" fmla="val 6154"/>
            </a:avLst>
          </a:prstGeom>
          <a:solidFill>
            <a:srgbClr val="F4F6F8"/>
          </a:solidFill>
          <a:ln w="12700">
            <a:solidFill>
              <a:srgbClr val="9AA5B1"/>
            </a:solidFill>
            <a:prstDash val="dash"/>
          </a:ln>
        </p:spPr>
      </p:sp>
      <p:sp>
        <p:nvSpPr>
          <p:cNvPr id="19" name="image placeholder label"/>
          <p:cNvSpPr txBox="1"/>
          <p:nvPr/>
        </p:nvSpPr>
        <p:spPr>
          <a:xfrm>
            <a:off x="5715000" y="2788920"/>
            <a:ext cx="2834640" cy="1600200"/>
          </a:xfrm>
          <a:prstGeom prst="rect">
            <a:avLst/>
          </a:prstGeom>
          <a:noFill/>
          <a:ln/>
        </p:spPr>
        <p:txBody>
          <a:bodyPr wrap="square" rtlCol="0" anchor="ctr"/>
          <a:lstStyle/>
          <a:p>
            <a:pPr algn="ctr" indent="0" marL="0">
              <a:buNone/>
            </a:pPr>
            <a:r>
              <a:rPr lang="en-US" sz="1200" i="1" dirty="0">
                <a:solidFill>
                  <a:srgbClr val="5B6575"/>
                </a:solidFill>
              </a:rPr>
              <a:t>Loc pentru imagine:</a:t>
            </a:r>
            <a:endParaRPr lang="en-US" sz="1200" dirty="0"/>
          </a:p>
          <a:p>
            <a:pPr algn="ctr" indent="0" marL="0">
              <a:buNone/>
            </a:pPr>
            <a:r>
              <a:rPr lang="en-US" sz="1200" i="1" dirty="0">
                <a:solidFill>
                  <a:srgbClr val="5B6575"/>
                </a:solidFill>
              </a:rPr>
              <a:t>linie SMT / stații de test (foto sau schemă)</a:t>
            </a:r>
            <a:endParaRPr lang="en-US" sz="1200" dirty="0"/>
          </a:p>
        </p:txBody>
      </p:sp>
      <p:sp>
        <p:nvSpPr>
          <p:cNvPr id="20" name="sources"/>
          <p:cNvSpPr txBox="1"/>
          <p:nvPr/>
        </p:nvSpPr>
        <p:spPr>
          <a:xfrm>
            <a:off x="457200" y="4572000"/>
            <a:ext cx="7772400" cy="237744"/>
          </a:xfrm>
          <a:prstGeom prst="rect">
            <a:avLst/>
          </a:prstGeom>
          <a:noFill/>
          <a:ln/>
        </p:spPr>
        <p:txBody>
          <a:bodyPr wrap="square" lIns="0" tIns="0" rIns="0" bIns="0" rtlCol="0" anchor="ctr"/>
          <a:lstStyle/>
          <a:p>
            <a:pPr indent="0" marL="0">
              <a:buNone/>
            </a:pPr>
            <a:r>
              <a:rPr lang="en-US" sz="1000" i="1" dirty="0">
                <a:solidFill>
                  <a:srgbClr val="5B6575"/>
                </a:solidFill>
              </a:rPr>
              <a:t>Surse: [6] Smith, IPC APEX (date iNEMI 2000)</a:t>
            </a:r>
            <a:endParaRPr lang="en-US" sz="10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600" b="1" dirty="0">
                <a:solidFill>
                  <a:srgbClr val="0B6E69"/>
                </a:solidFill>
              </a:rPr>
              <a:t>Ce este analiza acoperirii testelor (TCA)</a:t>
            </a:r>
            <a:endParaRPr lang="en-US" sz="2600" dirty="0"/>
          </a:p>
        </p:txBody>
      </p:sp>
      <p:sp>
        <p:nvSpPr>
          <p:cNvPr id="3" name="Shape 1"/>
          <p:cNvSpPr/>
          <p:nvPr/>
        </p:nvSpPr>
        <p:spPr>
          <a:xfrm>
            <a:off x="457200" y="1005840"/>
            <a:ext cx="4937760" cy="777240"/>
          </a:xfrm>
          <a:prstGeom prst="roundRect">
            <a:avLst>
              <a:gd name="adj" fmla="val 11765"/>
            </a:avLst>
          </a:prstGeom>
          <a:solidFill>
            <a:srgbClr val="FFF4DE"/>
          </a:solidFill>
          <a:ln w="12700">
            <a:solidFill>
              <a:srgbClr val="FFF4DE"/>
            </a:solidFill>
            <a:prstDash val="solid"/>
          </a:ln>
        </p:spPr>
      </p:sp>
      <p:sp>
        <p:nvSpPr>
          <p:cNvPr id="4" name="Text 2"/>
          <p:cNvSpPr txBox="1"/>
          <p:nvPr/>
        </p:nvSpPr>
        <p:spPr>
          <a:xfrm>
            <a:off x="594360" y="1033272"/>
            <a:ext cx="4663440" cy="731520"/>
          </a:xfrm>
          <a:prstGeom prst="rect">
            <a:avLst/>
          </a:prstGeom>
          <a:noFill/>
          <a:ln/>
        </p:spPr>
        <p:txBody>
          <a:bodyPr wrap="square" lIns="0" tIns="0" rIns="0" bIns="0" rtlCol="0" anchor="ctr"/>
          <a:lstStyle/>
          <a:p>
            <a:pPr indent="0" marL="0">
              <a:buNone/>
            </a:pPr>
            <a:r>
              <a:rPr lang="en-US" sz="1500" i="1" dirty="0">
                <a:solidFill>
                  <a:srgbClr val="1F2A37"/>
                </a:solidFill>
              </a:rPr>
              <a:t>„Ce înseamnă, de fapt, când un test de placă trece?” [1]</a:t>
            </a:r>
            <a:endParaRPr lang="en-US" sz="1500" dirty="0"/>
          </a:p>
        </p:txBody>
      </p:sp>
      <p:sp>
        <p:nvSpPr>
          <p:cNvPr id="5" name="Text 3"/>
          <p:cNvSpPr txBox="1"/>
          <p:nvPr/>
        </p:nvSpPr>
        <p:spPr>
          <a:xfrm>
            <a:off x="457200" y="1920240"/>
            <a:ext cx="4937760" cy="2560320"/>
          </a:xfrm>
          <a:prstGeom prst="rect">
            <a:avLst/>
          </a:prstGeom>
          <a:noFill/>
          <a:ln/>
        </p:spPr>
        <p:txBody>
          <a:bodyPr wrap="square" lIns="635" tIns="635" rIns="635" bIns="635" rtlCol="0" anchor="t"/>
          <a:lstStyle/>
          <a:p>
            <a:pPr marL="177800" indent="-177800">
              <a:spcAft>
                <a:spcPts val="600"/>
              </a:spcAft>
              <a:buSzPct val="100000"/>
              <a:buChar char="•"/>
            </a:pPr>
            <a:r>
              <a:rPr lang="en-US" sz="1400" b="1" dirty="0">
                <a:solidFill>
                  <a:srgbClr val="1F2A37"/>
                </a:solidFill>
              </a:rPr>
              <a:t>Acoperire: </a:t>
            </a:r>
            <a:pPr indent="0" marL="0">
              <a:buNone/>
            </a:pPr>
            <a:r>
              <a:rPr lang="en-US" sz="1400" dirty="0">
                <a:solidFill>
                  <a:srgbClr val="1F2A37"/>
                </a:solidFill>
              </a:rPr>
              <a:t>o indicație a calității suitei de teste [4].</a:t>
            </a:r>
            <a:endParaRPr lang="en-US" sz="1400" dirty="0"/>
          </a:p>
          <a:p>
            <a:pPr marL="177800" indent="-177800">
              <a:spcAft>
                <a:spcPts val="600"/>
              </a:spcAft>
              <a:buSzPct val="100000"/>
              <a:buChar char="•"/>
            </a:pPr>
            <a:r>
              <a:rPr lang="en-US" sz="1400" b="1" dirty="0">
                <a:solidFill>
                  <a:srgbClr val="1F2A37"/>
                </a:solidFill>
              </a:rPr>
              <a:t>Întrebarea corectă: </a:t>
            </a:r>
            <a:pPr indent="0" marL="0">
              <a:buNone/>
            </a:pPr>
            <a:r>
              <a:rPr lang="en-US" sz="1400" dirty="0">
                <a:solidFill>
                  <a:srgbClr val="1F2A37"/>
                </a:solidFill>
              </a:rPr>
              <a:t>ce defecte ar fi fost prinse dacă existau, nu câte noduri au un test.</a:t>
            </a:r>
            <a:endParaRPr lang="en-US" sz="1400" dirty="0"/>
          </a:p>
          <a:p>
            <a:pPr marL="177800" indent="-177800">
              <a:spcAft>
                <a:spcPts val="600"/>
              </a:spcAft>
              <a:buSzPct val="100000"/>
              <a:buChar char="•"/>
            </a:pPr>
            <a:r>
              <a:rPr lang="en-US" sz="1400" b="1" dirty="0">
                <a:solidFill>
                  <a:srgbClr val="1F2A37"/>
                </a:solidFill>
              </a:rPr>
              <a:t>Atenție la procente: </a:t>
            </a:r>
            <a:pPr indent="0" marL="0">
              <a:buNone/>
            </a:pPr>
            <a:r>
              <a:rPr lang="en-US" sz="1400" dirty="0">
                <a:solidFill>
                  <a:srgbClr val="1F2A37"/>
                </a:solidFill>
              </a:rPr>
              <a:t>„99%” acoperire la opens poate însemna, real, ~40% [2].</a:t>
            </a:r>
            <a:endParaRPr lang="en-US" sz="1400" dirty="0"/>
          </a:p>
          <a:p>
            <a:pPr marL="177800" indent="-177800">
              <a:spcAft>
                <a:spcPts val="600"/>
              </a:spcAft>
              <a:buSzPct val="100000"/>
              <a:buChar char="•"/>
            </a:pPr>
            <a:r>
              <a:rPr lang="en-US" sz="1400" b="1" dirty="0">
                <a:solidFill>
                  <a:srgbClr val="1F2A37"/>
                </a:solidFill>
              </a:rPr>
              <a:t>Rezultatul TCA: </a:t>
            </a:r>
            <a:pPr indent="0" marL="0">
              <a:buNone/>
            </a:pPr>
            <a:r>
              <a:rPr lang="en-US" sz="1400" dirty="0">
                <a:solidFill>
                  <a:srgbClr val="1F2A37"/>
                </a:solidFill>
              </a:rPr>
              <a:t>o detecție D pentru fiecare defect și metodă, apoi riscul rezidual.</a:t>
            </a:r>
            <a:endParaRPr lang="en-US" sz="1400" dirty="0"/>
          </a:p>
        </p:txBody>
      </p:sp>
      <p:sp>
        <p:nvSpPr>
          <p:cNvPr id="6" name="image placeholder"/>
          <p:cNvSpPr/>
          <p:nvPr/>
        </p:nvSpPr>
        <p:spPr>
          <a:xfrm>
            <a:off x="5577840" y="1051560"/>
            <a:ext cx="3108960" cy="3383280"/>
          </a:xfrm>
          <a:prstGeom prst="roundRect">
            <a:avLst>
              <a:gd name="adj" fmla="val 3529"/>
            </a:avLst>
          </a:prstGeom>
          <a:solidFill>
            <a:srgbClr val="F4F6F8"/>
          </a:solidFill>
          <a:ln w="12700">
            <a:solidFill>
              <a:srgbClr val="9AA5B1"/>
            </a:solidFill>
            <a:prstDash val="dash"/>
          </a:ln>
        </p:spPr>
      </p:sp>
      <p:sp>
        <p:nvSpPr>
          <p:cNvPr id="7" name="image placeholder label"/>
          <p:cNvSpPr txBox="1"/>
          <p:nvPr/>
        </p:nvSpPr>
        <p:spPr>
          <a:xfrm>
            <a:off x="5715000" y="1143000"/>
            <a:ext cx="2834640" cy="3200400"/>
          </a:xfrm>
          <a:prstGeom prst="rect">
            <a:avLst/>
          </a:prstGeom>
          <a:noFill/>
          <a:ln/>
        </p:spPr>
        <p:txBody>
          <a:bodyPr wrap="square" rtlCol="0" anchor="ctr"/>
          <a:lstStyle/>
          <a:p>
            <a:pPr algn="ctr" indent="0" marL="0">
              <a:buNone/>
            </a:pPr>
            <a:r>
              <a:rPr lang="en-US" sz="1200" i="1" dirty="0">
                <a:solidFill>
                  <a:srgbClr val="5B6575"/>
                </a:solidFill>
              </a:rPr>
              <a:t>Loc pentru imagine:</a:t>
            </a:r>
            <a:endParaRPr lang="en-US" sz="1200" dirty="0"/>
          </a:p>
          <a:p>
            <a:pPr algn="ctr" indent="0" marL="0">
              <a:buNone/>
            </a:pPr>
            <a:r>
              <a:rPr lang="en-US" sz="1200" i="1" dirty="0">
                <a:solidFill>
                  <a:srgbClr val="5B6575"/>
                </a:solidFill>
              </a:rPr>
              <a:t>exemplu de raport de acoperire (de ex. TestWay) sau captură din aplicația noastră</a:t>
            </a:r>
            <a:endParaRPr lang="en-US" sz="1200" dirty="0"/>
          </a:p>
        </p:txBody>
      </p:sp>
      <p:sp>
        <p:nvSpPr>
          <p:cNvPr id="8" name="sources"/>
          <p:cNvSpPr txBox="1"/>
          <p:nvPr/>
        </p:nvSpPr>
        <p:spPr>
          <a:xfrm>
            <a:off x="457200" y="4572000"/>
            <a:ext cx="7772400" cy="237744"/>
          </a:xfrm>
          <a:prstGeom prst="rect">
            <a:avLst/>
          </a:prstGeom>
          <a:noFill/>
          <a:ln/>
        </p:spPr>
        <p:txBody>
          <a:bodyPr wrap="square" lIns="0" tIns="0" rIns="0" bIns="0" rtlCol="0" anchor="ctr"/>
          <a:lstStyle/>
          <a:p>
            <a:pPr indent="0" marL="0">
              <a:buNone/>
            </a:pPr>
            <a:r>
              <a:rPr lang="en-US" sz="1000" i="1" dirty="0">
                <a:solidFill>
                  <a:srgbClr val="5B6575"/>
                </a:solidFill>
              </a:rPr>
              <a:t>Surse: [1] Hird et al., ITC 2002 · [2] Tegethoff et al., ITC 1996 · [4] US 6,948,140 B2</a:t>
            </a:r>
            <a:endParaRPr lang="en-US" sz="10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600" b="1" dirty="0">
                <a:solidFill>
                  <a:srgbClr val="0B6E69"/>
                </a:solidFill>
              </a:rPr>
              <a:t>Modelul PCOLA/SOQ/FAM</a:t>
            </a:r>
            <a:endParaRPr lang="en-US" sz="2600" dirty="0"/>
          </a:p>
        </p:txBody>
      </p:sp>
      <p:sp>
        <p:nvSpPr>
          <p:cNvPr id="3" name="Text 1"/>
          <p:cNvSpPr txBox="1"/>
          <p:nvPr/>
        </p:nvSpPr>
        <p:spPr>
          <a:xfrm>
            <a:off x="457200" y="1005840"/>
            <a:ext cx="1234440" cy="1051560"/>
          </a:xfrm>
          <a:prstGeom prst="rect">
            <a:avLst/>
          </a:prstGeom>
          <a:noFill/>
          <a:ln/>
        </p:spPr>
        <p:txBody>
          <a:bodyPr wrap="square" lIns="0" tIns="0" rIns="0" bIns="0" rtlCol="0" anchor="ctr"/>
          <a:lstStyle/>
          <a:p>
            <a:pPr indent="0" marL="0">
              <a:buNone/>
            </a:pPr>
            <a:r>
              <a:rPr lang="en-US" sz="1500" b="1" dirty="0">
                <a:solidFill>
                  <a:srgbClr val="0B6E69"/>
                </a:solidFill>
              </a:rPr>
              <a:t>Componentă</a:t>
            </a:r>
            <a:endParaRPr lang="en-US" sz="1500" dirty="0"/>
          </a:p>
          <a:p>
            <a:pPr indent="0" marL="0">
              <a:buNone/>
            </a:pPr>
            <a:r>
              <a:rPr lang="en-US" sz="1500" b="1" dirty="0">
                <a:solidFill>
                  <a:srgbClr val="0B6E69"/>
                </a:solidFill>
              </a:rPr>
              <a:t>(PCOLA)</a:t>
            </a:r>
            <a:endParaRPr lang="en-US" sz="1500" dirty="0"/>
          </a:p>
        </p:txBody>
      </p:sp>
      <p:sp>
        <p:nvSpPr>
          <p:cNvPr id="4" name="Shape 2"/>
          <p:cNvSpPr/>
          <p:nvPr/>
        </p:nvSpPr>
        <p:spPr>
          <a:xfrm>
            <a:off x="1691640" y="1005840"/>
            <a:ext cx="1325880" cy="1051560"/>
          </a:xfrm>
          <a:prstGeom prst="roundRect">
            <a:avLst>
              <a:gd name="adj" fmla="val 8696"/>
            </a:avLst>
          </a:prstGeom>
          <a:solidFill>
            <a:srgbClr val="E3F4F1"/>
          </a:solidFill>
          <a:ln w="12700">
            <a:solidFill>
              <a:srgbClr val="E3F4F1"/>
            </a:solidFill>
            <a:prstDash val="solid"/>
          </a:ln>
        </p:spPr>
      </p:sp>
      <p:sp>
        <p:nvSpPr>
          <p:cNvPr id="5" name="Text 3"/>
          <p:cNvSpPr txBox="1"/>
          <p:nvPr/>
        </p:nvSpPr>
        <p:spPr>
          <a:xfrm>
            <a:off x="1746504" y="1042416"/>
            <a:ext cx="1216152" cy="978408"/>
          </a:xfrm>
          <a:prstGeom prst="rect">
            <a:avLst/>
          </a:prstGeom>
          <a:noFill/>
          <a:ln/>
        </p:spPr>
        <p:txBody>
          <a:bodyPr wrap="square" lIns="0" tIns="0" rIns="0" bIns="0" rtlCol="0" anchor="ctr"/>
          <a:lstStyle/>
          <a:p>
            <a:pPr algn="ctr" indent="0" marL="0">
              <a:buNone/>
            </a:pPr>
            <a:r>
              <a:rPr lang="en-US" sz="2200" b="1" dirty="0">
                <a:solidFill>
                  <a:srgbClr val="1F2A37"/>
                </a:solidFill>
              </a:rPr>
              <a:t>P</a:t>
            </a:r>
            <a:endParaRPr lang="en-US" sz="2200" dirty="0"/>
          </a:p>
          <a:p>
            <a:pPr algn="ctr" indent="0" marL="0">
              <a:buNone/>
            </a:pPr>
            <a:r>
              <a:rPr lang="en-US" sz="1100" dirty="0">
                <a:solidFill>
                  <a:srgbClr val="1F2A37"/>
                </a:solidFill>
              </a:rPr>
              <a:t>Presence</a:t>
            </a:r>
            <a:endParaRPr lang="en-US" sz="2200" dirty="0"/>
          </a:p>
          <a:p>
            <a:pPr algn="ctr" indent="0" marL="0">
              <a:buNone/>
            </a:pPr>
            <a:r>
              <a:rPr lang="en-US" sz="1100" dirty="0">
                <a:solidFill>
                  <a:srgbClr val="1F2A37"/>
                </a:solidFill>
              </a:rPr>
              <a:t>prezentă</a:t>
            </a:r>
            <a:endParaRPr lang="en-US" sz="2200" dirty="0"/>
          </a:p>
        </p:txBody>
      </p:sp>
      <p:sp>
        <p:nvSpPr>
          <p:cNvPr id="6" name="Shape 4"/>
          <p:cNvSpPr/>
          <p:nvPr/>
        </p:nvSpPr>
        <p:spPr>
          <a:xfrm>
            <a:off x="3108960" y="1005840"/>
            <a:ext cx="1325880" cy="1051560"/>
          </a:xfrm>
          <a:prstGeom prst="roundRect">
            <a:avLst>
              <a:gd name="adj" fmla="val 8696"/>
            </a:avLst>
          </a:prstGeom>
          <a:solidFill>
            <a:srgbClr val="E3F4F1"/>
          </a:solidFill>
          <a:ln w="12700">
            <a:solidFill>
              <a:srgbClr val="E3F4F1"/>
            </a:solidFill>
            <a:prstDash val="solid"/>
          </a:ln>
        </p:spPr>
      </p:sp>
      <p:sp>
        <p:nvSpPr>
          <p:cNvPr id="7" name="Text 5"/>
          <p:cNvSpPr txBox="1"/>
          <p:nvPr/>
        </p:nvSpPr>
        <p:spPr>
          <a:xfrm>
            <a:off x="3163824" y="1042416"/>
            <a:ext cx="1216152" cy="978408"/>
          </a:xfrm>
          <a:prstGeom prst="rect">
            <a:avLst/>
          </a:prstGeom>
          <a:noFill/>
          <a:ln/>
        </p:spPr>
        <p:txBody>
          <a:bodyPr wrap="square" lIns="0" tIns="0" rIns="0" bIns="0" rtlCol="0" anchor="ctr"/>
          <a:lstStyle/>
          <a:p>
            <a:pPr algn="ctr" indent="0" marL="0">
              <a:buNone/>
            </a:pPr>
            <a:r>
              <a:rPr lang="en-US" sz="2200" b="1" dirty="0">
                <a:solidFill>
                  <a:srgbClr val="1F2A37"/>
                </a:solidFill>
              </a:rPr>
              <a:t>C</a:t>
            </a:r>
            <a:endParaRPr lang="en-US" sz="2200" dirty="0"/>
          </a:p>
          <a:p>
            <a:pPr algn="ctr" indent="0" marL="0">
              <a:buNone/>
            </a:pPr>
            <a:r>
              <a:rPr lang="en-US" sz="1100" dirty="0">
                <a:solidFill>
                  <a:srgbClr val="1F2A37"/>
                </a:solidFill>
              </a:rPr>
              <a:t>Correctness</a:t>
            </a:r>
            <a:endParaRPr lang="en-US" sz="2200" dirty="0"/>
          </a:p>
          <a:p>
            <a:pPr algn="ctr" indent="0" marL="0">
              <a:buNone/>
            </a:pPr>
            <a:r>
              <a:rPr lang="en-US" sz="1100" dirty="0">
                <a:solidFill>
                  <a:srgbClr val="1F2A37"/>
                </a:solidFill>
              </a:rPr>
              <a:t>piesa corectă</a:t>
            </a:r>
            <a:endParaRPr lang="en-US" sz="2200" dirty="0"/>
          </a:p>
        </p:txBody>
      </p:sp>
      <p:sp>
        <p:nvSpPr>
          <p:cNvPr id="8" name="Shape 6"/>
          <p:cNvSpPr/>
          <p:nvPr/>
        </p:nvSpPr>
        <p:spPr>
          <a:xfrm>
            <a:off x="4526280" y="1005840"/>
            <a:ext cx="1325880" cy="1051560"/>
          </a:xfrm>
          <a:prstGeom prst="roundRect">
            <a:avLst>
              <a:gd name="adj" fmla="val 8696"/>
            </a:avLst>
          </a:prstGeom>
          <a:solidFill>
            <a:srgbClr val="E3F4F1"/>
          </a:solidFill>
          <a:ln w="12700">
            <a:solidFill>
              <a:srgbClr val="E3F4F1"/>
            </a:solidFill>
            <a:prstDash val="solid"/>
          </a:ln>
        </p:spPr>
      </p:sp>
      <p:sp>
        <p:nvSpPr>
          <p:cNvPr id="9" name="Text 7"/>
          <p:cNvSpPr txBox="1"/>
          <p:nvPr/>
        </p:nvSpPr>
        <p:spPr>
          <a:xfrm>
            <a:off x="4581144" y="1042416"/>
            <a:ext cx="1216152" cy="978408"/>
          </a:xfrm>
          <a:prstGeom prst="rect">
            <a:avLst/>
          </a:prstGeom>
          <a:noFill/>
          <a:ln/>
        </p:spPr>
        <p:txBody>
          <a:bodyPr wrap="square" lIns="0" tIns="0" rIns="0" bIns="0" rtlCol="0" anchor="ctr"/>
          <a:lstStyle/>
          <a:p>
            <a:pPr algn="ctr" indent="0" marL="0">
              <a:buNone/>
            </a:pPr>
            <a:r>
              <a:rPr lang="en-US" sz="2200" b="1" dirty="0">
                <a:solidFill>
                  <a:srgbClr val="1F2A37"/>
                </a:solidFill>
              </a:rPr>
              <a:t>O</a:t>
            </a:r>
            <a:endParaRPr lang="en-US" sz="2200" dirty="0"/>
          </a:p>
          <a:p>
            <a:pPr algn="ctr" indent="0" marL="0">
              <a:buNone/>
            </a:pPr>
            <a:r>
              <a:rPr lang="en-US" sz="1100" dirty="0">
                <a:solidFill>
                  <a:srgbClr val="1F2A37"/>
                </a:solidFill>
              </a:rPr>
              <a:t>Orientation</a:t>
            </a:r>
            <a:endParaRPr lang="en-US" sz="2200" dirty="0"/>
          </a:p>
          <a:p>
            <a:pPr algn="ctr" indent="0" marL="0">
              <a:buNone/>
            </a:pPr>
            <a:r>
              <a:rPr lang="en-US" sz="1100" dirty="0">
                <a:solidFill>
                  <a:srgbClr val="1F2A37"/>
                </a:solidFill>
              </a:rPr>
              <a:t>polaritate</a:t>
            </a:r>
            <a:endParaRPr lang="en-US" sz="2200" dirty="0"/>
          </a:p>
        </p:txBody>
      </p:sp>
      <p:sp>
        <p:nvSpPr>
          <p:cNvPr id="10" name="Shape 8"/>
          <p:cNvSpPr/>
          <p:nvPr/>
        </p:nvSpPr>
        <p:spPr>
          <a:xfrm>
            <a:off x="5943600" y="1005840"/>
            <a:ext cx="1325880" cy="1051560"/>
          </a:xfrm>
          <a:prstGeom prst="roundRect">
            <a:avLst>
              <a:gd name="adj" fmla="val 8696"/>
            </a:avLst>
          </a:prstGeom>
          <a:solidFill>
            <a:srgbClr val="E3F4F1"/>
          </a:solidFill>
          <a:ln w="12700">
            <a:solidFill>
              <a:srgbClr val="E3F4F1"/>
            </a:solidFill>
            <a:prstDash val="solid"/>
          </a:ln>
        </p:spPr>
      </p:sp>
      <p:sp>
        <p:nvSpPr>
          <p:cNvPr id="11" name="Text 9"/>
          <p:cNvSpPr txBox="1"/>
          <p:nvPr/>
        </p:nvSpPr>
        <p:spPr>
          <a:xfrm>
            <a:off x="5998464" y="1042416"/>
            <a:ext cx="1216152" cy="978408"/>
          </a:xfrm>
          <a:prstGeom prst="rect">
            <a:avLst/>
          </a:prstGeom>
          <a:noFill/>
          <a:ln/>
        </p:spPr>
        <p:txBody>
          <a:bodyPr wrap="square" lIns="0" tIns="0" rIns="0" bIns="0" rtlCol="0" anchor="ctr"/>
          <a:lstStyle/>
          <a:p>
            <a:pPr algn="ctr" indent="0" marL="0">
              <a:buNone/>
            </a:pPr>
            <a:r>
              <a:rPr lang="en-US" sz="2200" b="1" dirty="0">
                <a:solidFill>
                  <a:srgbClr val="1F2A37"/>
                </a:solidFill>
              </a:rPr>
              <a:t>L</a:t>
            </a:r>
            <a:endParaRPr lang="en-US" sz="2200" dirty="0"/>
          </a:p>
          <a:p>
            <a:pPr algn="ctr" indent="0" marL="0">
              <a:buNone/>
            </a:pPr>
            <a:r>
              <a:rPr lang="en-US" sz="1100" dirty="0">
                <a:solidFill>
                  <a:srgbClr val="1F2A37"/>
                </a:solidFill>
              </a:rPr>
              <a:t>Live</a:t>
            </a:r>
            <a:endParaRPr lang="en-US" sz="2200" dirty="0"/>
          </a:p>
          <a:p>
            <a:pPr algn="ctr" indent="0" marL="0">
              <a:buNone/>
            </a:pPr>
            <a:r>
              <a:rPr lang="en-US" sz="1100" dirty="0">
                <a:solidFill>
                  <a:srgbClr val="1F2A37"/>
                </a:solidFill>
              </a:rPr>
              <a:t>funcțională</a:t>
            </a:r>
            <a:endParaRPr lang="en-US" sz="2200" dirty="0"/>
          </a:p>
        </p:txBody>
      </p:sp>
      <p:sp>
        <p:nvSpPr>
          <p:cNvPr id="12" name="Shape 10"/>
          <p:cNvSpPr/>
          <p:nvPr/>
        </p:nvSpPr>
        <p:spPr>
          <a:xfrm>
            <a:off x="7360920" y="1005840"/>
            <a:ext cx="1325880" cy="1051560"/>
          </a:xfrm>
          <a:prstGeom prst="roundRect">
            <a:avLst>
              <a:gd name="adj" fmla="val 8696"/>
            </a:avLst>
          </a:prstGeom>
          <a:solidFill>
            <a:srgbClr val="E3F4F1"/>
          </a:solidFill>
          <a:ln w="12700">
            <a:solidFill>
              <a:srgbClr val="E3F4F1"/>
            </a:solidFill>
            <a:prstDash val="solid"/>
          </a:ln>
        </p:spPr>
      </p:sp>
      <p:sp>
        <p:nvSpPr>
          <p:cNvPr id="13" name="Text 11"/>
          <p:cNvSpPr txBox="1"/>
          <p:nvPr/>
        </p:nvSpPr>
        <p:spPr>
          <a:xfrm>
            <a:off x="7415784" y="1042416"/>
            <a:ext cx="1216152" cy="978408"/>
          </a:xfrm>
          <a:prstGeom prst="rect">
            <a:avLst/>
          </a:prstGeom>
          <a:noFill/>
          <a:ln/>
        </p:spPr>
        <p:txBody>
          <a:bodyPr wrap="square" lIns="0" tIns="0" rIns="0" bIns="0" rtlCol="0" anchor="ctr"/>
          <a:lstStyle/>
          <a:p>
            <a:pPr algn="ctr" indent="0" marL="0">
              <a:buNone/>
            </a:pPr>
            <a:r>
              <a:rPr lang="en-US" sz="2200" b="1" dirty="0">
                <a:solidFill>
                  <a:srgbClr val="1F2A37"/>
                </a:solidFill>
              </a:rPr>
              <a:t>A</a:t>
            </a:r>
            <a:endParaRPr lang="en-US" sz="2200" dirty="0"/>
          </a:p>
          <a:p>
            <a:pPr algn="ctr" indent="0" marL="0">
              <a:buNone/>
            </a:pPr>
            <a:r>
              <a:rPr lang="en-US" sz="1100" dirty="0">
                <a:solidFill>
                  <a:srgbClr val="1F2A37"/>
                </a:solidFill>
              </a:rPr>
              <a:t>Alignment</a:t>
            </a:r>
            <a:endParaRPr lang="en-US" sz="2200" dirty="0"/>
          </a:p>
          <a:p>
            <a:pPr algn="ctr" indent="0" marL="0">
              <a:buNone/>
            </a:pPr>
            <a:r>
              <a:rPr lang="en-US" sz="1100" dirty="0">
                <a:solidFill>
                  <a:srgbClr val="1F2A37"/>
                </a:solidFill>
              </a:rPr>
              <a:t>aliniere</a:t>
            </a:r>
            <a:endParaRPr lang="en-US" sz="2200" dirty="0"/>
          </a:p>
        </p:txBody>
      </p:sp>
      <p:sp>
        <p:nvSpPr>
          <p:cNvPr id="14" name="Text 12"/>
          <p:cNvSpPr txBox="1"/>
          <p:nvPr/>
        </p:nvSpPr>
        <p:spPr>
          <a:xfrm>
            <a:off x="457200" y="2167128"/>
            <a:ext cx="1234440" cy="1051560"/>
          </a:xfrm>
          <a:prstGeom prst="rect">
            <a:avLst/>
          </a:prstGeom>
          <a:noFill/>
          <a:ln/>
        </p:spPr>
        <p:txBody>
          <a:bodyPr wrap="square" lIns="0" tIns="0" rIns="0" bIns="0" rtlCol="0" anchor="ctr"/>
          <a:lstStyle/>
          <a:p>
            <a:pPr indent="0" marL="0">
              <a:buNone/>
            </a:pPr>
            <a:r>
              <a:rPr lang="en-US" sz="1500" b="1" dirty="0">
                <a:solidFill>
                  <a:srgbClr val="3B82C4"/>
                </a:solidFill>
              </a:rPr>
              <a:t>Conexiune</a:t>
            </a:r>
            <a:endParaRPr lang="en-US" sz="1500" dirty="0"/>
          </a:p>
          <a:p>
            <a:pPr indent="0" marL="0">
              <a:buNone/>
            </a:pPr>
            <a:r>
              <a:rPr lang="en-US" sz="1500" b="1" dirty="0">
                <a:solidFill>
                  <a:srgbClr val="3B82C4"/>
                </a:solidFill>
              </a:rPr>
              <a:t>(SOQ)</a:t>
            </a:r>
            <a:endParaRPr lang="en-US" sz="1500" dirty="0"/>
          </a:p>
        </p:txBody>
      </p:sp>
      <p:sp>
        <p:nvSpPr>
          <p:cNvPr id="15" name="Shape 13"/>
          <p:cNvSpPr/>
          <p:nvPr/>
        </p:nvSpPr>
        <p:spPr>
          <a:xfrm>
            <a:off x="1691640" y="2167128"/>
            <a:ext cx="2270760" cy="1051560"/>
          </a:xfrm>
          <a:prstGeom prst="roundRect">
            <a:avLst>
              <a:gd name="adj" fmla="val 8696"/>
            </a:avLst>
          </a:prstGeom>
          <a:solidFill>
            <a:srgbClr val="E5F0FA"/>
          </a:solidFill>
          <a:ln w="12700">
            <a:solidFill>
              <a:srgbClr val="E5F0FA"/>
            </a:solidFill>
            <a:prstDash val="solid"/>
          </a:ln>
        </p:spPr>
      </p:sp>
      <p:sp>
        <p:nvSpPr>
          <p:cNvPr id="16" name="Text 14"/>
          <p:cNvSpPr txBox="1"/>
          <p:nvPr/>
        </p:nvSpPr>
        <p:spPr>
          <a:xfrm>
            <a:off x="1746504" y="2203704"/>
            <a:ext cx="2161032" cy="978408"/>
          </a:xfrm>
          <a:prstGeom prst="rect">
            <a:avLst/>
          </a:prstGeom>
          <a:noFill/>
          <a:ln/>
        </p:spPr>
        <p:txBody>
          <a:bodyPr wrap="square" lIns="0" tIns="0" rIns="0" bIns="0" rtlCol="0" anchor="ctr"/>
          <a:lstStyle/>
          <a:p>
            <a:pPr algn="ctr" indent="0" marL="0">
              <a:buNone/>
            </a:pPr>
            <a:r>
              <a:rPr lang="en-US" sz="2200" b="1" dirty="0">
                <a:solidFill>
                  <a:srgbClr val="1F2A37"/>
                </a:solidFill>
              </a:rPr>
              <a:t>S</a:t>
            </a:r>
            <a:endParaRPr lang="en-US" sz="2200" dirty="0"/>
          </a:p>
          <a:p>
            <a:pPr algn="ctr" indent="0" marL="0">
              <a:buNone/>
            </a:pPr>
            <a:r>
              <a:rPr lang="en-US" sz="1100" dirty="0">
                <a:solidFill>
                  <a:srgbClr val="1F2A37"/>
                </a:solidFill>
              </a:rPr>
              <a:t>Shorts</a:t>
            </a:r>
            <a:endParaRPr lang="en-US" sz="2200" dirty="0"/>
          </a:p>
          <a:p>
            <a:pPr algn="ctr" indent="0" marL="0">
              <a:buNone/>
            </a:pPr>
            <a:r>
              <a:rPr lang="en-US" sz="1100" dirty="0">
                <a:solidFill>
                  <a:srgbClr val="1F2A37"/>
                </a:solidFill>
              </a:rPr>
              <a:t>scurtcircuite</a:t>
            </a:r>
            <a:endParaRPr lang="en-US" sz="2200" dirty="0"/>
          </a:p>
        </p:txBody>
      </p:sp>
      <p:sp>
        <p:nvSpPr>
          <p:cNvPr id="17" name="Shape 15"/>
          <p:cNvSpPr/>
          <p:nvPr/>
        </p:nvSpPr>
        <p:spPr>
          <a:xfrm>
            <a:off x="4053840" y="2167128"/>
            <a:ext cx="2270760" cy="1051560"/>
          </a:xfrm>
          <a:prstGeom prst="roundRect">
            <a:avLst>
              <a:gd name="adj" fmla="val 8696"/>
            </a:avLst>
          </a:prstGeom>
          <a:solidFill>
            <a:srgbClr val="E5F0FA"/>
          </a:solidFill>
          <a:ln w="12700">
            <a:solidFill>
              <a:srgbClr val="E5F0FA"/>
            </a:solidFill>
            <a:prstDash val="solid"/>
          </a:ln>
        </p:spPr>
      </p:sp>
      <p:sp>
        <p:nvSpPr>
          <p:cNvPr id="18" name="Text 16"/>
          <p:cNvSpPr txBox="1"/>
          <p:nvPr/>
        </p:nvSpPr>
        <p:spPr>
          <a:xfrm>
            <a:off x="4108704" y="2203704"/>
            <a:ext cx="2161032" cy="978408"/>
          </a:xfrm>
          <a:prstGeom prst="rect">
            <a:avLst/>
          </a:prstGeom>
          <a:noFill/>
          <a:ln/>
        </p:spPr>
        <p:txBody>
          <a:bodyPr wrap="square" lIns="0" tIns="0" rIns="0" bIns="0" rtlCol="0" anchor="ctr"/>
          <a:lstStyle/>
          <a:p>
            <a:pPr algn="ctr" indent="0" marL="0">
              <a:buNone/>
            </a:pPr>
            <a:r>
              <a:rPr lang="en-US" sz="2200" b="1" dirty="0">
                <a:solidFill>
                  <a:srgbClr val="1F2A37"/>
                </a:solidFill>
              </a:rPr>
              <a:t>O</a:t>
            </a:r>
            <a:endParaRPr lang="en-US" sz="2200" dirty="0"/>
          </a:p>
          <a:p>
            <a:pPr algn="ctr" indent="0" marL="0">
              <a:buNone/>
            </a:pPr>
            <a:r>
              <a:rPr lang="en-US" sz="1100" dirty="0">
                <a:solidFill>
                  <a:srgbClr val="1F2A37"/>
                </a:solidFill>
              </a:rPr>
              <a:t>Opens</a:t>
            </a:r>
            <a:endParaRPr lang="en-US" sz="2200" dirty="0"/>
          </a:p>
          <a:p>
            <a:pPr algn="ctr" indent="0" marL="0">
              <a:buNone/>
            </a:pPr>
            <a:r>
              <a:rPr lang="en-US" sz="1100" dirty="0">
                <a:solidFill>
                  <a:srgbClr val="1F2A37"/>
                </a:solidFill>
              </a:rPr>
              <a:t>întreruperi</a:t>
            </a:r>
            <a:endParaRPr lang="en-US" sz="2200" dirty="0"/>
          </a:p>
        </p:txBody>
      </p:sp>
      <p:sp>
        <p:nvSpPr>
          <p:cNvPr id="19" name="Shape 17"/>
          <p:cNvSpPr/>
          <p:nvPr/>
        </p:nvSpPr>
        <p:spPr>
          <a:xfrm>
            <a:off x="6416040" y="2167128"/>
            <a:ext cx="2270760" cy="1051560"/>
          </a:xfrm>
          <a:prstGeom prst="roundRect">
            <a:avLst>
              <a:gd name="adj" fmla="val 8696"/>
            </a:avLst>
          </a:prstGeom>
          <a:solidFill>
            <a:srgbClr val="E5F0FA"/>
          </a:solidFill>
          <a:ln w="12700">
            <a:solidFill>
              <a:srgbClr val="E5F0FA"/>
            </a:solidFill>
            <a:prstDash val="solid"/>
          </a:ln>
        </p:spPr>
      </p:sp>
      <p:sp>
        <p:nvSpPr>
          <p:cNvPr id="20" name="Text 18"/>
          <p:cNvSpPr txBox="1"/>
          <p:nvPr/>
        </p:nvSpPr>
        <p:spPr>
          <a:xfrm>
            <a:off x="6470904" y="2203704"/>
            <a:ext cx="2161032" cy="978408"/>
          </a:xfrm>
          <a:prstGeom prst="rect">
            <a:avLst/>
          </a:prstGeom>
          <a:noFill/>
          <a:ln/>
        </p:spPr>
        <p:txBody>
          <a:bodyPr wrap="square" lIns="0" tIns="0" rIns="0" bIns="0" rtlCol="0" anchor="ctr"/>
          <a:lstStyle/>
          <a:p>
            <a:pPr algn="ctr" indent="0" marL="0">
              <a:buNone/>
            </a:pPr>
            <a:r>
              <a:rPr lang="en-US" sz="2200" b="1" dirty="0">
                <a:solidFill>
                  <a:srgbClr val="1F2A37"/>
                </a:solidFill>
              </a:rPr>
              <a:t>Q</a:t>
            </a:r>
            <a:endParaRPr lang="en-US" sz="2200" dirty="0"/>
          </a:p>
          <a:p>
            <a:pPr algn="ctr" indent="0" marL="0">
              <a:buNone/>
            </a:pPr>
            <a:r>
              <a:rPr lang="en-US" sz="1100" dirty="0">
                <a:solidFill>
                  <a:srgbClr val="1F2A37"/>
                </a:solidFill>
              </a:rPr>
              <a:t>Quality</a:t>
            </a:r>
            <a:endParaRPr lang="en-US" sz="2200" dirty="0"/>
          </a:p>
          <a:p>
            <a:pPr algn="ctr" indent="0" marL="0">
              <a:buNone/>
            </a:pPr>
            <a:r>
              <a:rPr lang="en-US" sz="1100" dirty="0">
                <a:solidFill>
                  <a:srgbClr val="1F2A37"/>
                </a:solidFill>
              </a:rPr>
              <a:t>calitatea lipiturii</a:t>
            </a:r>
            <a:endParaRPr lang="en-US" sz="2200" dirty="0"/>
          </a:p>
        </p:txBody>
      </p:sp>
      <p:sp>
        <p:nvSpPr>
          <p:cNvPr id="21" name="Text 19"/>
          <p:cNvSpPr txBox="1"/>
          <p:nvPr/>
        </p:nvSpPr>
        <p:spPr>
          <a:xfrm>
            <a:off x="457200" y="3328416"/>
            <a:ext cx="1234440" cy="1051560"/>
          </a:xfrm>
          <a:prstGeom prst="rect">
            <a:avLst/>
          </a:prstGeom>
          <a:noFill/>
          <a:ln/>
        </p:spPr>
        <p:txBody>
          <a:bodyPr wrap="square" lIns="0" tIns="0" rIns="0" bIns="0" rtlCol="0" anchor="ctr"/>
          <a:lstStyle/>
          <a:p>
            <a:pPr indent="0" marL="0">
              <a:buNone/>
            </a:pPr>
            <a:r>
              <a:rPr lang="en-US" sz="1500" b="1" dirty="0">
                <a:solidFill>
                  <a:srgbClr val="B7791F"/>
                </a:solidFill>
              </a:rPr>
              <a:t>Funcție</a:t>
            </a:r>
            <a:endParaRPr lang="en-US" sz="1500" dirty="0"/>
          </a:p>
          <a:p>
            <a:pPr indent="0" marL="0">
              <a:buNone/>
            </a:pPr>
            <a:r>
              <a:rPr lang="en-US" sz="1500" b="1" dirty="0">
                <a:solidFill>
                  <a:srgbClr val="B7791F"/>
                </a:solidFill>
              </a:rPr>
              <a:t>(FAM)</a:t>
            </a:r>
            <a:endParaRPr lang="en-US" sz="1500" dirty="0"/>
          </a:p>
        </p:txBody>
      </p:sp>
      <p:sp>
        <p:nvSpPr>
          <p:cNvPr id="22" name="Shape 20"/>
          <p:cNvSpPr/>
          <p:nvPr/>
        </p:nvSpPr>
        <p:spPr>
          <a:xfrm>
            <a:off x="1691640" y="3328416"/>
            <a:ext cx="2270760" cy="1051560"/>
          </a:xfrm>
          <a:prstGeom prst="roundRect">
            <a:avLst>
              <a:gd name="adj" fmla="val 8696"/>
            </a:avLst>
          </a:prstGeom>
          <a:solidFill>
            <a:srgbClr val="FFF4DE"/>
          </a:solidFill>
          <a:ln w="12700">
            <a:solidFill>
              <a:srgbClr val="FFF4DE"/>
            </a:solidFill>
            <a:prstDash val="solid"/>
          </a:ln>
        </p:spPr>
      </p:sp>
      <p:sp>
        <p:nvSpPr>
          <p:cNvPr id="23" name="Text 21"/>
          <p:cNvSpPr txBox="1"/>
          <p:nvPr/>
        </p:nvSpPr>
        <p:spPr>
          <a:xfrm>
            <a:off x="1746504" y="3364992"/>
            <a:ext cx="2161032" cy="978408"/>
          </a:xfrm>
          <a:prstGeom prst="rect">
            <a:avLst/>
          </a:prstGeom>
          <a:noFill/>
          <a:ln/>
        </p:spPr>
        <p:txBody>
          <a:bodyPr wrap="square" lIns="0" tIns="0" rIns="0" bIns="0" rtlCol="0" anchor="ctr"/>
          <a:lstStyle/>
          <a:p>
            <a:pPr algn="ctr" indent="0" marL="0">
              <a:buNone/>
            </a:pPr>
            <a:r>
              <a:rPr lang="en-US" sz="2200" b="1" dirty="0">
                <a:solidFill>
                  <a:srgbClr val="1F2A37"/>
                </a:solidFill>
              </a:rPr>
              <a:t>F</a:t>
            </a:r>
            <a:endParaRPr lang="en-US" sz="2200" dirty="0"/>
          </a:p>
          <a:p>
            <a:pPr algn="ctr" indent="0" marL="0">
              <a:buNone/>
            </a:pPr>
            <a:r>
              <a:rPr lang="en-US" sz="1100" dirty="0">
                <a:solidFill>
                  <a:srgbClr val="1F2A37"/>
                </a:solidFill>
              </a:rPr>
              <a:t>Feature</a:t>
            </a:r>
            <a:endParaRPr lang="en-US" sz="2200" dirty="0"/>
          </a:p>
          <a:p>
            <a:pPr algn="ctr" indent="0" marL="0">
              <a:buNone/>
            </a:pPr>
            <a:r>
              <a:rPr lang="en-US" sz="1100" dirty="0">
                <a:solidFill>
                  <a:srgbClr val="1F2A37"/>
                </a:solidFill>
              </a:rPr>
              <a:t>funcția există</a:t>
            </a:r>
            <a:endParaRPr lang="en-US" sz="2200" dirty="0"/>
          </a:p>
        </p:txBody>
      </p:sp>
      <p:sp>
        <p:nvSpPr>
          <p:cNvPr id="24" name="Shape 22"/>
          <p:cNvSpPr/>
          <p:nvPr/>
        </p:nvSpPr>
        <p:spPr>
          <a:xfrm>
            <a:off x="4053840" y="3328416"/>
            <a:ext cx="2270760" cy="1051560"/>
          </a:xfrm>
          <a:prstGeom prst="roundRect">
            <a:avLst>
              <a:gd name="adj" fmla="val 8696"/>
            </a:avLst>
          </a:prstGeom>
          <a:solidFill>
            <a:srgbClr val="FFF4DE"/>
          </a:solidFill>
          <a:ln w="12700">
            <a:solidFill>
              <a:srgbClr val="FFF4DE"/>
            </a:solidFill>
            <a:prstDash val="solid"/>
          </a:ln>
        </p:spPr>
      </p:sp>
      <p:sp>
        <p:nvSpPr>
          <p:cNvPr id="25" name="Text 23"/>
          <p:cNvSpPr txBox="1"/>
          <p:nvPr/>
        </p:nvSpPr>
        <p:spPr>
          <a:xfrm>
            <a:off x="4108704" y="3364992"/>
            <a:ext cx="2161032" cy="978408"/>
          </a:xfrm>
          <a:prstGeom prst="rect">
            <a:avLst/>
          </a:prstGeom>
          <a:noFill/>
          <a:ln/>
        </p:spPr>
        <p:txBody>
          <a:bodyPr wrap="square" lIns="0" tIns="0" rIns="0" bIns="0" rtlCol="0" anchor="ctr"/>
          <a:lstStyle/>
          <a:p>
            <a:pPr algn="ctr" indent="0" marL="0">
              <a:buNone/>
            </a:pPr>
            <a:r>
              <a:rPr lang="en-US" sz="2200" b="1" dirty="0">
                <a:solidFill>
                  <a:srgbClr val="1F2A37"/>
                </a:solidFill>
              </a:rPr>
              <a:t>A</a:t>
            </a:r>
            <a:endParaRPr lang="en-US" sz="2200" dirty="0"/>
          </a:p>
          <a:p>
            <a:pPr algn="ctr" indent="0" marL="0">
              <a:buNone/>
            </a:pPr>
            <a:r>
              <a:rPr lang="en-US" sz="1100" dirty="0">
                <a:solidFill>
                  <a:srgbClr val="1F2A37"/>
                </a:solidFill>
              </a:rPr>
              <a:t>At-speed</a:t>
            </a:r>
            <a:endParaRPr lang="en-US" sz="2200" dirty="0"/>
          </a:p>
          <a:p>
            <a:pPr algn="ctr" indent="0" marL="0">
              <a:buNone/>
            </a:pPr>
            <a:r>
              <a:rPr lang="en-US" sz="1100" dirty="0">
                <a:solidFill>
                  <a:srgbClr val="1F2A37"/>
                </a:solidFill>
              </a:rPr>
              <a:t>la viteza reală</a:t>
            </a:r>
            <a:endParaRPr lang="en-US" sz="2200" dirty="0"/>
          </a:p>
        </p:txBody>
      </p:sp>
      <p:sp>
        <p:nvSpPr>
          <p:cNvPr id="26" name="Shape 24"/>
          <p:cNvSpPr/>
          <p:nvPr/>
        </p:nvSpPr>
        <p:spPr>
          <a:xfrm>
            <a:off x="6416040" y="3328416"/>
            <a:ext cx="2270760" cy="1051560"/>
          </a:xfrm>
          <a:prstGeom prst="roundRect">
            <a:avLst>
              <a:gd name="adj" fmla="val 8696"/>
            </a:avLst>
          </a:prstGeom>
          <a:solidFill>
            <a:srgbClr val="FFF4DE"/>
          </a:solidFill>
          <a:ln w="12700">
            <a:solidFill>
              <a:srgbClr val="FFF4DE"/>
            </a:solidFill>
            <a:prstDash val="solid"/>
          </a:ln>
        </p:spPr>
      </p:sp>
      <p:sp>
        <p:nvSpPr>
          <p:cNvPr id="27" name="Text 25"/>
          <p:cNvSpPr txBox="1"/>
          <p:nvPr/>
        </p:nvSpPr>
        <p:spPr>
          <a:xfrm>
            <a:off x="6470904" y="3364992"/>
            <a:ext cx="2161032" cy="978408"/>
          </a:xfrm>
          <a:prstGeom prst="rect">
            <a:avLst/>
          </a:prstGeom>
          <a:noFill/>
          <a:ln/>
        </p:spPr>
        <p:txBody>
          <a:bodyPr wrap="square" lIns="0" tIns="0" rIns="0" bIns="0" rtlCol="0" anchor="ctr"/>
          <a:lstStyle/>
          <a:p>
            <a:pPr algn="ctr" indent="0" marL="0">
              <a:buNone/>
            </a:pPr>
            <a:r>
              <a:rPr lang="en-US" sz="2200" b="1" dirty="0">
                <a:solidFill>
                  <a:srgbClr val="1F2A37"/>
                </a:solidFill>
              </a:rPr>
              <a:t>M</a:t>
            </a:r>
            <a:endParaRPr lang="en-US" sz="2200" dirty="0"/>
          </a:p>
          <a:p>
            <a:pPr algn="ctr" indent="0" marL="0">
              <a:buNone/>
            </a:pPr>
            <a:r>
              <a:rPr lang="en-US" sz="1100" dirty="0">
                <a:solidFill>
                  <a:srgbClr val="1F2A37"/>
                </a:solidFill>
              </a:rPr>
              <a:t>Measurement</a:t>
            </a:r>
            <a:endParaRPr lang="en-US" sz="2200" dirty="0"/>
          </a:p>
          <a:p>
            <a:pPr algn="ctr" indent="0" marL="0">
              <a:buNone/>
            </a:pPr>
            <a:r>
              <a:rPr lang="en-US" sz="1100" dirty="0">
                <a:solidFill>
                  <a:srgbClr val="1F2A37"/>
                </a:solidFill>
              </a:rPr>
              <a:t>performanță măsurată</a:t>
            </a:r>
            <a:endParaRPr lang="en-US" sz="2200" dirty="0"/>
          </a:p>
        </p:txBody>
      </p:sp>
      <p:sp>
        <p:nvSpPr>
          <p:cNvPr id="28" name="sources"/>
          <p:cNvSpPr txBox="1"/>
          <p:nvPr/>
        </p:nvSpPr>
        <p:spPr>
          <a:xfrm>
            <a:off x="457200" y="4572000"/>
            <a:ext cx="7772400" cy="237744"/>
          </a:xfrm>
          <a:prstGeom prst="rect">
            <a:avLst/>
          </a:prstGeom>
          <a:noFill/>
          <a:ln/>
        </p:spPr>
        <p:txBody>
          <a:bodyPr wrap="square" lIns="0" tIns="0" rIns="0" bIns="0" rtlCol="0" anchor="ctr"/>
          <a:lstStyle/>
          <a:p>
            <a:pPr indent="0" marL="0">
              <a:buNone/>
            </a:pPr>
            <a:r>
              <a:rPr lang="en-US" sz="1000" i="1" dirty="0">
                <a:solidFill>
                  <a:srgbClr val="5B6575"/>
                </a:solidFill>
              </a:rPr>
              <a:t>Surse: [1] Hird et al., ITC 2002 (PCOLA/SOQ) · [5] Ley, ASSET InterTech (cadrul iNEMI PCOLA/SOQ/FAM)</a:t>
            </a:r>
            <a:endParaRPr lang="en-US" sz="10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600" b="1" dirty="0">
                <a:solidFill>
                  <a:srgbClr val="0B6E69"/>
                </a:solidFill>
              </a:rPr>
              <a:t>Ce prinde fiecare metodă de test</a:t>
            </a:r>
            <a:endParaRPr lang="en-US" sz="2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1920240"/>
                <a:gridCol w="630936"/>
                <a:gridCol w="630936"/>
                <a:gridCol w="630936"/>
                <a:gridCol w="630936"/>
                <a:gridCol w="630936"/>
                <a:gridCol w="630936"/>
                <a:gridCol w="630936"/>
                <a:gridCol w="630936"/>
                <a:gridCol w="896112"/>
              </a:tblGrid>
              <a:tr h="384048">
                <a:tc>
                  <a:txBody>
                    <a:bodyPr/>
                    <a:lstStyle/>
                    <a:p>
                      <a:pPr algn="ctr" indent="0" marL="0">
                        <a:buNone/>
                      </a:pPr>
                      <a:r>
                        <a:rPr lang="en-US" sz="1200" b="1" dirty="0">
                          <a:solidFill>
                            <a:srgbClr val="FFFFFF"/>
                          </a:solidFill>
                        </a:rPr>
                        <a:t>Metodă</a:t>
                      </a:r>
                      <a:endParaRPr lang="en-US" sz="12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0B6E69"/>
                    </a:solidFill>
                  </a:tcPr>
                </a:tc>
                <a:tc>
                  <a:txBody>
                    <a:bodyPr/>
                    <a:lstStyle/>
                    <a:p>
                      <a:pPr algn="ctr" indent="0" marL="0">
                        <a:buNone/>
                      </a:pPr>
                      <a:r>
                        <a:rPr lang="en-US" sz="1200" b="1" dirty="0">
                          <a:solidFill>
                            <a:srgbClr val="FFFFFF"/>
                          </a:solidFill>
                        </a:rPr>
                        <a:t>P</a:t>
                      </a:r>
                      <a:endParaRPr lang="en-US" sz="12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0B6E69"/>
                    </a:solidFill>
                  </a:tcPr>
                </a:tc>
                <a:tc>
                  <a:txBody>
                    <a:bodyPr/>
                    <a:lstStyle/>
                    <a:p>
                      <a:pPr algn="ctr" indent="0" marL="0">
                        <a:buNone/>
                      </a:pPr>
                      <a:r>
                        <a:rPr lang="en-US" sz="1200" b="1" dirty="0">
                          <a:solidFill>
                            <a:srgbClr val="FFFFFF"/>
                          </a:solidFill>
                        </a:rPr>
                        <a:t>C</a:t>
                      </a:r>
                      <a:endParaRPr lang="en-US" sz="12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0B6E69"/>
                    </a:solidFill>
                  </a:tcPr>
                </a:tc>
                <a:tc>
                  <a:txBody>
                    <a:bodyPr/>
                    <a:lstStyle/>
                    <a:p>
                      <a:pPr algn="ctr" indent="0" marL="0">
                        <a:buNone/>
                      </a:pPr>
                      <a:r>
                        <a:rPr lang="en-US" sz="1200" b="1" dirty="0">
                          <a:solidFill>
                            <a:srgbClr val="FFFFFF"/>
                          </a:solidFill>
                        </a:rPr>
                        <a:t>O</a:t>
                      </a:r>
                      <a:endParaRPr lang="en-US" sz="12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0B6E69"/>
                    </a:solidFill>
                  </a:tcPr>
                </a:tc>
                <a:tc>
                  <a:txBody>
                    <a:bodyPr/>
                    <a:lstStyle/>
                    <a:p>
                      <a:pPr algn="ctr" indent="0" marL="0">
                        <a:buNone/>
                      </a:pPr>
                      <a:r>
                        <a:rPr lang="en-US" sz="1200" b="1" dirty="0">
                          <a:solidFill>
                            <a:srgbClr val="FFFFFF"/>
                          </a:solidFill>
                        </a:rPr>
                        <a:t>L</a:t>
                      </a:r>
                      <a:endParaRPr lang="en-US" sz="12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0B6E69"/>
                    </a:solidFill>
                  </a:tcPr>
                </a:tc>
                <a:tc>
                  <a:txBody>
                    <a:bodyPr/>
                    <a:lstStyle/>
                    <a:p>
                      <a:pPr algn="ctr" indent="0" marL="0">
                        <a:buNone/>
                      </a:pPr>
                      <a:r>
                        <a:rPr lang="en-US" sz="1200" b="1" dirty="0">
                          <a:solidFill>
                            <a:srgbClr val="FFFFFF"/>
                          </a:solidFill>
                        </a:rPr>
                        <a:t>A</a:t>
                      </a:r>
                      <a:endParaRPr lang="en-US" sz="12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0B6E69"/>
                    </a:solidFill>
                  </a:tcPr>
                </a:tc>
                <a:tc>
                  <a:txBody>
                    <a:bodyPr/>
                    <a:lstStyle/>
                    <a:p>
                      <a:pPr algn="ctr" indent="0" marL="0">
                        <a:buNone/>
                      </a:pPr>
                      <a:r>
                        <a:rPr lang="en-US" sz="1200" b="1" dirty="0">
                          <a:solidFill>
                            <a:srgbClr val="FFFFFF"/>
                          </a:solidFill>
                        </a:rPr>
                        <a:t>S</a:t>
                      </a:r>
                      <a:endParaRPr lang="en-US" sz="12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0B6E69"/>
                    </a:solidFill>
                  </a:tcPr>
                </a:tc>
                <a:tc>
                  <a:txBody>
                    <a:bodyPr/>
                    <a:lstStyle/>
                    <a:p>
                      <a:pPr algn="ctr" indent="0" marL="0">
                        <a:buNone/>
                      </a:pPr>
                      <a:r>
                        <a:rPr lang="en-US" sz="1200" b="1" dirty="0">
                          <a:solidFill>
                            <a:srgbClr val="FFFFFF"/>
                          </a:solidFill>
                        </a:rPr>
                        <a:t>O</a:t>
                      </a:r>
                      <a:endParaRPr lang="en-US" sz="12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0B6E69"/>
                    </a:solidFill>
                  </a:tcPr>
                </a:tc>
                <a:tc>
                  <a:txBody>
                    <a:bodyPr/>
                    <a:lstStyle/>
                    <a:p>
                      <a:pPr algn="ctr" indent="0" marL="0">
                        <a:buNone/>
                      </a:pPr>
                      <a:r>
                        <a:rPr lang="en-US" sz="1200" b="1" dirty="0">
                          <a:solidFill>
                            <a:srgbClr val="FFFFFF"/>
                          </a:solidFill>
                        </a:rPr>
                        <a:t>Q</a:t>
                      </a:r>
                      <a:endParaRPr lang="en-US" sz="12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0B6E69"/>
                    </a:solidFill>
                  </a:tcPr>
                </a:tc>
                <a:tc>
                  <a:txBody>
                    <a:bodyPr/>
                    <a:lstStyle/>
                    <a:p>
                      <a:pPr algn="ctr" indent="0" marL="0">
                        <a:buNone/>
                      </a:pPr>
                      <a:r>
                        <a:rPr lang="en-US" sz="1200" b="1" dirty="0">
                          <a:solidFill>
                            <a:srgbClr val="FFFFFF"/>
                          </a:solidFill>
                        </a:rPr>
                        <a:t>FAM</a:t>
                      </a:r>
                      <a:endParaRPr lang="en-US" sz="12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0B6E69"/>
                    </a:solidFill>
                  </a:tcPr>
                </a:tc>
              </a:tr>
              <a:tr h="384048">
                <a:tc>
                  <a:txBody>
                    <a:bodyPr/>
                    <a:lstStyle/>
                    <a:p>
                      <a:pPr algn="l" indent="0" marL="0">
                        <a:buNone/>
                      </a:pPr>
                      <a:r>
                        <a:rPr lang="en-US" sz="1200" b="1" dirty="0">
                          <a:solidFill>
                            <a:srgbClr val="1F2A37"/>
                          </a:solidFill>
                        </a:rPr>
                        <a:t>AOI (optică)</a:t>
                      </a:r>
                      <a:endParaRPr lang="en-US" sz="12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CDEBE5"/>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4DE"/>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CDEBE5"/>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4F6F8"/>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CDEBE5"/>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4DE"/>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4DE"/>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4DE"/>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4F6F8"/>
                    </a:solidFill>
                  </a:tcPr>
                </a:tc>
              </a:tr>
              <a:tr h="384048">
                <a:tc>
                  <a:txBody>
                    <a:bodyPr/>
                    <a:lstStyle/>
                    <a:p>
                      <a:pPr algn="l" indent="0" marL="0">
                        <a:buNone/>
                      </a:pPr>
                      <a:r>
                        <a:rPr lang="en-US" sz="1200" b="1" dirty="0">
                          <a:solidFill>
                            <a:srgbClr val="1F2A37"/>
                          </a:solidFill>
                        </a:rPr>
                        <a:t>AXI (raze X)</a:t>
                      </a:r>
                      <a:endParaRPr lang="en-US" sz="12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CDEBE5"/>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4F6F8"/>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4DE"/>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4F6F8"/>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CDEBE5"/>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CDEBE5"/>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4DE"/>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CDEBE5"/>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4F6F8"/>
                    </a:solidFill>
                  </a:tcPr>
                </a:tc>
              </a:tr>
              <a:tr h="384048">
                <a:tc>
                  <a:txBody>
                    <a:bodyPr/>
                    <a:lstStyle/>
                    <a:p>
                      <a:pPr algn="l" indent="0" marL="0">
                        <a:buNone/>
                      </a:pPr>
                      <a:r>
                        <a:rPr lang="en-US" sz="1200" b="1" dirty="0">
                          <a:solidFill>
                            <a:srgbClr val="1F2A37"/>
                          </a:solidFill>
                        </a:rPr>
                        <a:t>ICT (în circuit)</a:t>
                      </a:r>
                      <a:endParaRPr lang="en-US" sz="12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CDEBE5"/>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CDEBE5"/>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4DE"/>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4DE"/>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4F6F8"/>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CDEBE5"/>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CDEBE5"/>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4F6F8"/>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4F6F8"/>
                    </a:solidFill>
                  </a:tcPr>
                </a:tc>
              </a:tr>
              <a:tr h="384048">
                <a:tc>
                  <a:txBody>
                    <a:bodyPr/>
                    <a:lstStyle/>
                    <a:p>
                      <a:pPr algn="l" indent="0" marL="0">
                        <a:buNone/>
                      </a:pPr>
                      <a:r>
                        <a:rPr lang="en-US" sz="1200" b="1" dirty="0">
                          <a:solidFill>
                            <a:srgbClr val="1F2A37"/>
                          </a:solidFill>
                        </a:rPr>
                        <a:t>Boundary scan</a:t>
                      </a:r>
                      <a:endParaRPr lang="en-US" sz="12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4DE"/>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4DE"/>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4DE"/>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4DE"/>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4F6F8"/>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CDEBE5"/>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CDEBE5"/>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4F6F8"/>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4F6F8"/>
                    </a:solidFill>
                  </a:tcPr>
                </a:tc>
              </a:tr>
              <a:tr h="384048">
                <a:tc>
                  <a:txBody>
                    <a:bodyPr/>
                    <a:lstStyle/>
                    <a:p>
                      <a:pPr algn="l" indent="0" marL="0">
                        <a:buNone/>
                      </a:pPr>
                      <a:r>
                        <a:rPr lang="en-US" sz="1200" b="1" dirty="0">
                          <a:solidFill>
                            <a:srgbClr val="1F2A37"/>
                          </a:solidFill>
                        </a:rPr>
                        <a:t>FT (funcțional)</a:t>
                      </a:r>
                      <a:endParaRPr lang="en-US" sz="12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4DE"/>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4DE"/>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4DE"/>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CDEBE5"/>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4F6F8"/>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4DE"/>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4DE"/>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4F6F8"/>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CDEBE5"/>
                    </a:solidFill>
                  </a:tcPr>
                </a:tc>
              </a:tr>
            </a:tbl>
          </a:graphicData>
        </a:graphic>
      </p:graphicFrame>
      <p:sp>
        <p:nvSpPr>
          <p:cNvPr id="4" name="Text 1"/>
          <p:cNvSpPr txBox="1"/>
          <p:nvPr/>
        </p:nvSpPr>
        <p:spPr>
          <a:xfrm>
            <a:off x="457200" y="3429000"/>
            <a:ext cx="8229600" cy="292608"/>
          </a:xfrm>
          <a:prstGeom prst="rect">
            <a:avLst/>
          </a:prstGeom>
          <a:noFill/>
          <a:ln/>
        </p:spPr>
        <p:txBody>
          <a:bodyPr wrap="square" lIns="0" tIns="0" rIns="0" bIns="0" rtlCol="0" anchor="ctr"/>
          <a:lstStyle/>
          <a:p>
            <a:pPr indent="0" marL="0">
              <a:buNone/>
            </a:pPr>
            <a:r>
              <a:rPr lang="en-US" sz="1100" dirty="0">
                <a:solidFill>
                  <a:srgbClr val="5B6575"/>
                </a:solidFill>
              </a:rPr>
              <a:t>● acoperire bună · ◐ parțială, depinde de componentă și acces · ○ slabă sau deloc. Tabel orientativ: valorile reale depind de placă, de accesul la test point-uri și de programul de test.</a:t>
            </a:r>
            <a:endParaRPr lang="en-US" sz="1100" dirty="0"/>
          </a:p>
        </p:txBody>
      </p:sp>
      <p:sp>
        <p:nvSpPr>
          <p:cNvPr id="5" name="sources"/>
          <p:cNvSpPr txBox="1"/>
          <p:nvPr/>
        </p:nvSpPr>
        <p:spPr>
          <a:xfrm>
            <a:off x="457200" y="4572000"/>
            <a:ext cx="7772400" cy="237744"/>
          </a:xfrm>
          <a:prstGeom prst="rect">
            <a:avLst/>
          </a:prstGeom>
          <a:noFill/>
          <a:ln/>
        </p:spPr>
        <p:txBody>
          <a:bodyPr wrap="square" lIns="0" tIns="0" rIns="0" bIns="0" rtlCol="0" anchor="ctr"/>
          <a:lstStyle/>
          <a:p>
            <a:pPr indent="0" marL="0">
              <a:buNone/>
            </a:pPr>
            <a:r>
              <a:rPr lang="en-US" sz="1000" i="1" dirty="0">
                <a:solidFill>
                  <a:srgbClr val="5B6575"/>
                </a:solidFill>
              </a:rPr>
              <a:t>Surse: [1] Hird et al., ITC 2002 · [3] Parker, ITC 2003 · [5] Ley (boundary scan nu acoperă FAM)</a:t>
            </a:r>
            <a:endParaRPr lang="en-US" sz="10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600" b="1" dirty="0">
                <a:solidFill>
                  <a:srgbClr val="0B6E69"/>
                </a:solidFill>
              </a:rPr>
              <a:t>Proiectare pentru testabilitate: test point-uri</a:t>
            </a:r>
            <a:endParaRPr lang="en-US" sz="2600" dirty="0"/>
          </a:p>
        </p:txBody>
      </p:sp>
      <p:sp>
        <p:nvSpPr>
          <p:cNvPr id="3" name="Text 1"/>
          <p:cNvSpPr txBox="1"/>
          <p:nvPr/>
        </p:nvSpPr>
        <p:spPr>
          <a:xfrm>
            <a:off x="457200" y="1051560"/>
            <a:ext cx="4937760" cy="3429000"/>
          </a:xfrm>
          <a:prstGeom prst="rect">
            <a:avLst/>
          </a:prstGeom>
          <a:noFill/>
          <a:ln/>
        </p:spPr>
        <p:txBody>
          <a:bodyPr wrap="square" lIns="635" tIns="635" rIns="635" bIns="635" rtlCol="0" anchor="t"/>
          <a:lstStyle/>
          <a:p>
            <a:pPr marL="177800" indent="-177800">
              <a:spcAft>
                <a:spcPts val="600"/>
              </a:spcAft>
              <a:buSzPct val="100000"/>
              <a:buChar char="•"/>
            </a:pPr>
            <a:r>
              <a:rPr lang="en-US" sz="1500" b="1" dirty="0">
                <a:solidFill>
                  <a:srgbClr val="1F2A37"/>
                </a:solidFill>
              </a:rPr>
              <a:t>ICT are nevoie de acces: </a:t>
            </a:r>
            <a:pPr indent="0" marL="0">
              <a:buNone/>
            </a:pPr>
            <a:r>
              <a:rPr lang="en-US" sz="1500" dirty="0">
                <a:solidFill>
                  <a:srgbClr val="1F2A37"/>
                </a:solidFill>
              </a:rPr>
              <a:t>fără test point pe net, componenta nu poate fi măsurată direct.</a:t>
            </a:r>
            <a:endParaRPr lang="en-US" sz="1500" dirty="0"/>
          </a:p>
          <a:p>
            <a:pPr marL="177800" indent="-177800">
              <a:spcAft>
                <a:spcPts val="600"/>
              </a:spcAft>
              <a:buSzPct val="100000"/>
              <a:buChar char="•"/>
            </a:pPr>
            <a:r>
              <a:rPr lang="en-US" sz="1500" b="1" dirty="0">
                <a:solidFill>
                  <a:srgbClr val="1F2A37"/>
                </a:solidFill>
              </a:rPr>
              <a:t>Se decide la design: </a:t>
            </a:r>
            <a:pPr indent="0" marL="0">
              <a:buNone/>
            </a:pPr>
            <a:r>
              <a:rPr lang="en-US" sz="1500" dirty="0">
                <a:solidFill>
                  <a:srgbClr val="1F2A37"/>
                </a:solidFill>
              </a:rPr>
              <a:t>TCA se face înainte de layout final, ca să se poată adăuga test point-uri.</a:t>
            </a:r>
            <a:endParaRPr lang="en-US" sz="1500" dirty="0"/>
          </a:p>
          <a:p>
            <a:pPr marL="177800" indent="-177800">
              <a:spcAft>
                <a:spcPts val="600"/>
              </a:spcAft>
              <a:buSzPct val="100000"/>
              <a:buChar char="•"/>
            </a:pPr>
            <a:r>
              <a:rPr lang="en-US" sz="1500" b="1" dirty="0">
                <a:solidFill>
                  <a:srgbClr val="1F2A37"/>
                </a:solidFill>
              </a:rPr>
              <a:t>Unelte dedicate: </a:t>
            </a:r>
            <a:pPr indent="0" marL="0">
              <a:buNone/>
            </a:pPr>
            <a:r>
              <a:rPr lang="en-US" sz="1500" dirty="0">
                <a:solidFill>
                  <a:srgbClr val="1F2A37"/>
                </a:solidFill>
              </a:rPr>
              <a:t>TestWay Express semnalează componente netestabile și test point-uri lipsă înainte de producția PCB [8].</a:t>
            </a:r>
            <a:endParaRPr lang="en-US" sz="1500" dirty="0"/>
          </a:p>
          <a:p>
            <a:pPr marL="177800" indent="-177800">
              <a:spcAft>
                <a:spcPts val="600"/>
              </a:spcAft>
              <a:buSzPct val="100000"/>
              <a:buChar char="•"/>
            </a:pPr>
            <a:r>
              <a:rPr lang="en-US" sz="1500" b="1" dirty="0">
                <a:solidFill>
                  <a:srgbClr val="1F2A37"/>
                </a:solidFill>
              </a:rPr>
              <a:t>Piața: </a:t>
            </a:r>
            <a:pPr indent="0" marL="0">
              <a:buNone/>
            </a:pPr>
            <a:r>
              <a:rPr lang="en-US" sz="1500" dirty="0">
                <a:solidFill>
                  <a:srgbClr val="1F2A37"/>
                </a:solidFill>
              </a:rPr>
              <a:t>ASTER Technologies (TestWay) a fost preluată de Siemens în ianuarie 2026 [7].</a:t>
            </a:r>
            <a:endParaRPr lang="en-US" sz="1500" dirty="0"/>
          </a:p>
        </p:txBody>
      </p:sp>
      <p:sp>
        <p:nvSpPr>
          <p:cNvPr id="4" name="image placeholder"/>
          <p:cNvSpPr/>
          <p:nvPr/>
        </p:nvSpPr>
        <p:spPr>
          <a:xfrm>
            <a:off x="5577840" y="1051560"/>
            <a:ext cx="3108960" cy="3383280"/>
          </a:xfrm>
          <a:prstGeom prst="roundRect">
            <a:avLst>
              <a:gd name="adj" fmla="val 3529"/>
            </a:avLst>
          </a:prstGeom>
          <a:solidFill>
            <a:srgbClr val="F4F6F8"/>
          </a:solidFill>
          <a:ln w="12700">
            <a:solidFill>
              <a:srgbClr val="9AA5B1"/>
            </a:solidFill>
            <a:prstDash val="dash"/>
          </a:ln>
        </p:spPr>
      </p:sp>
      <p:sp>
        <p:nvSpPr>
          <p:cNvPr id="5" name="image placeholder label"/>
          <p:cNvSpPr txBox="1"/>
          <p:nvPr/>
        </p:nvSpPr>
        <p:spPr>
          <a:xfrm>
            <a:off x="5715000" y="1143000"/>
            <a:ext cx="2834640" cy="3200400"/>
          </a:xfrm>
          <a:prstGeom prst="rect">
            <a:avLst/>
          </a:prstGeom>
          <a:noFill/>
          <a:ln/>
        </p:spPr>
        <p:txBody>
          <a:bodyPr wrap="square" rtlCol="0" anchor="ctr"/>
          <a:lstStyle/>
          <a:p>
            <a:pPr algn="ctr" indent="0" marL="0">
              <a:buNone/>
            </a:pPr>
            <a:r>
              <a:rPr lang="en-US" sz="1200" i="1" dirty="0">
                <a:solidFill>
                  <a:srgbClr val="5B6575"/>
                </a:solidFill>
              </a:rPr>
              <a:t>Loc pentru imagine:</a:t>
            </a:r>
            <a:endParaRPr lang="en-US" sz="1200" dirty="0"/>
          </a:p>
          <a:p>
            <a:pPr algn="ctr" indent="0" marL="0">
              <a:buNone/>
            </a:pPr>
            <a:r>
              <a:rPr lang="en-US" sz="1200" i="1" dirty="0">
                <a:solidFill>
                  <a:srgbClr val="5B6575"/>
                </a:solidFill>
              </a:rPr>
              <a:t>fixture ICT cu ace / test point-uri pe placă</a:t>
            </a:r>
            <a:endParaRPr lang="en-US" sz="1200" dirty="0"/>
          </a:p>
        </p:txBody>
      </p:sp>
      <p:sp>
        <p:nvSpPr>
          <p:cNvPr id="6" name="sources"/>
          <p:cNvSpPr txBox="1"/>
          <p:nvPr/>
        </p:nvSpPr>
        <p:spPr>
          <a:xfrm>
            <a:off x="457200" y="4572000"/>
            <a:ext cx="7772400" cy="237744"/>
          </a:xfrm>
          <a:prstGeom prst="rect">
            <a:avLst/>
          </a:prstGeom>
          <a:noFill/>
          <a:ln/>
        </p:spPr>
        <p:txBody>
          <a:bodyPr wrap="square" lIns="0" tIns="0" rIns="0" bIns="0" rtlCol="0" anchor="ctr"/>
          <a:lstStyle/>
          <a:p>
            <a:pPr indent="0" marL="0">
              <a:buNone/>
            </a:pPr>
            <a:r>
              <a:rPr lang="en-US" sz="1000" i="1" dirty="0">
                <a:solidFill>
                  <a:srgbClr val="5B6575"/>
                </a:solidFill>
              </a:rPr>
              <a:t>Surse: [7] Siemens, 13 ian. 2026 · [8] Control.com, 2026</a:t>
            </a:r>
            <a:endParaRPr lang="en-US" sz="10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600" b="1" dirty="0">
                <a:solidFill>
                  <a:srgbClr val="0B6E69"/>
                </a:solidFill>
              </a:rPr>
              <a:t>Risc: analiză, evaluare, risc rezidual</a:t>
            </a:r>
            <a:endParaRPr lang="en-US" sz="2600" dirty="0"/>
          </a:p>
        </p:txBody>
      </p:sp>
      <p:sp>
        <p:nvSpPr>
          <p:cNvPr id="3" name="Shape 1"/>
          <p:cNvSpPr/>
          <p:nvPr/>
        </p:nvSpPr>
        <p:spPr>
          <a:xfrm>
            <a:off x="457200" y="1051560"/>
            <a:ext cx="1558138" cy="1417320"/>
          </a:xfrm>
          <a:prstGeom prst="roundRect">
            <a:avLst>
              <a:gd name="adj" fmla="val 6452"/>
            </a:avLst>
          </a:prstGeom>
          <a:solidFill>
            <a:srgbClr val="E3F4F1"/>
          </a:solidFill>
          <a:ln w="6350">
            <a:solidFill>
              <a:srgbClr val="E3F4F1"/>
            </a:solidFill>
            <a:prstDash val="solid"/>
          </a:ln>
        </p:spPr>
      </p:sp>
      <p:sp>
        <p:nvSpPr>
          <p:cNvPr id="4" name="Text 2"/>
          <p:cNvSpPr txBox="1"/>
          <p:nvPr/>
        </p:nvSpPr>
        <p:spPr>
          <a:xfrm>
            <a:off x="566928" y="1124712"/>
            <a:ext cx="1338682" cy="1271016"/>
          </a:xfrm>
          <a:prstGeom prst="rect">
            <a:avLst/>
          </a:prstGeom>
          <a:noFill/>
          <a:ln/>
        </p:spPr>
        <p:txBody>
          <a:bodyPr wrap="square" lIns="254" tIns="254" rIns="254" bIns="254" rtlCol="0" anchor="t"/>
          <a:lstStyle/>
          <a:p>
            <a:pPr indent="0" marL="0">
              <a:spcAft>
                <a:spcPts val="300"/>
              </a:spcAft>
              <a:buNone/>
            </a:pPr>
            <a:r>
              <a:rPr lang="en-US" sz="1300" b="1" dirty="0">
                <a:solidFill>
                  <a:srgbClr val="0B6E69"/>
                </a:solidFill>
              </a:rPr>
              <a:t>Identificare</a:t>
            </a:r>
            <a:endParaRPr lang="en-US" sz="1300" dirty="0"/>
          </a:p>
          <a:p>
            <a:pPr indent="0" marL="0">
              <a:spcAft>
                <a:spcPts val="300"/>
              </a:spcAft>
              <a:buNone/>
            </a:pPr>
            <a:r>
              <a:rPr lang="en-US" sz="1200" dirty="0">
                <a:solidFill>
                  <a:srgbClr val="1F2A37"/>
                </a:solidFill>
              </a:rPr>
              <a:t>ce poate merge prost?</a:t>
            </a:r>
            <a:endParaRPr lang="en-US" sz="1300" dirty="0"/>
          </a:p>
        </p:txBody>
      </p:sp>
      <p:sp>
        <p:nvSpPr>
          <p:cNvPr id="5" name="Text 3"/>
          <p:cNvSpPr txBox="1"/>
          <p:nvPr/>
        </p:nvSpPr>
        <p:spPr>
          <a:xfrm>
            <a:off x="1997050" y="1554480"/>
            <a:ext cx="146304" cy="365760"/>
          </a:xfrm>
          <a:prstGeom prst="rect">
            <a:avLst/>
          </a:prstGeom>
          <a:noFill/>
          <a:ln/>
        </p:spPr>
        <p:txBody>
          <a:bodyPr wrap="square" lIns="0" tIns="0" rIns="0" bIns="0" rtlCol="0" anchor="ctr"/>
          <a:lstStyle/>
          <a:p>
            <a:pPr algn="ctr" indent="0" marL="0">
              <a:buNone/>
            </a:pPr>
            <a:r>
              <a:rPr lang="en-US" sz="2000" dirty="0">
                <a:solidFill>
                  <a:srgbClr val="5B6575"/>
                </a:solidFill>
              </a:rPr>
              <a:t>›</a:t>
            </a:r>
            <a:endParaRPr lang="en-US" sz="2000" dirty="0"/>
          </a:p>
        </p:txBody>
      </p:sp>
      <p:sp>
        <p:nvSpPr>
          <p:cNvPr id="6" name="Shape 4"/>
          <p:cNvSpPr/>
          <p:nvPr/>
        </p:nvSpPr>
        <p:spPr>
          <a:xfrm>
            <a:off x="2125066" y="1051560"/>
            <a:ext cx="1558138" cy="1417320"/>
          </a:xfrm>
          <a:prstGeom prst="roundRect">
            <a:avLst>
              <a:gd name="adj" fmla="val 6452"/>
            </a:avLst>
          </a:prstGeom>
          <a:solidFill>
            <a:srgbClr val="E3F4F1"/>
          </a:solidFill>
          <a:ln w="6350">
            <a:solidFill>
              <a:srgbClr val="E3F4F1"/>
            </a:solidFill>
            <a:prstDash val="solid"/>
          </a:ln>
        </p:spPr>
      </p:sp>
      <p:sp>
        <p:nvSpPr>
          <p:cNvPr id="7" name="Text 5"/>
          <p:cNvSpPr txBox="1"/>
          <p:nvPr/>
        </p:nvSpPr>
        <p:spPr>
          <a:xfrm>
            <a:off x="2234794" y="1124712"/>
            <a:ext cx="1338682" cy="1271016"/>
          </a:xfrm>
          <a:prstGeom prst="rect">
            <a:avLst/>
          </a:prstGeom>
          <a:noFill/>
          <a:ln/>
        </p:spPr>
        <p:txBody>
          <a:bodyPr wrap="square" lIns="254" tIns="254" rIns="254" bIns="254" rtlCol="0" anchor="t"/>
          <a:lstStyle/>
          <a:p>
            <a:pPr indent="0" marL="0">
              <a:spcAft>
                <a:spcPts val="300"/>
              </a:spcAft>
              <a:buNone/>
            </a:pPr>
            <a:r>
              <a:rPr lang="en-US" sz="1300" b="1" dirty="0">
                <a:solidFill>
                  <a:srgbClr val="0B6E69"/>
                </a:solidFill>
              </a:rPr>
              <a:t>Analiză</a:t>
            </a:r>
            <a:endParaRPr lang="en-US" sz="1300" dirty="0"/>
          </a:p>
          <a:p>
            <a:pPr indent="0" marL="0">
              <a:spcAft>
                <a:spcPts val="300"/>
              </a:spcAft>
              <a:buNone/>
            </a:pPr>
            <a:r>
              <a:rPr lang="en-US" sz="1200" dirty="0">
                <a:solidFill>
                  <a:srgbClr val="1F2A37"/>
                </a:solidFill>
              </a:rPr>
              <a:t>cât de grav, cât de des, cât de detectabil?</a:t>
            </a:r>
            <a:endParaRPr lang="en-US" sz="1300" dirty="0"/>
          </a:p>
        </p:txBody>
      </p:sp>
      <p:sp>
        <p:nvSpPr>
          <p:cNvPr id="8" name="Text 6"/>
          <p:cNvSpPr txBox="1"/>
          <p:nvPr/>
        </p:nvSpPr>
        <p:spPr>
          <a:xfrm>
            <a:off x="3664915" y="1554480"/>
            <a:ext cx="146304" cy="365760"/>
          </a:xfrm>
          <a:prstGeom prst="rect">
            <a:avLst/>
          </a:prstGeom>
          <a:noFill/>
          <a:ln/>
        </p:spPr>
        <p:txBody>
          <a:bodyPr wrap="square" lIns="0" tIns="0" rIns="0" bIns="0" rtlCol="0" anchor="ctr"/>
          <a:lstStyle/>
          <a:p>
            <a:pPr algn="ctr" indent="0" marL="0">
              <a:buNone/>
            </a:pPr>
            <a:r>
              <a:rPr lang="en-US" sz="2000" dirty="0">
                <a:solidFill>
                  <a:srgbClr val="5B6575"/>
                </a:solidFill>
              </a:rPr>
              <a:t>›</a:t>
            </a:r>
            <a:endParaRPr lang="en-US" sz="2000" dirty="0"/>
          </a:p>
        </p:txBody>
      </p:sp>
      <p:sp>
        <p:nvSpPr>
          <p:cNvPr id="9" name="Shape 7"/>
          <p:cNvSpPr/>
          <p:nvPr/>
        </p:nvSpPr>
        <p:spPr>
          <a:xfrm>
            <a:off x="3792931" y="1051560"/>
            <a:ext cx="1558138" cy="1417320"/>
          </a:xfrm>
          <a:prstGeom prst="roundRect">
            <a:avLst>
              <a:gd name="adj" fmla="val 6452"/>
            </a:avLst>
          </a:prstGeom>
          <a:solidFill>
            <a:srgbClr val="FFF4DE"/>
          </a:solidFill>
          <a:ln w="6350">
            <a:solidFill>
              <a:srgbClr val="FFF4DE"/>
            </a:solidFill>
            <a:prstDash val="solid"/>
          </a:ln>
        </p:spPr>
      </p:sp>
      <p:sp>
        <p:nvSpPr>
          <p:cNvPr id="10" name="Text 8"/>
          <p:cNvSpPr txBox="1"/>
          <p:nvPr/>
        </p:nvSpPr>
        <p:spPr>
          <a:xfrm>
            <a:off x="3902659" y="1124712"/>
            <a:ext cx="1338682" cy="1271016"/>
          </a:xfrm>
          <a:prstGeom prst="rect">
            <a:avLst/>
          </a:prstGeom>
          <a:noFill/>
          <a:ln/>
        </p:spPr>
        <p:txBody>
          <a:bodyPr wrap="square" lIns="254" tIns="254" rIns="254" bIns="254" rtlCol="0" anchor="t"/>
          <a:lstStyle/>
          <a:p>
            <a:pPr indent="0" marL="0">
              <a:spcAft>
                <a:spcPts val="300"/>
              </a:spcAft>
              <a:buNone/>
            </a:pPr>
            <a:r>
              <a:rPr lang="en-US" sz="1300" b="1" dirty="0">
                <a:solidFill>
                  <a:srgbClr val="0B6E69"/>
                </a:solidFill>
              </a:rPr>
              <a:t>Evaluare</a:t>
            </a:r>
            <a:endParaRPr lang="en-US" sz="1300" dirty="0"/>
          </a:p>
          <a:p>
            <a:pPr indent="0" marL="0">
              <a:spcAft>
                <a:spcPts val="300"/>
              </a:spcAft>
              <a:buNone/>
            </a:pPr>
            <a:r>
              <a:rPr lang="en-US" sz="1200" dirty="0">
                <a:solidFill>
                  <a:srgbClr val="1F2A37"/>
                </a:solidFill>
              </a:rPr>
              <a:t>comparăm cu criteriile: acceptăm sau acționăm?</a:t>
            </a:r>
            <a:endParaRPr lang="en-US" sz="1300" dirty="0"/>
          </a:p>
        </p:txBody>
      </p:sp>
      <p:sp>
        <p:nvSpPr>
          <p:cNvPr id="11" name="Text 9"/>
          <p:cNvSpPr txBox="1"/>
          <p:nvPr/>
        </p:nvSpPr>
        <p:spPr>
          <a:xfrm>
            <a:off x="5332781" y="1554480"/>
            <a:ext cx="146304" cy="365760"/>
          </a:xfrm>
          <a:prstGeom prst="rect">
            <a:avLst/>
          </a:prstGeom>
          <a:noFill/>
          <a:ln/>
        </p:spPr>
        <p:txBody>
          <a:bodyPr wrap="square" lIns="0" tIns="0" rIns="0" bIns="0" rtlCol="0" anchor="ctr"/>
          <a:lstStyle/>
          <a:p>
            <a:pPr algn="ctr" indent="0" marL="0">
              <a:buNone/>
            </a:pPr>
            <a:r>
              <a:rPr lang="en-US" sz="2000" dirty="0">
                <a:solidFill>
                  <a:srgbClr val="5B6575"/>
                </a:solidFill>
              </a:rPr>
              <a:t>›</a:t>
            </a:r>
            <a:endParaRPr lang="en-US" sz="2000" dirty="0"/>
          </a:p>
        </p:txBody>
      </p:sp>
      <p:sp>
        <p:nvSpPr>
          <p:cNvPr id="12" name="Shape 10"/>
          <p:cNvSpPr/>
          <p:nvPr/>
        </p:nvSpPr>
        <p:spPr>
          <a:xfrm>
            <a:off x="5460797" y="1051560"/>
            <a:ext cx="1558138" cy="1417320"/>
          </a:xfrm>
          <a:prstGeom prst="roundRect">
            <a:avLst>
              <a:gd name="adj" fmla="val 6452"/>
            </a:avLst>
          </a:prstGeom>
          <a:solidFill>
            <a:srgbClr val="FFF4DE"/>
          </a:solidFill>
          <a:ln w="6350">
            <a:solidFill>
              <a:srgbClr val="FFF4DE"/>
            </a:solidFill>
            <a:prstDash val="solid"/>
          </a:ln>
        </p:spPr>
      </p:sp>
      <p:sp>
        <p:nvSpPr>
          <p:cNvPr id="13" name="Text 11"/>
          <p:cNvSpPr txBox="1"/>
          <p:nvPr/>
        </p:nvSpPr>
        <p:spPr>
          <a:xfrm>
            <a:off x="5570525" y="1124712"/>
            <a:ext cx="1338682" cy="1271016"/>
          </a:xfrm>
          <a:prstGeom prst="rect">
            <a:avLst/>
          </a:prstGeom>
          <a:noFill/>
          <a:ln/>
        </p:spPr>
        <p:txBody>
          <a:bodyPr wrap="square" lIns="254" tIns="254" rIns="254" bIns="254" rtlCol="0" anchor="t"/>
          <a:lstStyle/>
          <a:p>
            <a:pPr indent="0" marL="0">
              <a:spcAft>
                <a:spcPts val="300"/>
              </a:spcAft>
              <a:buNone/>
            </a:pPr>
            <a:r>
              <a:rPr lang="en-US" sz="1300" b="1" dirty="0">
                <a:solidFill>
                  <a:srgbClr val="0B6E69"/>
                </a:solidFill>
              </a:rPr>
              <a:t>Tratare</a:t>
            </a:r>
            <a:endParaRPr lang="en-US" sz="1300" dirty="0"/>
          </a:p>
          <a:p>
            <a:pPr indent="0" marL="0">
              <a:spcAft>
                <a:spcPts val="300"/>
              </a:spcAft>
              <a:buNone/>
            </a:pPr>
            <a:r>
              <a:rPr lang="en-US" sz="1200" dirty="0">
                <a:solidFill>
                  <a:srgbClr val="1F2A37"/>
                </a:solidFill>
              </a:rPr>
              <a:t>acțiuni: test point, test nou, design</a:t>
            </a:r>
            <a:endParaRPr lang="en-US" sz="1300" dirty="0"/>
          </a:p>
        </p:txBody>
      </p:sp>
      <p:sp>
        <p:nvSpPr>
          <p:cNvPr id="14" name="Text 12"/>
          <p:cNvSpPr txBox="1"/>
          <p:nvPr/>
        </p:nvSpPr>
        <p:spPr>
          <a:xfrm>
            <a:off x="7000646" y="1554480"/>
            <a:ext cx="146304" cy="365760"/>
          </a:xfrm>
          <a:prstGeom prst="rect">
            <a:avLst/>
          </a:prstGeom>
          <a:noFill/>
          <a:ln/>
        </p:spPr>
        <p:txBody>
          <a:bodyPr wrap="square" lIns="0" tIns="0" rIns="0" bIns="0" rtlCol="0" anchor="ctr"/>
          <a:lstStyle/>
          <a:p>
            <a:pPr algn="ctr" indent="0" marL="0">
              <a:buNone/>
            </a:pPr>
            <a:r>
              <a:rPr lang="en-US" sz="2000" dirty="0">
                <a:solidFill>
                  <a:srgbClr val="5B6575"/>
                </a:solidFill>
              </a:rPr>
              <a:t>›</a:t>
            </a:r>
            <a:endParaRPr lang="en-US" sz="2000" dirty="0"/>
          </a:p>
        </p:txBody>
      </p:sp>
      <p:sp>
        <p:nvSpPr>
          <p:cNvPr id="15" name="Shape 13"/>
          <p:cNvSpPr/>
          <p:nvPr/>
        </p:nvSpPr>
        <p:spPr>
          <a:xfrm>
            <a:off x="7128662" y="1051560"/>
            <a:ext cx="1558138" cy="1417320"/>
          </a:xfrm>
          <a:prstGeom prst="roundRect">
            <a:avLst>
              <a:gd name="adj" fmla="val 6452"/>
            </a:avLst>
          </a:prstGeom>
          <a:solidFill>
            <a:srgbClr val="FCE9E7"/>
          </a:solidFill>
          <a:ln w="6350">
            <a:solidFill>
              <a:srgbClr val="FCE9E7"/>
            </a:solidFill>
            <a:prstDash val="solid"/>
          </a:ln>
        </p:spPr>
      </p:sp>
      <p:sp>
        <p:nvSpPr>
          <p:cNvPr id="16" name="Text 14"/>
          <p:cNvSpPr txBox="1"/>
          <p:nvPr/>
        </p:nvSpPr>
        <p:spPr>
          <a:xfrm>
            <a:off x="7238390" y="1124712"/>
            <a:ext cx="1338682" cy="1271016"/>
          </a:xfrm>
          <a:prstGeom prst="rect">
            <a:avLst/>
          </a:prstGeom>
          <a:noFill/>
          <a:ln/>
        </p:spPr>
        <p:txBody>
          <a:bodyPr wrap="square" lIns="254" tIns="254" rIns="254" bIns="254" rtlCol="0" anchor="t"/>
          <a:lstStyle/>
          <a:p>
            <a:pPr indent="0" marL="0">
              <a:spcAft>
                <a:spcPts val="300"/>
              </a:spcAft>
              <a:buNone/>
            </a:pPr>
            <a:r>
              <a:rPr lang="en-US" sz="1300" b="1" dirty="0">
                <a:solidFill>
                  <a:srgbClr val="E46A5E"/>
                </a:solidFill>
              </a:rPr>
              <a:t>Risc rezidual</a:t>
            </a:r>
            <a:endParaRPr lang="en-US" sz="1300" dirty="0"/>
          </a:p>
          <a:p>
            <a:pPr indent="0" marL="0">
              <a:spcAft>
                <a:spcPts val="300"/>
              </a:spcAft>
              <a:buNone/>
            </a:pPr>
            <a:r>
              <a:rPr lang="en-US" sz="1200" dirty="0">
                <a:solidFill>
                  <a:srgbClr val="1F2A37"/>
                </a:solidFill>
              </a:rPr>
              <a:t>ce rămâne, documentat</a:t>
            </a:r>
            <a:endParaRPr lang="en-US" sz="1300" dirty="0"/>
          </a:p>
        </p:txBody>
      </p:sp>
      <p:sp>
        <p:nvSpPr>
          <p:cNvPr id="17" name="Text 15"/>
          <p:cNvSpPr txBox="1"/>
          <p:nvPr/>
        </p:nvSpPr>
        <p:spPr>
          <a:xfrm>
            <a:off x="457200" y="2697480"/>
            <a:ext cx="4937760" cy="1783080"/>
          </a:xfrm>
          <a:prstGeom prst="rect">
            <a:avLst/>
          </a:prstGeom>
          <a:noFill/>
          <a:ln/>
        </p:spPr>
        <p:txBody>
          <a:bodyPr wrap="square" lIns="635" tIns="635" rIns="635" bIns="635" rtlCol="0" anchor="t"/>
          <a:lstStyle/>
          <a:p>
            <a:pPr marL="177800" indent="-177800">
              <a:spcAft>
                <a:spcPts val="600"/>
              </a:spcAft>
              <a:buSzPct val="100000"/>
              <a:buChar char="•"/>
            </a:pPr>
            <a:r>
              <a:rPr lang="en-US" sz="1400" b="1" dirty="0">
                <a:solidFill>
                  <a:srgbClr val="1F2A37"/>
                </a:solidFill>
              </a:rPr>
              <a:t>Evaluarea riscului (risk assessment) </a:t>
            </a:r>
            <a:pPr indent="0" marL="0">
              <a:buNone/>
            </a:pPr>
            <a:r>
              <a:rPr lang="en-US" sz="1400" dirty="0">
                <a:solidFill>
                  <a:srgbClr val="1F2A37"/>
                </a:solidFill>
              </a:rPr>
              <a:t>= identificare + analiză + evaluare [10].</a:t>
            </a:r>
            <a:endParaRPr lang="en-US" sz="1400" dirty="0"/>
          </a:p>
          <a:p>
            <a:pPr marL="177800" indent="-177800">
              <a:spcAft>
                <a:spcPts val="600"/>
              </a:spcAft>
              <a:buSzPct val="100000"/>
              <a:buChar char="•"/>
            </a:pPr>
            <a:r>
              <a:rPr lang="en-US" sz="1400" b="1" dirty="0">
                <a:solidFill>
                  <a:srgbClr val="1F2A37"/>
                </a:solidFill>
              </a:rPr>
              <a:t>Riscul rezidual </a:t>
            </a:r>
            <a:pPr indent="0" marL="0">
              <a:buNone/>
            </a:pPr>
            <a:r>
              <a:rPr lang="en-US" sz="1400" dirty="0">
                <a:solidFill>
                  <a:srgbClr val="1F2A37"/>
                </a:solidFill>
              </a:rPr>
              <a:t>este riscul care rămâne după tratare [11].</a:t>
            </a:r>
            <a:endParaRPr lang="en-US" sz="1400" dirty="0"/>
          </a:p>
          <a:p>
            <a:pPr marL="177800" indent="-177800">
              <a:spcAft>
                <a:spcPts val="600"/>
              </a:spcAft>
              <a:buSzPct val="100000"/>
              <a:buChar char="•"/>
            </a:pPr>
            <a:r>
              <a:rPr lang="en-US" sz="1400" b="1" dirty="0">
                <a:solidFill>
                  <a:srgbClr val="1F2A37"/>
                </a:solidFill>
              </a:rPr>
              <a:t>FMEA </a:t>
            </a:r>
            <a:pPr indent="0" marL="0">
              <a:buNone/>
            </a:pPr>
            <a:r>
              <a:rPr lang="en-US" sz="1400" dirty="0">
                <a:solidFill>
                  <a:srgbClr val="1F2A37"/>
                </a:solidFill>
              </a:rPr>
              <a:t>este una dintre tehnicile de evaluare a riscului [12].</a:t>
            </a:r>
            <a:endParaRPr lang="en-US" sz="1400" dirty="0"/>
          </a:p>
        </p:txBody>
      </p:sp>
      <p:sp>
        <p:nvSpPr>
          <p:cNvPr id="18" name="image placeholder"/>
          <p:cNvSpPr/>
          <p:nvPr/>
        </p:nvSpPr>
        <p:spPr>
          <a:xfrm>
            <a:off x="5577840" y="2697480"/>
            <a:ext cx="3108960" cy="1783080"/>
          </a:xfrm>
          <a:prstGeom prst="roundRect">
            <a:avLst>
              <a:gd name="adj" fmla="val 6154"/>
            </a:avLst>
          </a:prstGeom>
          <a:solidFill>
            <a:srgbClr val="F4F6F8"/>
          </a:solidFill>
          <a:ln w="12700">
            <a:solidFill>
              <a:srgbClr val="9AA5B1"/>
            </a:solidFill>
            <a:prstDash val="dash"/>
          </a:ln>
        </p:spPr>
      </p:sp>
      <p:sp>
        <p:nvSpPr>
          <p:cNvPr id="19" name="image placeholder label"/>
          <p:cNvSpPr txBox="1"/>
          <p:nvPr/>
        </p:nvSpPr>
        <p:spPr>
          <a:xfrm>
            <a:off x="5715000" y="2788920"/>
            <a:ext cx="2834640" cy="1600200"/>
          </a:xfrm>
          <a:prstGeom prst="rect">
            <a:avLst/>
          </a:prstGeom>
          <a:noFill/>
          <a:ln/>
        </p:spPr>
        <p:txBody>
          <a:bodyPr wrap="square" rtlCol="0" anchor="ctr"/>
          <a:lstStyle/>
          <a:p>
            <a:pPr algn="ctr" indent="0" marL="0">
              <a:buNone/>
            </a:pPr>
            <a:r>
              <a:rPr lang="en-US" sz="1200" i="1" dirty="0">
                <a:solidFill>
                  <a:srgbClr val="5B6575"/>
                </a:solidFill>
              </a:rPr>
              <a:t>Loc pentru imagine:</a:t>
            </a:r>
            <a:endParaRPr lang="en-US" sz="1200" dirty="0"/>
          </a:p>
          <a:p>
            <a:pPr algn="ctr" indent="0" marL="0">
              <a:buNone/>
            </a:pPr>
            <a:r>
              <a:rPr lang="en-US" sz="1200" i="1" dirty="0">
                <a:solidFill>
                  <a:srgbClr val="5B6575"/>
                </a:solidFill>
              </a:rPr>
              <a:t>procesul de management al riscului (ISO 31000)</a:t>
            </a:r>
            <a:endParaRPr lang="en-US" sz="1200" dirty="0"/>
          </a:p>
        </p:txBody>
      </p:sp>
      <p:sp>
        <p:nvSpPr>
          <p:cNvPr id="20" name="sources"/>
          <p:cNvSpPr txBox="1"/>
          <p:nvPr/>
        </p:nvSpPr>
        <p:spPr>
          <a:xfrm>
            <a:off x="457200" y="4572000"/>
            <a:ext cx="7772400" cy="237744"/>
          </a:xfrm>
          <a:prstGeom prst="rect">
            <a:avLst/>
          </a:prstGeom>
          <a:noFill/>
          <a:ln/>
        </p:spPr>
        <p:txBody>
          <a:bodyPr wrap="square" lIns="0" tIns="0" rIns="0" bIns="0" rtlCol="0" anchor="ctr"/>
          <a:lstStyle/>
          <a:p>
            <a:pPr indent="0" marL="0">
              <a:buNone/>
            </a:pPr>
            <a:r>
              <a:rPr lang="en-US" sz="1000" i="1" dirty="0">
                <a:solidFill>
                  <a:srgbClr val="5B6575"/>
                </a:solidFill>
              </a:rPr>
              <a:t>Surse: [10] ISO 31000:2018 · [11] ISO Guide 73:2009 · [12] IEC 31010:2019</a:t>
            </a:r>
            <a:endParaRPr lang="en-US" sz="10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600" b="1" dirty="0">
                <a:solidFill>
                  <a:srgbClr val="0B6E69"/>
                </a:solidFill>
              </a:rPr>
              <a:t>S, O, D în metoda AIAG-VDA</a:t>
            </a:r>
            <a:endParaRPr lang="en-US" sz="2600" dirty="0"/>
          </a:p>
        </p:txBody>
      </p:sp>
      <p:sp>
        <p:nvSpPr>
          <p:cNvPr id="3" name="Shape 1"/>
          <p:cNvSpPr/>
          <p:nvPr/>
        </p:nvSpPr>
        <p:spPr>
          <a:xfrm>
            <a:off x="457200" y="1005840"/>
            <a:ext cx="1112955" cy="868680"/>
          </a:xfrm>
          <a:prstGeom prst="roundRect">
            <a:avLst>
              <a:gd name="adj" fmla="val 10526"/>
            </a:avLst>
          </a:prstGeom>
          <a:solidFill>
            <a:srgbClr val="E5F0FA"/>
          </a:solidFill>
          <a:ln w="12700">
            <a:solidFill>
              <a:srgbClr val="FFFFFF"/>
            </a:solidFill>
            <a:prstDash val="solid"/>
          </a:ln>
        </p:spPr>
      </p:sp>
      <p:sp>
        <p:nvSpPr>
          <p:cNvPr id="4" name="Text 2"/>
          <p:cNvSpPr txBox="1"/>
          <p:nvPr/>
        </p:nvSpPr>
        <p:spPr>
          <a:xfrm>
            <a:off x="493776" y="1024128"/>
            <a:ext cx="1039803" cy="832104"/>
          </a:xfrm>
          <a:prstGeom prst="rect">
            <a:avLst/>
          </a:prstGeom>
          <a:noFill/>
          <a:ln/>
        </p:spPr>
        <p:txBody>
          <a:bodyPr wrap="square" lIns="0" tIns="0" rIns="0" bIns="0" rtlCol="0" anchor="ctr"/>
          <a:lstStyle/>
          <a:p>
            <a:pPr algn="ctr" indent="0" marL="0">
              <a:buNone/>
            </a:pPr>
            <a:r>
              <a:rPr lang="en-US" sz="1600" b="1" dirty="0">
                <a:solidFill>
                  <a:srgbClr val="0B6E69"/>
                </a:solidFill>
              </a:rPr>
              <a:t>1</a:t>
            </a:r>
            <a:endParaRPr lang="en-US" sz="1600" dirty="0"/>
          </a:p>
          <a:p>
            <a:pPr algn="ctr" indent="0" marL="0">
              <a:buNone/>
            </a:pPr>
            <a:r>
              <a:rPr lang="en-US" sz="1100" dirty="0">
                <a:solidFill>
                  <a:srgbClr val="1F2A37"/>
                </a:solidFill>
              </a:rPr>
              <a:t>Planificare</a:t>
            </a:r>
            <a:endParaRPr lang="en-US" sz="1600" dirty="0"/>
          </a:p>
        </p:txBody>
      </p:sp>
      <p:sp>
        <p:nvSpPr>
          <p:cNvPr id="5" name="Shape 3"/>
          <p:cNvSpPr/>
          <p:nvPr/>
        </p:nvSpPr>
        <p:spPr>
          <a:xfrm>
            <a:off x="1643307" y="1005840"/>
            <a:ext cx="1112955" cy="868680"/>
          </a:xfrm>
          <a:prstGeom prst="roundRect">
            <a:avLst>
              <a:gd name="adj" fmla="val 10526"/>
            </a:avLst>
          </a:prstGeom>
          <a:solidFill>
            <a:srgbClr val="E5F0FA"/>
          </a:solidFill>
          <a:ln w="12700">
            <a:solidFill>
              <a:srgbClr val="FFFFFF"/>
            </a:solidFill>
            <a:prstDash val="solid"/>
          </a:ln>
        </p:spPr>
      </p:sp>
      <p:sp>
        <p:nvSpPr>
          <p:cNvPr id="6" name="Text 4"/>
          <p:cNvSpPr txBox="1"/>
          <p:nvPr/>
        </p:nvSpPr>
        <p:spPr>
          <a:xfrm>
            <a:off x="1679883" y="1024128"/>
            <a:ext cx="1039803" cy="832104"/>
          </a:xfrm>
          <a:prstGeom prst="rect">
            <a:avLst/>
          </a:prstGeom>
          <a:noFill/>
          <a:ln/>
        </p:spPr>
        <p:txBody>
          <a:bodyPr wrap="square" lIns="0" tIns="0" rIns="0" bIns="0" rtlCol="0" anchor="ctr"/>
          <a:lstStyle/>
          <a:p>
            <a:pPr algn="ctr" indent="0" marL="0">
              <a:buNone/>
            </a:pPr>
            <a:r>
              <a:rPr lang="en-US" sz="1600" b="1" dirty="0">
                <a:solidFill>
                  <a:srgbClr val="0B6E69"/>
                </a:solidFill>
              </a:rPr>
              <a:t>2</a:t>
            </a:r>
            <a:endParaRPr lang="en-US" sz="1600" dirty="0"/>
          </a:p>
          <a:p>
            <a:pPr algn="ctr" indent="0" marL="0">
              <a:buNone/>
            </a:pPr>
            <a:r>
              <a:rPr lang="en-US" sz="1100" dirty="0">
                <a:solidFill>
                  <a:srgbClr val="1F2A37"/>
                </a:solidFill>
              </a:rPr>
              <a:t>Structură</a:t>
            </a:r>
            <a:endParaRPr lang="en-US" sz="1600" dirty="0"/>
          </a:p>
        </p:txBody>
      </p:sp>
      <p:sp>
        <p:nvSpPr>
          <p:cNvPr id="7" name="Shape 5"/>
          <p:cNvSpPr/>
          <p:nvPr/>
        </p:nvSpPr>
        <p:spPr>
          <a:xfrm>
            <a:off x="2829415" y="1005840"/>
            <a:ext cx="1112955" cy="868680"/>
          </a:xfrm>
          <a:prstGeom prst="roundRect">
            <a:avLst>
              <a:gd name="adj" fmla="val 10526"/>
            </a:avLst>
          </a:prstGeom>
          <a:solidFill>
            <a:srgbClr val="E5F0FA"/>
          </a:solidFill>
          <a:ln w="12700">
            <a:solidFill>
              <a:srgbClr val="FFFFFF"/>
            </a:solidFill>
            <a:prstDash val="solid"/>
          </a:ln>
        </p:spPr>
      </p:sp>
      <p:sp>
        <p:nvSpPr>
          <p:cNvPr id="8" name="Text 6"/>
          <p:cNvSpPr txBox="1"/>
          <p:nvPr/>
        </p:nvSpPr>
        <p:spPr>
          <a:xfrm>
            <a:off x="2865991" y="1024128"/>
            <a:ext cx="1039803" cy="832104"/>
          </a:xfrm>
          <a:prstGeom prst="rect">
            <a:avLst/>
          </a:prstGeom>
          <a:noFill/>
          <a:ln/>
        </p:spPr>
        <p:txBody>
          <a:bodyPr wrap="square" lIns="0" tIns="0" rIns="0" bIns="0" rtlCol="0" anchor="ctr"/>
          <a:lstStyle/>
          <a:p>
            <a:pPr algn="ctr" indent="0" marL="0">
              <a:buNone/>
            </a:pPr>
            <a:r>
              <a:rPr lang="en-US" sz="1600" b="1" dirty="0">
                <a:solidFill>
                  <a:srgbClr val="0B6E69"/>
                </a:solidFill>
              </a:rPr>
              <a:t>3</a:t>
            </a:r>
            <a:endParaRPr lang="en-US" sz="1600" dirty="0"/>
          </a:p>
          <a:p>
            <a:pPr algn="ctr" indent="0" marL="0">
              <a:buNone/>
            </a:pPr>
            <a:r>
              <a:rPr lang="en-US" sz="1100" dirty="0">
                <a:solidFill>
                  <a:srgbClr val="1F2A37"/>
                </a:solidFill>
              </a:rPr>
              <a:t>Funcții</a:t>
            </a:r>
            <a:endParaRPr lang="en-US" sz="1600" dirty="0"/>
          </a:p>
        </p:txBody>
      </p:sp>
      <p:sp>
        <p:nvSpPr>
          <p:cNvPr id="9" name="Shape 7"/>
          <p:cNvSpPr/>
          <p:nvPr/>
        </p:nvSpPr>
        <p:spPr>
          <a:xfrm>
            <a:off x="4015522" y="1005840"/>
            <a:ext cx="1112955" cy="868680"/>
          </a:xfrm>
          <a:prstGeom prst="roundRect">
            <a:avLst>
              <a:gd name="adj" fmla="val 10526"/>
            </a:avLst>
          </a:prstGeom>
          <a:solidFill>
            <a:srgbClr val="E3F4F1"/>
          </a:solidFill>
          <a:ln w="12700">
            <a:solidFill>
              <a:srgbClr val="FFFFFF"/>
            </a:solidFill>
            <a:prstDash val="solid"/>
          </a:ln>
        </p:spPr>
      </p:sp>
      <p:sp>
        <p:nvSpPr>
          <p:cNvPr id="10" name="Text 8"/>
          <p:cNvSpPr txBox="1"/>
          <p:nvPr/>
        </p:nvSpPr>
        <p:spPr>
          <a:xfrm>
            <a:off x="4052098" y="1024128"/>
            <a:ext cx="1039803" cy="832104"/>
          </a:xfrm>
          <a:prstGeom prst="rect">
            <a:avLst/>
          </a:prstGeom>
          <a:noFill/>
          <a:ln/>
        </p:spPr>
        <p:txBody>
          <a:bodyPr wrap="square" lIns="0" tIns="0" rIns="0" bIns="0" rtlCol="0" anchor="ctr"/>
          <a:lstStyle/>
          <a:p>
            <a:pPr algn="ctr" indent="0" marL="0">
              <a:buNone/>
            </a:pPr>
            <a:r>
              <a:rPr lang="en-US" sz="1600" b="1" dirty="0">
                <a:solidFill>
                  <a:srgbClr val="0B6E69"/>
                </a:solidFill>
              </a:rPr>
              <a:t>4</a:t>
            </a:r>
            <a:endParaRPr lang="en-US" sz="1600" dirty="0"/>
          </a:p>
          <a:p>
            <a:pPr algn="ctr" indent="0" marL="0">
              <a:buNone/>
            </a:pPr>
            <a:r>
              <a:rPr lang="en-US" sz="1100" dirty="0">
                <a:solidFill>
                  <a:srgbClr val="1F2A37"/>
                </a:solidFill>
              </a:rPr>
              <a:t>Defectări</a:t>
            </a:r>
            <a:endParaRPr lang="en-US" sz="1600" dirty="0"/>
          </a:p>
        </p:txBody>
      </p:sp>
      <p:sp>
        <p:nvSpPr>
          <p:cNvPr id="11" name="Shape 9"/>
          <p:cNvSpPr/>
          <p:nvPr/>
        </p:nvSpPr>
        <p:spPr>
          <a:xfrm>
            <a:off x="5201630" y="1005840"/>
            <a:ext cx="1112955" cy="868680"/>
          </a:xfrm>
          <a:prstGeom prst="roundRect">
            <a:avLst>
              <a:gd name="adj" fmla="val 10526"/>
            </a:avLst>
          </a:prstGeom>
          <a:solidFill>
            <a:srgbClr val="E3F4F1"/>
          </a:solidFill>
          <a:ln w="12700">
            <a:solidFill>
              <a:srgbClr val="FFFFFF"/>
            </a:solidFill>
            <a:prstDash val="solid"/>
          </a:ln>
        </p:spPr>
      </p:sp>
      <p:sp>
        <p:nvSpPr>
          <p:cNvPr id="12" name="Text 10"/>
          <p:cNvSpPr txBox="1"/>
          <p:nvPr/>
        </p:nvSpPr>
        <p:spPr>
          <a:xfrm>
            <a:off x="5238206" y="1024128"/>
            <a:ext cx="1039803" cy="832104"/>
          </a:xfrm>
          <a:prstGeom prst="rect">
            <a:avLst/>
          </a:prstGeom>
          <a:noFill/>
          <a:ln/>
        </p:spPr>
        <p:txBody>
          <a:bodyPr wrap="square" lIns="0" tIns="0" rIns="0" bIns="0" rtlCol="0" anchor="ctr"/>
          <a:lstStyle/>
          <a:p>
            <a:pPr algn="ctr" indent="0" marL="0">
              <a:buNone/>
            </a:pPr>
            <a:r>
              <a:rPr lang="en-US" sz="1600" b="1" dirty="0">
                <a:solidFill>
                  <a:srgbClr val="0B6E69"/>
                </a:solidFill>
              </a:rPr>
              <a:t>5</a:t>
            </a:r>
            <a:endParaRPr lang="en-US" sz="1600" dirty="0"/>
          </a:p>
          <a:p>
            <a:pPr algn="ctr" indent="0" marL="0">
              <a:buNone/>
            </a:pPr>
            <a:r>
              <a:rPr lang="en-US" sz="1100" dirty="0">
                <a:solidFill>
                  <a:srgbClr val="1F2A37"/>
                </a:solidFill>
              </a:rPr>
              <a:t>Analiza riscului</a:t>
            </a:r>
            <a:endParaRPr lang="en-US" sz="1600" dirty="0"/>
          </a:p>
        </p:txBody>
      </p:sp>
      <p:sp>
        <p:nvSpPr>
          <p:cNvPr id="13" name="Shape 11"/>
          <p:cNvSpPr/>
          <p:nvPr/>
        </p:nvSpPr>
        <p:spPr>
          <a:xfrm>
            <a:off x="6387737" y="1005840"/>
            <a:ext cx="1112955" cy="868680"/>
          </a:xfrm>
          <a:prstGeom prst="roundRect">
            <a:avLst>
              <a:gd name="adj" fmla="val 10526"/>
            </a:avLst>
          </a:prstGeom>
          <a:solidFill>
            <a:srgbClr val="E3F4F1"/>
          </a:solidFill>
          <a:ln w="12700">
            <a:solidFill>
              <a:srgbClr val="FFFFFF"/>
            </a:solidFill>
            <a:prstDash val="solid"/>
          </a:ln>
        </p:spPr>
      </p:sp>
      <p:sp>
        <p:nvSpPr>
          <p:cNvPr id="14" name="Text 12"/>
          <p:cNvSpPr txBox="1"/>
          <p:nvPr/>
        </p:nvSpPr>
        <p:spPr>
          <a:xfrm>
            <a:off x="6424313" y="1024128"/>
            <a:ext cx="1039803" cy="832104"/>
          </a:xfrm>
          <a:prstGeom prst="rect">
            <a:avLst/>
          </a:prstGeom>
          <a:noFill/>
          <a:ln/>
        </p:spPr>
        <p:txBody>
          <a:bodyPr wrap="square" lIns="0" tIns="0" rIns="0" bIns="0" rtlCol="0" anchor="ctr"/>
          <a:lstStyle/>
          <a:p>
            <a:pPr algn="ctr" indent="0" marL="0">
              <a:buNone/>
            </a:pPr>
            <a:r>
              <a:rPr lang="en-US" sz="1600" b="1" dirty="0">
                <a:solidFill>
                  <a:srgbClr val="0B6E69"/>
                </a:solidFill>
              </a:rPr>
              <a:t>6</a:t>
            </a:r>
            <a:endParaRPr lang="en-US" sz="1600" dirty="0"/>
          </a:p>
          <a:p>
            <a:pPr algn="ctr" indent="0" marL="0">
              <a:buNone/>
            </a:pPr>
            <a:r>
              <a:rPr lang="en-US" sz="1100" dirty="0">
                <a:solidFill>
                  <a:srgbClr val="1F2A37"/>
                </a:solidFill>
              </a:rPr>
              <a:t>Optimizare</a:t>
            </a:r>
            <a:endParaRPr lang="en-US" sz="1600" dirty="0"/>
          </a:p>
        </p:txBody>
      </p:sp>
      <p:sp>
        <p:nvSpPr>
          <p:cNvPr id="15" name="Shape 13"/>
          <p:cNvSpPr/>
          <p:nvPr/>
        </p:nvSpPr>
        <p:spPr>
          <a:xfrm>
            <a:off x="7573845" y="1005840"/>
            <a:ext cx="1112955" cy="868680"/>
          </a:xfrm>
          <a:prstGeom prst="roundRect">
            <a:avLst>
              <a:gd name="adj" fmla="val 10526"/>
            </a:avLst>
          </a:prstGeom>
          <a:solidFill>
            <a:srgbClr val="FFF4DE"/>
          </a:solidFill>
          <a:ln w="12700">
            <a:solidFill>
              <a:srgbClr val="FFFFFF"/>
            </a:solidFill>
            <a:prstDash val="solid"/>
          </a:ln>
        </p:spPr>
      </p:sp>
      <p:sp>
        <p:nvSpPr>
          <p:cNvPr id="16" name="Text 14"/>
          <p:cNvSpPr txBox="1"/>
          <p:nvPr/>
        </p:nvSpPr>
        <p:spPr>
          <a:xfrm>
            <a:off x="7610421" y="1024128"/>
            <a:ext cx="1039803" cy="832104"/>
          </a:xfrm>
          <a:prstGeom prst="rect">
            <a:avLst/>
          </a:prstGeom>
          <a:noFill/>
          <a:ln/>
        </p:spPr>
        <p:txBody>
          <a:bodyPr wrap="square" lIns="0" tIns="0" rIns="0" bIns="0" rtlCol="0" anchor="ctr"/>
          <a:lstStyle/>
          <a:p>
            <a:pPr algn="ctr" indent="0" marL="0">
              <a:buNone/>
            </a:pPr>
            <a:r>
              <a:rPr lang="en-US" sz="1600" b="1" dirty="0">
                <a:solidFill>
                  <a:srgbClr val="0B6E69"/>
                </a:solidFill>
              </a:rPr>
              <a:t>7</a:t>
            </a:r>
            <a:endParaRPr lang="en-US" sz="1600" dirty="0"/>
          </a:p>
          <a:p>
            <a:pPr algn="ctr" indent="0" marL="0">
              <a:buNone/>
            </a:pPr>
            <a:r>
              <a:rPr lang="en-US" sz="1100" dirty="0">
                <a:solidFill>
                  <a:srgbClr val="1F2A37"/>
                </a:solidFill>
              </a:rPr>
              <a:t>Documentare</a:t>
            </a:r>
            <a:endParaRPr lang="en-US" sz="1600" dirty="0"/>
          </a:p>
        </p:txBody>
      </p:sp>
      <p:sp>
        <p:nvSpPr>
          <p:cNvPr id="17" name="Shape 15"/>
          <p:cNvSpPr/>
          <p:nvPr/>
        </p:nvSpPr>
        <p:spPr>
          <a:xfrm>
            <a:off x="457200" y="2057400"/>
            <a:ext cx="2633472" cy="1463040"/>
          </a:xfrm>
          <a:prstGeom prst="roundRect">
            <a:avLst>
              <a:gd name="adj" fmla="val 6250"/>
            </a:avLst>
          </a:prstGeom>
          <a:solidFill>
            <a:srgbClr val="FCE9E7"/>
          </a:solidFill>
          <a:ln w="6350">
            <a:solidFill>
              <a:srgbClr val="FCE9E7"/>
            </a:solidFill>
            <a:prstDash val="solid"/>
          </a:ln>
        </p:spPr>
      </p:sp>
      <p:sp>
        <p:nvSpPr>
          <p:cNvPr id="18" name="Text 16"/>
          <p:cNvSpPr txBox="1"/>
          <p:nvPr/>
        </p:nvSpPr>
        <p:spPr>
          <a:xfrm>
            <a:off x="566928" y="2130552"/>
            <a:ext cx="2414016" cy="1316736"/>
          </a:xfrm>
          <a:prstGeom prst="rect">
            <a:avLst/>
          </a:prstGeom>
          <a:noFill/>
          <a:ln/>
        </p:spPr>
        <p:txBody>
          <a:bodyPr wrap="square" lIns="254" tIns="254" rIns="254" bIns="254" rtlCol="0" anchor="t"/>
          <a:lstStyle/>
          <a:p>
            <a:pPr indent="0" marL="0">
              <a:spcAft>
                <a:spcPts val="300"/>
              </a:spcAft>
              <a:buNone/>
            </a:pPr>
            <a:r>
              <a:rPr lang="en-US" sz="1400" b="1" dirty="0">
                <a:solidFill>
                  <a:srgbClr val="E46A5E"/>
                </a:solidFill>
              </a:rPr>
              <a:t>S · Severitate</a:t>
            </a:r>
            <a:endParaRPr lang="en-US" sz="1400" dirty="0"/>
          </a:p>
          <a:p>
            <a:pPr indent="0" marL="0">
              <a:spcAft>
                <a:spcPts val="300"/>
              </a:spcAft>
              <a:buNone/>
            </a:pPr>
            <a:r>
              <a:rPr lang="en-US" sz="1300" dirty="0">
                <a:solidFill>
                  <a:srgbClr val="1F2A37"/>
                </a:solidFill>
              </a:rPr>
              <a:t>Cât de grav e efectul? 10 = siguranță, 9 = reglementări, 8 = pierderea funcției principale … 1 = fără efect.</a:t>
            </a:r>
            <a:endParaRPr lang="en-US" sz="1400" dirty="0"/>
          </a:p>
        </p:txBody>
      </p:sp>
      <p:sp>
        <p:nvSpPr>
          <p:cNvPr id="19" name="Shape 17"/>
          <p:cNvSpPr/>
          <p:nvPr/>
        </p:nvSpPr>
        <p:spPr>
          <a:xfrm>
            <a:off x="3255264" y="2057400"/>
            <a:ext cx="2633472" cy="1463040"/>
          </a:xfrm>
          <a:prstGeom prst="roundRect">
            <a:avLst>
              <a:gd name="adj" fmla="val 6250"/>
            </a:avLst>
          </a:prstGeom>
          <a:solidFill>
            <a:srgbClr val="E5F0FA"/>
          </a:solidFill>
          <a:ln w="6350">
            <a:solidFill>
              <a:srgbClr val="E5F0FA"/>
            </a:solidFill>
            <a:prstDash val="solid"/>
          </a:ln>
        </p:spPr>
      </p:sp>
      <p:sp>
        <p:nvSpPr>
          <p:cNvPr id="20" name="Text 18"/>
          <p:cNvSpPr txBox="1"/>
          <p:nvPr/>
        </p:nvSpPr>
        <p:spPr>
          <a:xfrm>
            <a:off x="3364992" y="2130552"/>
            <a:ext cx="2414016" cy="1316736"/>
          </a:xfrm>
          <a:prstGeom prst="rect">
            <a:avLst/>
          </a:prstGeom>
          <a:noFill/>
          <a:ln/>
        </p:spPr>
        <p:txBody>
          <a:bodyPr wrap="square" lIns="254" tIns="254" rIns="254" bIns="254" rtlCol="0" anchor="t"/>
          <a:lstStyle/>
          <a:p>
            <a:pPr indent="0" marL="0">
              <a:spcAft>
                <a:spcPts val="300"/>
              </a:spcAft>
              <a:buNone/>
            </a:pPr>
            <a:r>
              <a:rPr lang="en-US" sz="1400" b="1" dirty="0">
                <a:solidFill>
                  <a:srgbClr val="3B82C4"/>
                </a:solidFill>
              </a:rPr>
              <a:t>O · Ocurență</a:t>
            </a:r>
            <a:endParaRPr lang="en-US" sz="1400" dirty="0"/>
          </a:p>
          <a:p>
            <a:pPr indent="0" marL="0">
              <a:spcAft>
                <a:spcPts val="300"/>
              </a:spcAft>
              <a:buNone/>
            </a:pPr>
            <a:r>
              <a:rPr lang="en-US" sz="1300" dirty="0">
                <a:solidFill>
                  <a:srgbClr val="1F2A37"/>
                </a:solidFill>
              </a:rPr>
              <a:t>Cât de probabil apare cauza, având în vedere prevenția? 10 = foarte probabil … 1 = eliminată prin design.</a:t>
            </a:r>
            <a:endParaRPr lang="en-US" sz="1400" dirty="0"/>
          </a:p>
        </p:txBody>
      </p:sp>
      <p:sp>
        <p:nvSpPr>
          <p:cNvPr id="21" name="Shape 19"/>
          <p:cNvSpPr/>
          <p:nvPr/>
        </p:nvSpPr>
        <p:spPr>
          <a:xfrm>
            <a:off x="6053328" y="2057400"/>
            <a:ext cx="2633472" cy="1463040"/>
          </a:xfrm>
          <a:prstGeom prst="roundRect">
            <a:avLst>
              <a:gd name="adj" fmla="val 6250"/>
            </a:avLst>
          </a:prstGeom>
          <a:solidFill>
            <a:srgbClr val="FFF4DE"/>
          </a:solidFill>
          <a:ln w="6350">
            <a:solidFill>
              <a:srgbClr val="FFF4DE"/>
            </a:solidFill>
            <a:prstDash val="solid"/>
          </a:ln>
        </p:spPr>
      </p:sp>
      <p:sp>
        <p:nvSpPr>
          <p:cNvPr id="22" name="Text 20"/>
          <p:cNvSpPr txBox="1"/>
          <p:nvPr/>
        </p:nvSpPr>
        <p:spPr>
          <a:xfrm>
            <a:off x="6163056" y="2130552"/>
            <a:ext cx="2414016" cy="1316736"/>
          </a:xfrm>
          <a:prstGeom prst="rect">
            <a:avLst/>
          </a:prstGeom>
          <a:noFill/>
          <a:ln/>
        </p:spPr>
        <p:txBody>
          <a:bodyPr wrap="square" lIns="254" tIns="254" rIns="254" bIns="254" rtlCol="0" anchor="t"/>
          <a:lstStyle/>
          <a:p>
            <a:pPr indent="0" marL="0">
              <a:spcAft>
                <a:spcPts val="300"/>
              </a:spcAft>
              <a:buNone/>
            </a:pPr>
            <a:r>
              <a:rPr lang="en-US" sz="1400" b="1" dirty="0">
                <a:solidFill>
                  <a:srgbClr val="B7791F"/>
                </a:solidFill>
              </a:rPr>
              <a:t>D · Detecție</a:t>
            </a:r>
            <a:endParaRPr lang="en-US" sz="1400" dirty="0"/>
          </a:p>
          <a:p>
            <a:pPr indent="0" marL="0">
              <a:spcAft>
                <a:spcPts val="300"/>
              </a:spcAft>
              <a:buNone/>
            </a:pPr>
            <a:r>
              <a:rPr lang="en-US" sz="1300" dirty="0">
                <a:solidFill>
                  <a:srgbClr val="1F2A37"/>
                </a:solidFill>
              </a:rPr>
              <a:t>Cât de sigur detectăm defectul înainte să ajungă la client? 1 = sigur … 10 = nu putem detecta.</a:t>
            </a:r>
            <a:endParaRPr lang="en-US" sz="1400" dirty="0"/>
          </a:p>
        </p:txBody>
      </p:sp>
      <p:sp>
        <p:nvSpPr>
          <p:cNvPr id="23" name="Text 21"/>
          <p:cNvSpPr txBox="1"/>
          <p:nvPr/>
        </p:nvSpPr>
        <p:spPr>
          <a:xfrm>
            <a:off x="457200" y="3657600"/>
            <a:ext cx="8229600" cy="777240"/>
          </a:xfrm>
          <a:prstGeom prst="rect">
            <a:avLst/>
          </a:prstGeom>
          <a:noFill/>
          <a:ln/>
        </p:spPr>
        <p:txBody>
          <a:bodyPr wrap="square" lIns="254" tIns="254" rIns="254" bIns="254" rtlCol="0" anchor="t"/>
          <a:lstStyle/>
          <a:p>
            <a:pPr indent="0" marL="0">
              <a:buNone/>
            </a:pPr>
            <a:r>
              <a:rPr lang="en-US" sz="1400" dirty="0">
                <a:solidFill>
                  <a:srgbClr val="1F2A37"/>
                </a:solidFill>
              </a:rPr>
              <a:t>Manualul AIAG-VDA (2019) definește 7 pași și scale de la 1 la 10 pentru S, O și D, pentru DFMEA, PFMEA și FMEA-MSR [14]. SAE J1739 este standardul echivalent, ediția 2021 [15]. În TCA HW folosim aceleași scale; D vine din metodele de test.</a:t>
            </a:r>
            <a:endParaRPr lang="en-US" sz="1400" dirty="0"/>
          </a:p>
        </p:txBody>
      </p:sp>
      <p:sp>
        <p:nvSpPr>
          <p:cNvPr id="24" name="sources"/>
          <p:cNvSpPr txBox="1"/>
          <p:nvPr/>
        </p:nvSpPr>
        <p:spPr>
          <a:xfrm>
            <a:off x="457200" y="4572000"/>
            <a:ext cx="7772400" cy="237744"/>
          </a:xfrm>
          <a:prstGeom prst="rect">
            <a:avLst/>
          </a:prstGeom>
          <a:noFill/>
          <a:ln/>
        </p:spPr>
        <p:txBody>
          <a:bodyPr wrap="square" lIns="0" tIns="0" rIns="0" bIns="0" rtlCol="0" anchor="ctr"/>
          <a:lstStyle/>
          <a:p>
            <a:pPr indent="0" marL="0">
              <a:buNone/>
            </a:pPr>
            <a:r>
              <a:rPr lang="en-US" sz="1000" i="1" dirty="0">
                <a:solidFill>
                  <a:srgbClr val="5B6575"/>
                </a:solidFill>
              </a:rPr>
              <a:t>Surse: [14] AIAG &amp; VDA FMEA Handbook, 2019 · [15] SAE J1739_202101 · [16] IEC 60812:2018</a:t>
            </a:r>
            <a:endParaRPr lang="en-US" sz="10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600" b="1" dirty="0">
                <a:solidFill>
                  <a:srgbClr val="0B6E69"/>
                </a:solidFill>
              </a:rPr>
              <a:t>De ce prioritatea de acțiune (AP), nu RPN</a:t>
            </a:r>
            <a:endParaRPr lang="en-US" sz="2600" dirty="0"/>
          </a:p>
        </p:txBody>
      </p:sp>
      <p:sp>
        <p:nvSpPr>
          <p:cNvPr id="3" name="Text 1"/>
          <p:cNvSpPr txBox="1"/>
          <p:nvPr/>
        </p:nvSpPr>
        <p:spPr>
          <a:xfrm>
            <a:off x="457200" y="1005840"/>
            <a:ext cx="2468880" cy="914400"/>
          </a:xfrm>
          <a:prstGeom prst="rect">
            <a:avLst/>
          </a:prstGeom>
          <a:noFill/>
          <a:ln/>
        </p:spPr>
        <p:txBody>
          <a:bodyPr wrap="square" lIns="0" tIns="0" rIns="0" bIns="0" rtlCol="0" anchor="ctr"/>
          <a:lstStyle/>
          <a:p>
            <a:pPr indent="0" marL="0">
              <a:buNone/>
            </a:pPr>
            <a:r>
              <a:rPr lang="en-US" sz="5400" b="1" dirty="0">
                <a:solidFill>
                  <a:srgbClr val="E46A5E"/>
                </a:solidFill>
              </a:rPr>
              <a:t>120</a:t>
            </a:r>
            <a:endParaRPr lang="en-US" sz="5400" dirty="0"/>
          </a:p>
        </p:txBody>
      </p:sp>
      <p:sp>
        <p:nvSpPr>
          <p:cNvPr id="4" name="Text 2"/>
          <p:cNvSpPr txBox="1"/>
          <p:nvPr/>
        </p:nvSpPr>
        <p:spPr>
          <a:xfrm>
            <a:off x="457200" y="1920240"/>
            <a:ext cx="2560320" cy="822960"/>
          </a:xfrm>
          <a:prstGeom prst="rect">
            <a:avLst/>
          </a:prstGeom>
          <a:noFill/>
          <a:ln/>
        </p:spPr>
        <p:txBody>
          <a:bodyPr wrap="square" lIns="0" tIns="0" rIns="0" bIns="0" rtlCol="0" anchor="t"/>
          <a:lstStyle/>
          <a:p>
            <a:pPr indent="0" marL="0">
              <a:buNone/>
            </a:pPr>
            <a:r>
              <a:rPr lang="en-US" sz="1300" dirty="0">
                <a:solidFill>
                  <a:srgbClr val="1F2A37"/>
                </a:solidFill>
              </a:rPr>
              <a:t>valori distincte din cele 1000 de combinații S × O × D posibile [17]</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200400" y="1005840"/>
          <a:ext cx="5486400" cy="914400"/>
        </p:xfrm>
        <a:graphic>
          <a:graphicData uri="http://schemas.openxmlformats.org/drawingml/2006/table">
            <a:tbl>
              <a:tblPr/>
              <a:tblGrid>
                <a:gridCol w="1920240"/>
                <a:gridCol w="548640"/>
                <a:gridCol w="548640"/>
                <a:gridCol w="548640"/>
                <a:gridCol w="914400"/>
                <a:gridCol w="1005840"/>
              </a:tblGrid>
              <a:tr h="347472">
                <a:tc>
                  <a:txBody>
                    <a:bodyPr/>
                    <a:lstStyle/>
                    <a:p>
                      <a:pPr algn="ctr" indent="0" marL="0">
                        <a:buNone/>
                      </a:pPr>
                      <a:r>
                        <a:rPr lang="en-US" sz="1200" b="1" dirty="0">
                          <a:solidFill>
                            <a:srgbClr val="FFFFFF"/>
                          </a:solidFill>
                        </a:rPr>
                        <a:t>Caz</a:t>
                      </a:r>
                      <a:endParaRPr lang="en-US" sz="1200" dirty="0"/>
                    </a:p>
                  </a:txBody>
                  <a:tcPr marL="36576" marR="36576" marT="36576" marB="36576">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0B6E69"/>
                    </a:solidFill>
                  </a:tcPr>
                </a:tc>
                <a:tc>
                  <a:txBody>
                    <a:bodyPr/>
                    <a:lstStyle/>
                    <a:p>
                      <a:pPr algn="ctr" indent="0" marL="0">
                        <a:buNone/>
                      </a:pPr>
                      <a:r>
                        <a:rPr lang="en-US" sz="1200" b="1" dirty="0">
                          <a:solidFill>
                            <a:srgbClr val="FFFFFF"/>
                          </a:solidFill>
                        </a:rPr>
                        <a:t>S</a:t>
                      </a:r>
                      <a:endParaRPr lang="en-US" sz="1200" dirty="0"/>
                    </a:p>
                  </a:txBody>
                  <a:tcPr marL="36576" marR="36576" marT="36576" marB="36576">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0B6E69"/>
                    </a:solidFill>
                  </a:tcPr>
                </a:tc>
                <a:tc>
                  <a:txBody>
                    <a:bodyPr/>
                    <a:lstStyle/>
                    <a:p>
                      <a:pPr algn="ctr" indent="0" marL="0">
                        <a:buNone/>
                      </a:pPr>
                      <a:r>
                        <a:rPr lang="en-US" sz="1200" b="1" dirty="0">
                          <a:solidFill>
                            <a:srgbClr val="FFFFFF"/>
                          </a:solidFill>
                        </a:rPr>
                        <a:t>O</a:t>
                      </a:r>
                      <a:endParaRPr lang="en-US" sz="1200" dirty="0"/>
                    </a:p>
                  </a:txBody>
                  <a:tcPr marL="36576" marR="36576" marT="36576" marB="36576">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0B6E69"/>
                    </a:solidFill>
                  </a:tcPr>
                </a:tc>
                <a:tc>
                  <a:txBody>
                    <a:bodyPr/>
                    <a:lstStyle/>
                    <a:p>
                      <a:pPr algn="ctr" indent="0" marL="0">
                        <a:buNone/>
                      </a:pPr>
                      <a:r>
                        <a:rPr lang="en-US" sz="1200" b="1" dirty="0">
                          <a:solidFill>
                            <a:srgbClr val="FFFFFF"/>
                          </a:solidFill>
                        </a:rPr>
                        <a:t>D</a:t>
                      </a:r>
                      <a:endParaRPr lang="en-US" sz="1200" dirty="0"/>
                    </a:p>
                  </a:txBody>
                  <a:tcPr marL="36576" marR="36576" marT="36576" marB="36576">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0B6E69"/>
                    </a:solidFill>
                  </a:tcPr>
                </a:tc>
                <a:tc>
                  <a:txBody>
                    <a:bodyPr/>
                    <a:lstStyle/>
                    <a:p>
                      <a:pPr algn="ctr" indent="0" marL="0">
                        <a:buNone/>
                      </a:pPr>
                      <a:r>
                        <a:rPr lang="en-US" sz="1200" b="1" dirty="0">
                          <a:solidFill>
                            <a:srgbClr val="FFFFFF"/>
                          </a:solidFill>
                        </a:rPr>
                        <a:t>RPN</a:t>
                      </a:r>
                      <a:endParaRPr lang="en-US" sz="1200" dirty="0"/>
                    </a:p>
                  </a:txBody>
                  <a:tcPr marL="36576" marR="36576" marT="36576" marB="36576">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0B6E69"/>
                    </a:solidFill>
                  </a:tcPr>
                </a:tc>
                <a:tc>
                  <a:txBody>
                    <a:bodyPr/>
                    <a:lstStyle/>
                    <a:p>
                      <a:pPr algn="ctr" indent="0" marL="0">
                        <a:buNone/>
                      </a:pPr>
                      <a:r>
                        <a:rPr lang="en-US" sz="1200" b="1" dirty="0">
                          <a:solidFill>
                            <a:srgbClr val="FFFFFF"/>
                          </a:solidFill>
                        </a:rPr>
                        <a:t>AP</a:t>
                      </a:r>
                      <a:endParaRPr lang="en-US" sz="1200" dirty="0"/>
                    </a:p>
                  </a:txBody>
                  <a:tcPr marL="36576" marR="36576" marT="36576" marB="36576">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0B6E69"/>
                    </a:solidFill>
                  </a:tcPr>
                </a:tc>
              </a:tr>
              <a:tr h="347472">
                <a:tc>
                  <a:txBody>
                    <a:bodyPr/>
                    <a:lstStyle/>
                    <a:p>
                      <a:pPr algn="l" indent="0" marL="0">
                        <a:buNone/>
                      </a:pPr>
                      <a:r>
                        <a:rPr lang="en-US" sz="1300" dirty="0">
                          <a:solidFill>
                            <a:srgbClr val="1F2A37"/>
                          </a:solidFill>
                        </a:rPr>
                        <a:t>A: efect de siguranță</a:t>
                      </a:r>
                      <a:endParaRPr lang="en-US" sz="1300" dirty="0"/>
                    </a:p>
                  </a:txBody>
                  <a:tcPr marL="36576" marR="36576" marT="36576" marB="36576">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A37"/>
                          </a:solidFill>
                        </a:rPr>
                        <a:t>9</a:t>
                      </a:r>
                      <a:endParaRPr lang="en-US" sz="1300" dirty="0"/>
                    </a:p>
                  </a:txBody>
                  <a:tcPr marL="36576" marR="36576" marT="36576" marB="36576">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A37"/>
                          </a:solidFill>
                        </a:rPr>
                        <a:t>4</a:t>
                      </a:r>
                      <a:endParaRPr lang="en-US" sz="1300" dirty="0"/>
                    </a:p>
                  </a:txBody>
                  <a:tcPr marL="36576" marR="36576" marT="36576" marB="36576">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A37"/>
                          </a:solidFill>
                        </a:rPr>
                        <a:t>3</a:t>
                      </a:r>
                      <a:endParaRPr lang="en-US" sz="1300" dirty="0"/>
                    </a:p>
                  </a:txBody>
                  <a:tcPr marL="36576" marR="36576" marT="36576" marB="36576">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F2A37"/>
                          </a:solidFill>
                        </a:rPr>
                        <a:t>108</a:t>
                      </a:r>
                      <a:endParaRPr lang="en-US" sz="1300" dirty="0"/>
                    </a:p>
                  </a:txBody>
                  <a:tcPr marL="36576" marR="36576" marT="36576" marB="36576">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F2A37"/>
                          </a:solidFill>
                        </a:rPr>
                        <a:t>H</a:t>
                      </a:r>
                      <a:endParaRPr lang="en-US" sz="1300" dirty="0"/>
                    </a:p>
                  </a:txBody>
                  <a:tcPr marL="36576" marR="36576" marT="36576" marB="36576">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CE9E7"/>
                    </a:solidFill>
                  </a:tcPr>
                </a:tc>
              </a:tr>
              <a:tr h="347472">
                <a:tc>
                  <a:txBody>
                    <a:bodyPr/>
                    <a:lstStyle/>
                    <a:p>
                      <a:pPr algn="l" indent="0" marL="0">
                        <a:buNone/>
                      </a:pPr>
                      <a:r>
                        <a:rPr lang="en-US" sz="1300" dirty="0">
                          <a:solidFill>
                            <a:srgbClr val="1F2A37"/>
                          </a:solidFill>
                        </a:rPr>
                        <a:t>B: efect minor</a:t>
                      </a:r>
                      <a:endParaRPr lang="en-US" sz="1300" dirty="0"/>
                    </a:p>
                  </a:txBody>
                  <a:tcPr marL="36576" marR="36576" marT="36576" marB="36576">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A37"/>
                          </a:solidFill>
                        </a:rPr>
                        <a:t>3</a:t>
                      </a:r>
                      <a:endParaRPr lang="en-US" sz="1300" dirty="0"/>
                    </a:p>
                  </a:txBody>
                  <a:tcPr marL="36576" marR="36576" marT="36576" marB="36576">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A37"/>
                          </a:solidFill>
                        </a:rPr>
                        <a:t>6</a:t>
                      </a:r>
                      <a:endParaRPr lang="en-US" sz="1300" dirty="0"/>
                    </a:p>
                  </a:txBody>
                  <a:tcPr marL="36576" marR="36576" marT="36576" marB="36576">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A37"/>
                          </a:solidFill>
                        </a:rPr>
                        <a:t>6</a:t>
                      </a:r>
                      <a:endParaRPr lang="en-US" sz="1300" dirty="0"/>
                    </a:p>
                  </a:txBody>
                  <a:tcPr marL="36576" marR="36576" marT="36576" marB="36576">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F2A37"/>
                          </a:solidFill>
                        </a:rPr>
                        <a:t>108</a:t>
                      </a:r>
                      <a:endParaRPr lang="en-US" sz="1300" dirty="0"/>
                    </a:p>
                  </a:txBody>
                  <a:tcPr marL="36576" marR="36576" marT="36576" marB="36576">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F2A37"/>
                          </a:solidFill>
                        </a:rPr>
                        <a:t>L</a:t>
                      </a:r>
                      <a:endParaRPr lang="en-US" sz="1300" dirty="0"/>
                    </a:p>
                  </a:txBody>
                  <a:tcPr marL="36576" marR="36576" marT="36576" marB="36576">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E3F4F1"/>
                    </a:solidFill>
                  </a:tcPr>
                </a:tc>
              </a:tr>
              <a:tr h="347472">
                <a:tc>
                  <a:txBody>
                    <a:bodyPr/>
                    <a:lstStyle/>
                    <a:p>
                      <a:pPr algn="l" indent="0" marL="0">
                        <a:buNone/>
                      </a:pPr>
                      <a:r>
                        <a:rPr lang="en-US" sz="1300" dirty="0">
                          <a:solidFill>
                            <a:srgbClr val="1F2A37"/>
                          </a:solidFill>
                        </a:rPr>
                        <a:t>C: funcție principală</a:t>
                      </a:r>
                      <a:endParaRPr lang="en-US" sz="1300" dirty="0"/>
                    </a:p>
                  </a:txBody>
                  <a:tcPr marL="36576" marR="36576" marT="36576" marB="36576">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A37"/>
                          </a:solidFill>
                        </a:rPr>
                        <a:t>8</a:t>
                      </a:r>
                      <a:endParaRPr lang="en-US" sz="1300" dirty="0"/>
                    </a:p>
                  </a:txBody>
                  <a:tcPr marL="36576" marR="36576" marT="36576" marB="36576">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A37"/>
                          </a:solidFill>
                        </a:rPr>
                        <a:t>2</a:t>
                      </a:r>
                      <a:endParaRPr lang="en-US" sz="1300" dirty="0"/>
                    </a:p>
                  </a:txBody>
                  <a:tcPr marL="36576" marR="36576" marT="36576" marB="36576">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A37"/>
                          </a:solidFill>
                        </a:rPr>
                        <a:t>5</a:t>
                      </a:r>
                      <a:endParaRPr lang="en-US" sz="1300" dirty="0"/>
                    </a:p>
                  </a:txBody>
                  <a:tcPr marL="36576" marR="36576" marT="36576" marB="36576">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F2A37"/>
                          </a:solidFill>
                        </a:rPr>
                        <a:t>80</a:t>
                      </a:r>
                      <a:endParaRPr lang="en-US" sz="1300" dirty="0"/>
                    </a:p>
                  </a:txBody>
                  <a:tcPr marL="36576" marR="36576" marT="36576" marB="36576">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F2A37"/>
                          </a:solidFill>
                        </a:rPr>
                        <a:t>M</a:t>
                      </a:r>
                      <a:endParaRPr lang="en-US" sz="1300" dirty="0"/>
                    </a:p>
                  </a:txBody>
                  <a:tcPr marL="36576" marR="36576" marT="36576" marB="36576">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4DE"/>
                    </a:solidFill>
                  </a:tcPr>
                </a:tc>
              </a:tr>
            </a:tbl>
          </a:graphicData>
        </a:graphic>
      </p:graphicFrame>
      <p:sp>
        <p:nvSpPr>
          <p:cNvPr id="6" name="Text 3"/>
          <p:cNvSpPr txBox="1"/>
          <p:nvPr/>
        </p:nvSpPr>
        <p:spPr>
          <a:xfrm>
            <a:off x="457200" y="2880360"/>
            <a:ext cx="8229600" cy="1600200"/>
          </a:xfrm>
          <a:prstGeom prst="rect">
            <a:avLst/>
          </a:prstGeom>
          <a:noFill/>
          <a:ln/>
        </p:spPr>
        <p:txBody>
          <a:bodyPr wrap="square" lIns="635" tIns="635" rIns="635" bIns="635" rtlCol="0" anchor="t"/>
          <a:lstStyle/>
          <a:p>
            <a:pPr marL="177800" indent="-177800">
              <a:spcAft>
                <a:spcPts val="600"/>
              </a:spcAft>
              <a:buSzPct val="100000"/>
              <a:buChar char="•"/>
            </a:pPr>
            <a:r>
              <a:rPr lang="en-US" sz="1400" dirty="0">
                <a:solidFill>
                  <a:srgbClr val="1F2A37"/>
                </a:solidFill>
              </a:rPr>
              <a:t>Același RPN poate ascunde riscuri complet diferite (A și B).</a:t>
            </a:r>
            <a:endParaRPr lang="en-US" sz="1400" dirty="0"/>
          </a:p>
          <a:p>
            <a:pPr marL="177800" indent="-177800">
              <a:spcAft>
                <a:spcPts val="600"/>
              </a:spcAft>
              <a:buSzPct val="100000"/>
              <a:buChar char="•"/>
            </a:pPr>
            <a:r>
              <a:rPr lang="en-US" sz="1400" dirty="0">
                <a:solidFill>
                  <a:srgbClr val="1F2A37"/>
                </a:solidFill>
              </a:rPr>
              <a:t>AP este un tabel de căutare care dă prioritate severității: H, M sau L [14].</a:t>
            </a:r>
            <a:endParaRPr lang="en-US" sz="1400" dirty="0"/>
          </a:p>
          <a:p>
            <a:pPr marL="177800" indent="-177800">
              <a:spcAft>
                <a:spcPts val="600"/>
              </a:spcAft>
              <a:buSzPct val="100000"/>
              <a:buChar char="•"/>
            </a:pPr>
            <a:r>
              <a:rPr lang="en-US" sz="1400" dirty="0">
                <a:solidFill>
                  <a:srgbClr val="1F2A37"/>
                </a:solidFill>
              </a:rPr>
              <a:t>În laborator, riscul se judecă doar cu tabelul AP, cu D = minimul dintre metode.</a:t>
            </a:r>
            <a:endParaRPr lang="en-US" sz="1400" dirty="0"/>
          </a:p>
        </p:txBody>
      </p:sp>
      <p:sp>
        <p:nvSpPr>
          <p:cNvPr id="7" name="sources"/>
          <p:cNvSpPr txBox="1"/>
          <p:nvPr/>
        </p:nvSpPr>
        <p:spPr>
          <a:xfrm>
            <a:off x="457200" y="4572000"/>
            <a:ext cx="7772400" cy="237744"/>
          </a:xfrm>
          <a:prstGeom prst="rect">
            <a:avLst/>
          </a:prstGeom>
          <a:noFill/>
          <a:ln/>
        </p:spPr>
        <p:txBody>
          <a:bodyPr wrap="square" lIns="0" tIns="0" rIns="0" bIns="0" rtlCol="0" anchor="ctr"/>
          <a:lstStyle/>
          <a:p>
            <a:pPr indent="0" marL="0">
              <a:buNone/>
            </a:pPr>
            <a:r>
              <a:rPr lang="en-US" sz="1000" i="1" dirty="0">
                <a:solidFill>
                  <a:srgbClr val="5B6575"/>
                </a:solidFill>
              </a:rPr>
              <a:t>Surse: [14] AIAG &amp; VDA FMEA Handbook, 2019 (tabelul AP) · [17] Bowles, RAMS 2003</a:t>
            </a:r>
            <a:endParaRPr lang="en-US" sz="10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600" b="1" dirty="0">
                <a:solidFill>
                  <a:srgbClr val="0B6E69"/>
                </a:solidFill>
              </a:rPr>
              <a:t>Cum se leagă standardele</a:t>
            </a:r>
            <a:endParaRPr lang="en-US" sz="2600" dirty="0"/>
          </a:p>
        </p:txBody>
      </p:sp>
      <p:sp>
        <p:nvSpPr>
          <p:cNvPr id="3" name="Shape 1"/>
          <p:cNvSpPr/>
          <p:nvPr/>
        </p:nvSpPr>
        <p:spPr>
          <a:xfrm>
            <a:off x="457200" y="1005840"/>
            <a:ext cx="2514600" cy="868680"/>
          </a:xfrm>
          <a:prstGeom prst="roundRect">
            <a:avLst>
              <a:gd name="adj" fmla="val 10526"/>
            </a:avLst>
          </a:prstGeom>
          <a:solidFill>
            <a:srgbClr val="E5F0FA"/>
          </a:solidFill>
          <a:ln w="9525">
            <a:solidFill>
              <a:srgbClr val="C9D3DC"/>
            </a:solidFill>
            <a:prstDash val="solid"/>
          </a:ln>
        </p:spPr>
      </p:sp>
      <p:sp>
        <p:nvSpPr>
          <p:cNvPr id="4" name="Text 2"/>
          <p:cNvSpPr txBox="1"/>
          <p:nvPr/>
        </p:nvSpPr>
        <p:spPr>
          <a:xfrm>
            <a:off x="512064" y="1033272"/>
            <a:ext cx="2404872" cy="813816"/>
          </a:xfrm>
          <a:prstGeom prst="rect">
            <a:avLst/>
          </a:prstGeom>
          <a:noFill/>
          <a:ln/>
        </p:spPr>
        <p:txBody>
          <a:bodyPr wrap="square" lIns="0" tIns="0" rIns="0" bIns="0" rtlCol="0" anchor="ctr"/>
          <a:lstStyle/>
          <a:p>
            <a:pPr algn="ctr" indent="0" marL="0">
              <a:buNone/>
            </a:pPr>
            <a:r>
              <a:rPr lang="en-US" sz="1200" b="1" dirty="0">
                <a:solidFill>
                  <a:srgbClr val="1F2A37"/>
                </a:solidFill>
              </a:rPr>
              <a:t>ISO 26262:2018</a:t>
            </a:r>
            <a:endParaRPr lang="en-US" sz="1200" dirty="0"/>
          </a:p>
          <a:p>
            <a:pPr algn="ctr" indent="0" marL="0">
              <a:buNone/>
            </a:pPr>
            <a:r>
              <a:rPr lang="en-US" sz="1000" dirty="0">
                <a:solidFill>
                  <a:srgbClr val="5B6575"/>
                </a:solidFill>
              </a:rPr>
              <a:t>siguranță funcțională · ASIL · Partea 7: plan de control în producție [13]</a:t>
            </a:r>
            <a:endParaRPr lang="en-US" sz="1200" dirty="0"/>
          </a:p>
        </p:txBody>
      </p:sp>
      <p:sp>
        <p:nvSpPr>
          <p:cNvPr id="5" name="Shape 3"/>
          <p:cNvSpPr/>
          <p:nvPr/>
        </p:nvSpPr>
        <p:spPr>
          <a:xfrm>
            <a:off x="3310128" y="1005840"/>
            <a:ext cx="2514600" cy="868680"/>
          </a:xfrm>
          <a:prstGeom prst="roundRect">
            <a:avLst>
              <a:gd name="adj" fmla="val 10526"/>
            </a:avLst>
          </a:prstGeom>
          <a:solidFill>
            <a:srgbClr val="E5F0FA"/>
          </a:solidFill>
          <a:ln w="9525">
            <a:solidFill>
              <a:srgbClr val="C9D3DC"/>
            </a:solidFill>
            <a:prstDash val="solid"/>
          </a:ln>
        </p:spPr>
      </p:sp>
      <p:sp>
        <p:nvSpPr>
          <p:cNvPr id="6" name="Text 4"/>
          <p:cNvSpPr txBox="1"/>
          <p:nvPr/>
        </p:nvSpPr>
        <p:spPr>
          <a:xfrm>
            <a:off x="3364992" y="1033272"/>
            <a:ext cx="2404872" cy="813816"/>
          </a:xfrm>
          <a:prstGeom prst="rect">
            <a:avLst/>
          </a:prstGeom>
          <a:noFill/>
          <a:ln/>
        </p:spPr>
        <p:txBody>
          <a:bodyPr wrap="square" lIns="0" tIns="0" rIns="0" bIns="0" rtlCol="0" anchor="ctr"/>
          <a:lstStyle/>
          <a:p>
            <a:pPr algn="ctr" indent="0" marL="0">
              <a:buNone/>
            </a:pPr>
            <a:r>
              <a:rPr lang="en-US" sz="1200" b="1" dirty="0">
                <a:solidFill>
                  <a:srgbClr val="1F2A37"/>
                </a:solidFill>
              </a:rPr>
              <a:t>IATF 16949:2016</a:t>
            </a:r>
            <a:endParaRPr lang="en-US" sz="1200" dirty="0"/>
          </a:p>
          <a:p>
            <a:pPr algn="ctr" indent="0" marL="0">
              <a:buNone/>
            </a:pPr>
            <a:r>
              <a:rPr lang="en-US" sz="1000" dirty="0">
                <a:solidFill>
                  <a:srgbClr val="5B6575"/>
                </a:solidFill>
              </a:rPr>
              <a:t>SMC auto · core tools · plan de control, error-proofing [18]</a:t>
            </a:r>
            <a:endParaRPr lang="en-US" sz="1200" dirty="0"/>
          </a:p>
        </p:txBody>
      </p:sp>
      <p:sp>
        <p:nvSpPr>
          <p:cNvPr id="7" name="Shape 5"/>
          <p:cNvSpPr/>
          <p:nvPr/>
        </p:nvSpPr>
        <p:spPr>
          <a:xfrm>
            <a:off x="6172200" y="1005840"/>
            <a:ext cx="2514600" cy="868680"/>
          </a:xfrm>
          <a:prstGeom prst="roundRect">
            <a:avLst>
              <a:gd name="adj" fmla="val 10526"/>
            </a:avLst>
          </a:prstGeom>
          <a:solidFill>
            <a:srgbClr val="FCE9E7"/>
          </a:solidFill>
          <a:ln w="9525">
            <a:solidFill>
              <a:srgbClr val="C9D3DC"/>
            </a:solidFill>
            <a:prstDash val="solid"/>
          </a:ln>
        </p:spPr>
      </p:sp>
      <p:sp>
        <p:nvSpPr>
          <p:cNvPr id="8" name="Text 6"/>
          <p:cNvSpPr txBox="1"/>
          <p:nvPr/>
        </p:nvSpPr>
        <p:spPr>
          <a:xfrm>
            <a:off x="6227064" y="1033272"/>
            <a:ext cx="2404872" cy="813816"/>
          </a:xfrm>
          <a:prstGeom prst="rect">
            <a:avLst/>
          </a:prstGeom>
          <a:noFill/>
          <a:ln/>
        </p:spPr>
        <p:txBody>
          <a:bodyPr wrap="square" lIns="0" tIns="0" rIns="0" bIns="0" rtlCol="0" anchor="ctr"/>
          <a:lstStyle/>
          <a:p>
            <a:pPr algn="ctr" indent="0" marL="0">
              <a:buNone/>
            </a:pPr>
            <a:r>
              <a:rPr lang="en-US" sz="1200" b="1" dirty="0">
                <a:solidFill>
                  <a:srgbClr val="1F2A37"/>
                </a:solidFill>
              </a:rPr>
              <a:t>Legi și reglementări</a:t>
            </a:r>
            <a:endParaRPr lang="en-US" sz="1200" dirty="0"/>
          </a:p>
          <a:p>
            <a:pPr algn="ctr" indent="0" marL="0">
              <a:buNone/>
            </a:pPr>
            <a:r>
              <a:rPr lang="en-US" sz="1000" dirty="0">
                <a:solidFill>
                  <a:srgbClr val="5B6575"/>
                </a:solidFill>
              </a:rPr>
              <a:t>PLD (UE) 2024/2853 · (UE) 2018/858 · UNECE R10 [21][22][23]</a:t>
            </a:r>
            <a:endParaRPr lang="en-US" sz="1200" dirty="0"/>
          </a:p>
        </p:txBody>
      </p:sp>
      <p:sp>
        <p:nvSpPr>
          <p:cNvPr id="9" name="Shape 7"/>
          <p:cNvSpPr/>
          <p:nvPr/>
        </p:nvSpPr>
        <p:spPr>
          <a:xfrm>
            <a:off x="457200" y="2148840"/>
            <a:ext cx="2514600" cy="868680"/>
          </a:xfrm>
          <a:prstGeom prst="roundRect">
            <a:avLst>
              <a:gd name="adj" fmla="val 10526"/>
            </a:avLst>
          </a:prstGeom>
          <a:solidFill>
            <a:srgbClr val="E3F4F1"/>
          </a:solidFill>
          <a:ln w="9525">
            <a:solidFill>
              <a:srgbClr val="C9D3DC"/>
            </a:solidFill>
            <a:prstDash val="solid"/>
          </a:ln>
        </p:spPr>
      </p:sp>
      <p:sp>
        <p:nvSpPr>
          <p:cNvPr id="10" name="Text 8"/>
          <p:cNvSpPr txBox="1"/>
          <p:nvPr/>
        </p:nvSpPr>
        <p:spPr>
          <a:xfrm>
            <a:off x="512064" y="2176272"/>
            <a:ext cx="2404872" cy="813816"/>
          </a:xfrm>
          <a:prstGeom prst="rect">
            <a:avLst/>
          </a:prstGeom>
          <a:noFill/>
          <a:ln/>
        </p:spPr>
        <p:txBody>
          <a:bodyPr wrap="square" lIns="0" tIns="0" rIns="0" bIns="0" rtlCol="0" anchor="ctr"/>
          <a:lstStyle/>
          <a:p>
            <a:pPr algn="ctr" indent="0" marL="0">
              <a:buNone/>
            </a:pPr>
            <a:r>
              <a:rPr lang="en-US" sz="1200" b="1" dirty="0">
                <a:solidFill>
                  <a:srgbClr val="1F2A37"/>
                </a:solidFill>
              </a:rPr>
              <a:t>AIAG-VDA FMEA / SAE J1739</a:t>
            </a:r>
            <a:endParaRPr lang="en-US" sz="1200" dirty="0"/>
          </a:p>
          <a:p>
            <a:pPr algn="ctr" indent="0" marL="0">
              <a:buNone/>
            </a:pPr>
            <a:r>
              <a:rPr lang="en-US" sz="1000" dirty="0">
                <a:solidFill>
                  <a:srgbClr val="5B6575"/>
                </a:solidFill>
              </a:rPr>
              <a:t>DFMEA, PFMEA · S, O, D · AP [14][15]</a:t>
            </a:r>
            <a:endParaRPr lang="en-US" sz="1200" dirty="0"/>
          </a:p>
        </p:txBody>
      </p:sp>
      <p:sp>
        <p:nvSpPr>
          <p:cNvPr id="11" name="Shape 9"/>
          <p:cNvSpPr/>
          <p:nvPr/>
        </p:nvSpPr>
        <p:spPr>
          <a:xfrm>
            <a:off x="3310128" y="2148840"/>
            <a:ext cx="2514600" cy="868680"/>
          </a:xfrm>
          <a:prstGeom prst="roundRect">
            <a:avLst>
              <a:gd name="adj" fmla="val 10526"/>
            </a:avLst>
          </a:prstGeom>
          <a:solidFill>
            <a:srgbClr val="E3F4F1"/>
          </a:solidFill>
          <a:ln w="9525">
            <a:solidFill>
              <a:srgbClr val="C9D3DC"/>
            </a:solidFill>
            <a:prstDash val="solid"/>
          </a:ln>
        </p:spPr>
      </p:sp>
      <p:sp>
        <p:nvSpPr>
          <p:cNvPr id="12" name="Text 10"/>
          <p:cNvSpPr txBox="1"/>
          <p:nvPr/>
        </p:nvSpPr>
        <p:spPr>
          <a:xfrm>
            <a:off x="3364992" y="2176272"/>
            <a:ext cx="2404872" cy="813816"/>
          </a:xfrm>
          <a:prstGeom prst="rect">
            <a:avLst/>
          </a:prstGeom>
          <a:noFill/>
          <a:ln/>
        </p:spPr>
        <p:txBody>
          <a:bodyPr wrap="square" lIns="0" tIns="0" rIns="0" bIns="0" rtlCol="0" anchor="ctr"/>
          <a:lstStyle/>
          <a:p>
            <a:pPr algn="ctr" indent="0" marL="0">
              <a:buNone/>
            </a:pPr>
            <a:r>
              <a:rPr lang="en-US" sz="1200" b="1" dirty="0">
                <a:solidFill>
                  <a:srgbClr val="1F2A37"/>
                </a:solidFill>
              </a:rPr>
              <a:t>APQP 3 / Control Plan 1 (2024)</a:t>
            </a:r>
            <a:endParaRPr lang="en-US" sz="1200" dirty="0"/>
          </a:p>
          <a:p>
            <a:pPr algn="ctr" indent="0" marL="0">
              <a:buNone/>
            </a:pPr>
            <a:r>
              <a:rPr lang="en-US" sz="1000" dirty="0">
                <a:solidFill>
                  <a:srgbClr val="5B6575"/>
                </a:solidFill>
              </a:rPr>
              <a:t>plan de control · specificația de test [19]</a:t>
            </a:r>
            <a:endParaRPr lang="en-US" sz="1200" dirty="0"/>
          </a:p>
        </p:txBody>
      </p:sp>
      <p:sp>
        <p:nvSpPr>
          <p:cNvPr id="13" name="Shape 11"/>
          <p:cNvSpPr/>
          <p:nvPr/>
        </p:nvSpPr>
        <p:spPr>
          <a:xfrm>
            <a:off x="6172200" y="2148840"/>
            <a:ext cx="2514600" cy="868680"/>
          </a:xfrm>
          <a:prstGeom prst="roundRect">
            <a:avLst>
              <a:gd name="adj" fmla="val 10526"/>
            </a:avLst>
          </a:prstGeom>
          <a:solidFill>
            <a:srgbClr val="E3F4F1"/>
          </a:solidFill>
          <a:ln w="9525">
            <a:solidFill>
              <a:srgbClr val="C9D3DC"/>
            </a:solidFill>
            <a:prstDash val="solid"/>
          </a:ln>
        </p:spPr>
      </p:sp>
      <p:sp>
        <p:nvSpPr>
          <p:cNvPr id="14" name="Text 12"/>
          <p:cNvSpPr txBox="1"/>
          <p:nvPr/>
        </p:nvSpPr>
        <p:spPr>
          <a:xfrm>
            <a:off x="6227064" y="2176272"/>
            <a:ext cx="2404872" cy="813816"/>
          </a:xfrm>
          <a:prstGeom prst="rect">
            <a:avLst/>
          </a:prstGeom>
          <a:noFill/>
          <a:ln/>
        </p:spPr>
        <p:txBody>
          <a:bodyPr wrap="square" lIns="0" tIns="0" rIns="0" bIns="0" rtlCol="0" anchor="ctr"/>
          <a:lstStyle/>
          <a:p>
            <a:pPr algn="ctr" indent="0" marL="0">
              <a:buNone/>
            </a:pPr>
            <a:r>
              <a:rPr lang="en-US" sz="1200" b="1" dirty="0">
                <a:solidFill>
                  <a:srgbClr val="1F2A37"/>
                </a:solidFill>
              </a:rPr>
              <a:t>IPC-A-610J / J-STD-001J</a:t>
            </a:r>
            <a:endParaRPr lang="en-US" sz="1200" dirty="0"/>
          </a:p>
          <a:p>
            <a:pPr algn="ctr" indent="0" marL="0">
              <a:buNone/>
            </a:pPr>
            <a:r>
              <a:rPr lang="en-US" sz="1000" dirty="0">
                <a:solidFill>
                  <a:srgbClr val="5B6575"/>
                </a:solidFill>
              </a:rPr>
              <a:t>criterii de acceptare · supliment auto 2025 [9]</a:t>
            </a:r>
            <a:endParaRPr lang="en-US" sz="1200" dirty="0"/>
          </a:p>
        </p:txBody>
      </p:sp>
      <p:sp>
        <p:nvSpPr>
          <p:cNvPr id="15" name="Shape 13"/>
          <p:cNvSpPr/>
          <p:nvPr/>
        </p:nvSpPr>
        <p:spPr>
          <a:xfrm>
            <a:off x="1874520" y="3310128"/>
            <a:ext cx="2514600" cy="868680"/>
          </a:xfrm>
          <a:prstGeom prst="roundRect">
            <a:avLst>
              <a:gd name="adj" fmla="val 10526"/>
            </a:avLst>
          </a:prstGeom>
          <a:solidFill>
            <a:srgbClr val="FFF4DE"/>
          </a:solidFill>
          <a:ln w="9525">
            <a:solidFill>
              <a:srgbClr val="C9D3DC"/>
            </a:solidFill>
            <a:prstDash val="solid"/>
          </a:ln>
        </p:spPr>
      </p:sp>
      <p:sp>
        <p:nvSpPr>
          <p:cNvPr id="16" name="Text 14"/>
          <p:cNvSpPr txBox="1"/>
          <p:nvPr/>
        </p:nvSpPr>
        <p:spPr>
          <a:xfrm>
            <a:off x="1929384" y="3337560"/>
            <a:ext cx="2404872" cy="813816"/>
          </a:xfrm>
          <a:prstGeom prst="rect">
            <a:avLst/>
          </a:prstGeom>
          <a:noFill/>
          <a:ln/>
        </p:spPr>
        <p:txBody>
          <a:bodyPr wrap="square" lIns="0" tIns="0" rIns="0" bIns="0" rtlCol="0" anchor="ctr"/>
          <a:lstStyle/>
          <a:p>
            <a:pPr algn="ctr" indent="0" marL="0">
              <a:buNone/>
            </a:pPr>
            <a:r>
              <a:rPr lang="en-US" sz="1200" b="1" dirty="0">
                <a:solidFill>
                  <a:srgbClr val="1F2A37"/>
                </a:solidFill>
              </a:rPr>
              <a:t>TCA HW</a:t>
            </a:r>
            <a:endParaRPr lang="en-US" sz="1200" dirty="0"/>
          </a:p>
          <a:p>
            <a:pPr algn="ctr" indent="0" marL="0">
              <a:buNone/>
            </a:pPr>
            <a:r>
              <a:rPr lang="en-US" sz="1000" dirty="0">
                <a:solidFill>
                  <a:srgbClr val="5B6575"/>
                </a:solidFill>
              </a:rPr>
              <a:t>PCOLA/SOQ/FAM · D pentru AOI, AXI, ICT, FT [1]</a:t>
            </a:r>
            <a:endParaRPr lang="en-US" sz="1200" dirty="0"/>
          </a:p>
        </p:txBody>
      </p:sp>
      <p:sp>
        <p:nvSpPr>
          <p:cNvPr id="17" name="Shape 15"/>
          <p:cNvSpPr/>
          <p:nvPr/>
        </p:nvSpPr>
        <p:spPr>
          <a:xfrm>
            <a:off x="4754880" y="3310128"/>
            <a:ext cx="2514600" cy="868680"/>
          </a:xfrm>
          <a:prstGeom prst="roundRect">
            <a:avLst>
              <a:gd name="adj" fmla="val 10526"/>
            </a:avLst>
          </a:prstGeom>
          <a:solidFill>
            <a:srgbClr val="FCE9E7"/>
          </a:solidFill>
          <a:ln w="9525">
            <a:solidFill>
              <a:srgbClr val="C9D3DC"/>
            </a:solidFill>
            <a:prstDash val="solid"/>
          </a:ln>
        </p:spPr>
      </p:sp>
      <p:sp>
        <p:nvSpPr>
          <p:cNvPr id="18" name="Text 16"/>
          <p:cNvSpPr txBox="1"/>
          <p:nvPr/>
        </p:nvSpPr>
        <p:spPr>
          <a:xfrm>
            <a:off x="4809744" y="3337560"/>
            <a:ext cx="2404872" cy="813816"/>
          </a:xfrm>
          <a:prstGeom prst="rect">
            <a:avLst/>
          </a:prstGeom>
          <a:noFill/>
          <a:ln/>
        </p:spPr>
        <p:txBody>
          <a:bodyPr wrap="square" lIns="0" tIns="0" rIns="0" bIns="0" rtlCol="0" anchor="ctr"/>
          <a:lstStyle/>
          <a:p>
            <a:pPr algn="ctr" indent="0" marL="0">
              <a:buNone/>
            </a:pPr>
            <a:r>
              <a:rPr lang="en-US" sz="1200" b="1" dirty="0">
                <a:solidFill>
                  <a:srgbClr val="1F2A37"/>
                </a:solidFill>
              </a:rPr>
              <a:t>Risc rezidual</a:t>
            </a:r>
            <a:endParaRPr lang="en-US" sz="1200" dirty="0"/>
          </a:p>
          <a:p>
            <a:pPr algn="ctr" indent="0" marL="0">
              <a:buNone/>
            </a:pPr>
            <a:r>
              <a:rPr lang="en-US" sz="1000" dirty="0">
                <a:solidFill>
                  <a:srgbClr val="5B6575"/>
                </a:solidFill>
              </a:rPr>
              <a:t>documentat și acceptat · ISO 31000, ISO Guide 73 [10][11]</a:t>
            </a:r>
            <a:endParaRPr lang="en-US" sz="1200" dirty="0"/>
          </a:p>
        </p:txBody>
      </p:sp>
      <p:sp>
        <p:nvSpPr>
          <p:cNvPr id="19" name="Shape 17"/>
          <p:cNvSpPr/>
          <p:nvPr/>
        </p:nvSpPr>
        <p:spPr>
          <a:xfrm>
            <a:off x="1714500" y="1874520"/>
            <a:ext cx="0" cy="274320"/>
          </a:xfrm>
          <a:prstGeom prst="line">
            <a:avLst/>
          </a:prstGeom>
          <a:noFill/>
          <a:ln w="15875">
            <a:solidFill>
              <a:srgbClr val="5B6575"/>
            </a:solidFill>
            <a:prstDash val="solid"/>
            <a:tailEnd type="triangle"/>
          </a:ln>
        </p:spPr>
      </p:sp>
      <p:sp>
        <p:nvSpPr>
          <p:cNvPr id="20" name="Shape 18"/>
          <p:cNvSpPr/>
          <p:nvPr/>
        </p:nvSpPr>
        <p:spPr>
          <a:xfrm>
            <a:off x="4567428" y="1874520"/>
            <a:ext cx="0" cy="274320"/>
          </a:xfrm>
          <a:prstGeom prst="line">
            <a:avLst/>
          </a:prstGeom>
          <a:noFill/>
          <a:ln w="15875">
            <a:solidFill>
              <a:srgbClr val="5B6575"/>
            </a:solidFill>
            <a:prstDash val="solid"/>
            <a:tailEnd type="triangle"/>
          </a:ln>
        </p:spPr>
      </p:sp>
      <p:sp>
        <p:nvSpPr>
          <p:cNvPr id="21" name="Shape 19"/>
          <p:cNvSpPr/>
          <p:nvPr/>
        </p:nvSpPr>
        <p:spPr>
          <a:xfrm>
            <a:off x="7429500" y="1874520"/>
            <a:ext cx="0" cy="274320"/>
          </a:xfrm>
          <a:prstGeom prst="line">
            <a:avLst/>
          </a:prstGeom>
          <a:noFill/>
          <a:ln w="15875">
            <a:solidFill>
              <a:srgbClr val="5B6575"/>
            </a:solidFill>
            <a:prstDash val="solid"/>
            <a:tailEnd type="triangle"/>
          </a:ln>
        </p:spPr>
      </p:sp>
      <p:sp>
        <p:nvSpPr>
          <p:cNvPr id="22" name="Shape 20"/>
          <p:cNvSpPr/>
          <p:nvPr/>
        </p:nvSpPr>
        <p:spPr>
          <a:xfrm>
            <a:off x="1714500" y="3017520"/>
            <a:ext cx="1371600" cy="292608"/>
          </a:xfrm>
          <a:prstGeom prst="line">
            <a:avLst/>
          </a:prstGeom>
          <a:noFill/>
          <a:ln w="15875">
            <a:solidFill>
              <a:srgbClr val="5B6575"/>
            </a:solidFill>
            <a:prstDash val="solid"/>
            <a:tailEnd type="triangle"/>
          </a:ln>
        </p:spPr>
      </p:sp>
      <p:sp>
        <p:nvSpPr>
          <p:cNvPr id="23" name="Shape 21"/>
          <p:cNvSpPr/>
          <p:nvPr/>
        </p:nvSpPr>
        <p:spPr>
          <a:xfrm flipH="1">
            <a:off x="3767328" y="3017520"/>
            <a:ext cx="800100" cy="292608"/>
          </a:xfrm>
          <a:prstGeom prst="line">
            <a:avLst/>
          </a:prstGeom>
          <a:noFill/>
          <a:ln w="15875">
            <a:solidFill>
              <a:srgbClr val="5B6575"/>
            </a:solidFill>
            <a:prstDash val="solid"/>
            <a:tailEnd type="triangle"/>
          </a:ln>
        </p:spPr>
      </p:sp>
      <p:sp>
        <p:nvSpPr>
          <p:cNvPr id="24" name="Shape 22"/>
          <p:cNvSpPr/>
          <p:nvPr/>
        </p:nvSpPr>
        <p:spPr>
          <a:xfrm flipH="1">
            <a:off x="5852160" y="3017520"/>
            <a:ext cx="1577340" cy="292608"/>
          </a:xfrm>
          <a:prstGeom prst="line">
            <a:avLst/>
          </a:prstGeom>
          <a:noFill/>
          <a:ln w="15875">
            <a:solidFill>
              <a:srgbClr val="5B6575"/>
            </a:solidFill>
            <a:prstDash val="solid"/>
            <a:tailEnd type="triangle"/>
          </a:ln>
        </p:spPr>
      </p:sp>
      <p:sp>
        <p:nvSpPr>
          <p:cNvPr id="25" name="Shape 23"/>
          <p:cNvSpPr/>
          <p:nvPr/>
        </p:nvSpPr>
        <p:spPr>
          <a:xfrm>
            <a:off x="4389120" y="3744468"/>
            <a:ext cx="365760" cy="0"/>
          </a:xfrm>
          <a:prstGeom prst="line">
            <a:avLst/>
          </a:prstGeom>
          <a:noFill/>
          <a:ln w="15875">
            <a:solidFill>
              <a:srgbClr val="5B6575"/>
            </a:solidFill>
            <a:prstDash val="solid"/>
            <a:tailEnd type="triangle"/>
          </a:ln>
        </p:spPr>
      </p:sp>
      <p:sp>
        <p:nvSpPr>
          <p:cNvPr id="26" name="sources"/>
          <p:cNvSpPr txBox="1"/>
          <p:nvPr/>
        </p:nvSpPr>
        <p:spPr>
          <a:xfrm>
            <a:off x="457200" y="4572000"/>
            <a:ext cx="7772400" cy="237744"/>
          </a:xfrm>
          <a:prstGeom prst="rect">
            <a:avLst/>
          </a:prstGeom>
          <a:noFill/>
          <a:ln/>
        </p:spPr>
        <p:txBody>
          <a:bodyPr wrap="square" lIns="0" tIns="0" rIns="0" bIns="0" rtlCol="0" anchor="ctr"/>
          <a:lstStyle/>
          <a:p>
            <a:pPr indent="0" marL="0">
              <a:buNone/>
            </a:pPr>
            <a:r>
              <a:rPr lang="en-US" sz="1000" i="1" dirty="0">
                <a:solidFill>
                  <a:srgbClr val="5B6575"/>
                </a:solidFill>
              </a:rPr>
              <a:t>Surse: [13] ISO 26262-7:2018 · [18] IATF 16949:2016, AIAG · [19] AIAG APQP/CP 2024 · [9] IPC</a:t>
            </a:r>
            <a:endParaRPr lang="en-US" sz="10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600" b="1" dirty="0">
                <a:solidFill>
                  <a:srgbClr val="0B6E69"/>
                </a:solidFill>
              </a:rPr>
              <a:t>Evoluția FMEA și a analizei acoperirii</a:t>
            </a:r>
            <a:endParaRPr lang="en-US" sz="2600" dirty="0"/>
          </a:p>
        </p:txBody>
      </p:sp>
      <p:sp>
        <p:nvSpPr>
          <p:cNvPr id="3" name="Shape 1"/>
          <p:cNvSpPr/>
          <p:nvPr/>
        </p:nvSpPr>
        <p:spPr>
          <a:xfrm>
            <a:off x="548640" y="2331720"/>
            <a:ext cx="8046720" cy="0"/>
          </a:xfrm>
          <a:prstGeom prst="line">
            <a:avLst/>
          </a:prstGeom>
          <a:noFill/>
          <a:ln w="25400">
            <a:solidFill>
              <a:srgbClr val="0B6E69"/>
            </a:solidFill>
            <a:prstDash val="solid"/>
          </a:ln>
        </p:spPr>
      </p:sp>
      <p:sp>
        <p:nvSpPr>
          <p:cNvPr id="4" name="Shape 2"/>
          <p:cNvSpPr/>
          <p:nvPr/>
        </p:nvSpPr>
        <p:spPr>
          <a:xfrm>
            <a:off x="877824" y="2249424"/>
            <a:ext cx="164592" cy="164592"/>
          </a:xfrm>
          <a:prstGeom prst="ellipse">
            <a:avLst/>
          </a:prstGeom>
          <a:solidFill>
            <a:srgbClr val="0B6E69"/>
          </a:solidFill>
          <a:ln w="12700">
            <a:solidFill>
              <a:srgbClr val="FFFFFF"/>
            </a:solidFill>
            <a:prstDash val="solid"/>
          </a:ln>
        </p:spPr>
      </p:sp>
      <p:sp>
        <p:nvSpPr>
          <p:cNvPr id="5" name="Text 3"/>
          <p:cNvSpPr txBox="1"/>
          <p:nvPr/>
        </p:nvSpPr>
        <p:spPr>
          <a:xfrm>
            <a:off x="393192" y="1005840"/>
            <a:ext cx="1133856" cy="1188720"/>
          </a:xfrm>
          <a:prstGeom prst="rect">
            <a:avLst/>
          </a:prstGeom>
          <a:noFill/>
          <a:ln/>
        </p:spPr>
        <p:txBody>
          <a:bodyPr wrap="square" lIns="0" tIns="0" rIns="0" bIns="0" rtlCol="0" anchor="b"/>
          <a:lstStyle/>
          <a:p>
            <a:pPr algn="ctr" indent="0" marL="0">
              <a:buNone/>
            </a:pPr>
            <a:r>
              <a:rPr lang="en-US" sz="1400" b="1" dirty="0">
                <a:solidFill>
                  <a:srgbClr val="0B6E69"/>
                </a:solidFill>
              </a:rPr>
              <a:t>1949</a:t>
            </a:r>
            <a:endParaRPr lang="en-US" sz="1400" dirty="0"/>
          </a:p>
          <a:p>
            <a:pPr algn="ctr" indent="0" marL="0">
              <a:buNone/>
            </a:pPr>
            <a:r>
              <a:rPr lang="en-US" sz="1050" dirty="0">
                <a:solidFill>
                  <a:srgbClr val="1F2A37"/>
                </a:solidFill>
              </a:rPr>
              <a:t>MIL-P-1629, armata SUA</a:t>
            </a:r>
            <a:endParaRPr lang="en-US" sz="1400" dirty="0"/>
          </a:p>
        </p:txBody>
      </p:sp>
      <p:sp>
        <p:nvSpPr>
          <p:cNvPr id="6" name="Shape 4"/>
          <p:cNvSpPr/>
          <p:nvPr/>
        </p:nvSpPr>
        <p:spPr>
          <a:xfrm>
            <a:off x="1680464" y="2249424"/>
            <a:ext cx="164592" cy="164592"/>
          </a:xfrm>
          <a:prstGeom prst="ellipse">
            <a:avLst/>
          </a:prstGeom>
          <a:solidFill>
            <a:srgbClr val="0B6E69"/>
          </a:solidFill>
          <a:ln w="12700">
            <a:solidFill>
              <a:srgbClr val="FFFFFF"/>
            </a:solidFill>
            <a:prstDash val="solid"/>
          </a:ln>
        </p:spPr>
      </p:sp>
      <p:sp>
        <p:nvSpPr>
          <p:cNvPr id="7" name="Text 5"/>
          <p:cNvSpPr txBox="1"/>
          <p:nvPr/>
        </p:nvSpPr>
        <p:spPr>
          <a:xfrm>
            <a:off x="1195832" y="2514600"/>
            <a:ext cx="1133856" cy="1188720"/>
          </a:xfrm>
          <a:prstGeom prst="rect">
            <a:avLst/>
          </a:prstGeom>
          <a:noFill/>
          <a:ln/>
        </p:spPr>
        <p:txBody>
          <a:bodyPr wrap="square" lIns="0" tIns="0" rIns="0" bIns="0" rtlCol="0" anchor="t"/>
          <a:lstStyle/>
          <a:p>
            <a:pPr algn="ctr" indent="0" marL="0">
              <a:buNone/>
            </a:pPr>
            <a:r>
              <a:rPr lang="en-US" sz="1400" b="1" dirty="0">
                <a:solidFill>
                  <a:srgbClr val="0B6E69"/>
                </a:solidFill>
              </a:rPr>
              <a:t>1966</a:t>
            </a:r>
            <a:endParaRPr lang="en-US" sz="1400" dirty="0"/>
          </a:p>
          <a:p>
            <a:pPr algn="ctr" indent="0" marL="0">
              <a:buNone/>
            </a:pPr>
            <a:r>
              <a:rPr lang="en-US" sz="1050" dirty="0">
                <a:solidFill>
                  <a:srgbClr val="1F2A37"/>
                </a:solidFill>
              </a:rPr>
              <a:t>NASA, programul Apollo</a:t>
            </a:r>
            <a:endParaRPr lang="en-US" sz="1400" dirty="0"/>
          </a:p>
        </p:txBody>
      </p:sp>
      <p:sp>
        <p:nvSpPr>
          <p:cNvPr id="8" name="Shape 6"/>
          <p:cNvSpPr/>
          <p:nvPr/>
        </p:nvSpPr>
        <p:spPr>
          <a:xfrm>
            <a:off x="2483104" y="2249424"/>
            <a:ext cx="164592" cy="164592"/>
          </a:xfrm>
          <a:prstGeom prst="ellipse">
            <a:avLst/>
          </a:prstGeom>
          <a:solidFill>
            <a:srgbClr val="0B6E69"/>
          </a:solidFill>
          <a:ln w="12700">
            <a:solidFill>
              <a:srgbClr val="FFFFFF"/>
            </a:solidFill>
            <a:prstDash val="solid"/>
          </a:ln>
        </p:spPr>
      </p:sp>
      <p:sp>
        <p:nvSpPr>
          <p:cNvPr id="9" name="Text 7"/>
          <p:cNvSpPr txBox="1"/>
          <p:nvPr/>
        </p:nvSpPr>
        <p:spPr>
          <a:xfrm>
            <a:off x="1998472" y="1005840"/>
            <a:ext cx="1133856" cy="1188720"/>
          </a:xfrm>
          <a:prstGeom prst="rect">
            <a:avLst/>
          </a:prstGeom>
          <a:noFill/>
          <a:ln/>
        </p:spPr>
        <p:txBody>
          <a:bodyPr wrap="square" lIns="0" tIns="0" rIns="0" bIns="0" rtlCol="0" anchor="b"/>
          <a:lstStyle/>
          <a:p>
            <a:pPr algn="ctr" indent="0" marL="0">
              <a:buNone/>
            </a:pPr>
            <a:r>
              <a:rPr lang="en-US" sz="1400" b="1" dirty="0">
                <a:solidFill>
                  <a:srgbClr val="0B6E69"/>
                </a:solidFill>
              </a:rPr>
              <a:t>1967</a:t>
            </a:r>
            <a:endParaRPr lang="en-US" sz="1400" dirty="0"/>
          </a:p>
          <a:p>
            <a:pPr algn="ctr" indent="0" marL="0">
              <a:buNone/>
            </a:pPr>
            <a:r>
              <a:rPr lang="en-US" sz="1050" dirty="0">
                <a:solidFill>
                  <a:srgbClr val="1F2A37"/>
                </a:solidFill>
              </a:rPr>
              <a:t>SAE ARP926</a:t>
            </a:r>
            <a:endParaRPr lang="en-US" sz="1400" dirty="0"/>
          </a:p>
        </p:txBody>
      </p:sp>
      <p:sp>
        <p:nvSpPr>
          <p:cNvPr id="10" name="Shape 8"/>
          <p:cNvSpPr/>
          <p:nvPr/>
        </p:nvSpPr>
        <p:spPr>
          <a:xfrm>
            <a:off x="3285744" y="2249424"/>
            <a:ext cx="164592" cy="164592"/>
          </a:xfrm>
          <a:prstGeom prst="ellipse">
            <a:avLst/>
          </a:prstGeom>
          <a:solidFill>
            <a:srgbClr val="0B6E69"/>
          </a:solidFill>
          <a:ln w="12700">
            <a:solidFill>
              <a:srgbClr val="FFFFFF"/>
            </a:solidFill>
            <a:prstDash val="solid"/>
          </a:ln>
        </p:spPr>
      </p:sp>
      <p:sp>
        <p:nvSpPr>
          <p:cNvPr id="11" name="Text 9"/>
          <p:cNvSpPr txBox="1"/>
          <p:nvPr/>
        </p:nvSpPr>
        <p:spPr>
          <a:xfrm>
            <a:off x="2801112" y="2514600"/>
            <a:ext cx="1133856" cy="1188720"/>
          </a:xfrm>
          <a:prstGeom prst="rect">
            <a:avLst/>
          </a:prstGeom>
          <a:noFill/>
          <a:ln/>
        </p:spPr>
        <p:txBody>
          <a:bodyPr wrap="square" lIns="0" tIns="0" rIns="0" bIns="0" rtlCol="0" anchor="t"/>
          <a:lstStyle/>
          <a:p>
            <a:pPr algn="ctr" indent="0" marL="0">
              <a:buNone/>
            </a:pPr>
            <a:r>
              <a:rPr lang="en-US" sz="1400" b="1" dirty="0">
                <a:solidFill>
                  <a:srgbClr val="0B6E69"/>
                </a:solidFill>
              </a:rPr>
              <a:t>1977</a:t>
            </a:r>
            <a:endParaRPr lang="en-US" sz="1400" dirty="0"/>
          </a:p>
          <a:p>
            <a:pPr algn="ctr" indent="0" marL="0">
              <a:buNone/>
            </a:pPr>
            <a:r>
              <a:rPr lang="en-US" sz="1050" dirty="0">
                <a:solidFill>
                  <a:srgbClr val="1F2A37"/>
                </a:solidFill>
              </a:rPr>
              <a:t>Ford aduce FMEA în auto</a:t>
            </a:r>
            <a:endParaRPr lang="en-US" sz="1400" dirty="0"/>
          </a:p>
        </p:txBody>
      </p:sp>
      <p:sp>
        <p:nvSpPr>
          <p:cNvPr id="12" name="Shape 10"/>
          <p:cNvSpPr/>
          <p:nvPr/>
        </p:nvSpPr>
        <p:spPr>
          <a:xfrm>
            <a:off x="4088384" y="2249424"/>
            <a:ext cx="164592" cy="164592"/>
          </a:xfrm>
          <a:prstGeom prst="ellipse">
            <a:avLst/>
          </a:prstGeom>
          <a:solidFill>
            <a:srgbClr val="0B6E69"/>
          </a:solidFill>
          <a:ln w="12700">
            <a:solidFill>
              <a:srgbClr val="FFFFFF"/>
            </a:solidFill>
            <a:prstDash val="solid"/>
          </a:ln>
        </p:spPr>
      </p:sp>
      <p:sp>
        <p:nvSpPr>
          <p:cNvPr id="13" name="Text 11"/>
          <p:cNvSpPr txBox="1"/>
          <p:nvPr/>
        </p:nvSpPr>
        <p:spPr>
          <a:xfrm>
            <a:off x="3603752" y="1005840"/>
            <a:ext cx="1133856" cy="1188720"/>
          </a:xfrm>
          <a:prstGeom prst="rect">
            <a:avLst/>
          </a:prstGeom>
          <a:noFill/>
          <a:ln/>
        </p:spPr>
        <p:txBody>
          <a:bodyPr wrap="square" lIns="0" tIns="0" rIns="0" bIns="0" rtlCol="0" anchor="b"/>
          <a:lstStyle/>
          <a:p>
            <a:pPr algn="ctr" indent="0" marL="0">
              <a:buNone/>
            </a:pPr>
            <a:r>
              <a:rPr lang="en-US" sz="1400" b="1" dirty="0">
                <a:solidFill>
                  <a:srgbClr val="0B6E69"/>
                </a:solidFill>
              </a:rPr>
              <a:t>1980</a:t>
            </a:r>
            <a:endParaRPr lang="en-US" sz="1400" dirty="0"/>
          </a:p>
          <a:p>
            <a:pPr algn="ctr" indent="0" marL="0">
              <a:buNone/>
            </a:pPr>
            <a:r>
              <a:rPr lang="en-US" sz="1050" dirty="0">
                <a:solidFill>
                  <a:srgbClr val="1F2A37"/>
                </a:solidFill>
              </a:rPr>
              <a:t>MIL-STD-1629A</a:t>
            </a:r>
            <a:endParaRPr lang="en-US" sz="1400" dirty="0"/>
          </a:p>
        </p:txBody>
      </p:sp>
      <p:sp>
        <p:nvSpPr>
          <p:cNvPr id="14" name="Shape 12"/>
          <p:cNvSpPr/>
          <p:nvPr/>
        </p:nvSpPr>
        <p:spPr>
          <a:xfrm>
            <a:off x="4891024" y="2249424"/>
            <a:ext cx="164592" cy="164592"/>
          </a:xfrm>
          <a:prstGeom prst="ellipse">
            <a:avLst/>
          </a:prstGeom>
          <a:solidFill>
            <a:srgbClr val="0B6E69"/>
          </a:solidFill>
          <a:ln w="12700">
            <a:solidFill>
              <a:srgbClr val="FFFFFF"/>
            </a:solidFill>
            <a:prstDash val="solid"/>
          </a:ln>
        </p:spPr>
      </p:sp>
      <p:sp>
        <p:nvSpPr>
          <p:cNvPr id="15" name="Text 13"/>
          <p:cNvSpPr txBox="1"/>
          <p:nvPr/>
        </p:nvSpPr>
        <p:spPr>
          <a:xfrm>
            <a:off x="4406392" y="2514600"/>
            <a:ext cx="1133856" cy="1188720"/>
          </a:xfrm>
          <a:prstGeom prst="rect">
            <a:avLst/>
          </a:prstGeom>
          <a:noFill/>
          <a:ln/>
        </p:spPr>
        <p:txBody>
          <a:bodyPr wrap="square" lIns="0" tIns="0" rIns="0" bIns="0" rtlCol="0" anchor="t"/>
          <a:lstStyle/>
          <a:p>
            <a:pPr algn="ctr" indent="0" marL="0">
              <a:buNone/>
            </a:pPr>
            <a:r>
              <a:rPr lang="en-US" sz="1400" b="1" dirty="0">
                <a:solidFill>
                  <a:srgbClr val="0B6E69"/>
                </a:solidFill>
              </a:rPr>
              <a:t>1994</a:t>
            </a:r>
            <a:endParaRPr lang="en-US" sz="1400" dirty="0"/>
          </a:p>
          <a:p>
            <a:pPr algn="ctr" indent="0" marL="0">
              <a:buNone/>
            </a:pPr>
            <a:r>
              <a:rPr lang="en-US" sz="1050" dirty="0">
                <a:solidFill>
                  <a:srgbClr val="1F2A37"/>
                </a:solidFill>
              </a:rPr>
              <a:t>SAE J1739, prima ediție</a:t>
            </a:r>
            <a:endParaRPr lang="en-US" sz="1400" dirty="0"/>
          </a:p>
        </p:txBody>
      </p:sp>
      <p:sp>
        <p:nvSpPr>
          <p:cNvPr id="16" name="Shape 14"/>
          <p:cNvSpPr/>
          <p:nvPr/>
        </p:nvSpPr>
        <p:spPr>
          <a:xfrm>
            <a:off x="5693664" y="2249424"/>
            <a:ext cx="164592" cy="164592"/>
          </a:xfrm>
          <a:prstGeom prst="ellipse">
            <a:avLst/>
          </a:prstGeom>
          <a:solidFill>
            <a:srgbClr val="F2A93B"/>
          </a:solidFill>
          <a:ln w="12700">
            <a:solidFill>
              <a:srgbClr val="FFFFFF"/>
            </a:solidFill>
            <a:prstDash val="solid"/>
          </a:ln>
        </p:spPr>
      </p:sp>
      <p:sp>
        <p:nvSpPr>
          <p:cNvPr id="17" name="Text 15"/>
          <p:cNvSpPr txBox="1"/>
          <p:nvPr/>
        </p:nvSpPr>
        <p:spPr>
          <a:xfrm>
            <a:off x="5209032" y="1005840"/>
            <a:ext cx="1133856" cy="1188720"/>
          </a:xfrm>
          <a:prstGeom prst="rect">
            <a:avLst/>
          </a:prstGeom>
          <a:noFill/>
          <a:ln/>
        </p:spPr>
        <p:txBody>
          <a:bodyPr wrap="square" lIns="0" tIns="0" rIns="0" bIns="0" rtlCol="0" anchor="b"/>
          <a:lstStyle/>
          <a:p>
            <a:pPr algn="ctr" indent="0" marL="0">
              <a:buNone/>
            </a:pPr>
            <a:r>
              <a:rPr lang="en-US" sz="1400" b="1" dirty="0">
                <a:solidFill>
                  <a:srgbClr val="B7791F"/>
                </a:solidFill>
              </a:rPr>
              <a:t>2002</a:t>
            </a:r>
            <a:endParaRPr lang="en-US" sz="1400" dirty="0"/>
          </a:p>
          <a:p>
            <a:pPr algn="ctr" indent="0" marL="0">
              <a:buNone/>
            </a:pPr>
            <a:r>
              <a:rPr lang="en-US" sz="1050" dirty="0">
                <a:solidFill>
                  <a:srgbClr val="1F2A37"/>
                </a:solidFill>
              </a:rPr>
              <a:t>PCOLA/SOQ, Agilent (ITC)</a:t>
            </a:r>
            <a:endParaRPr lang="en-US" sz="1400" dirty="0"/>
          </a:p>
        </p:txBody>
      </p:sp>
      <p:sp>
        <p:nvSpPr>
          <p:cNvPr id="18" name="Shape 16"/>
          <p:cNvSpPr/>
          <p:nvPr/>
        </p:nvSpPr>
        <p:spPr>
          <a:xfrm>
            <a:off x="6496304" y="2249424"/>
            <a:ext cx="164592" cy="164592"/>
          </a:xfrm>
          <a:prstGeom prst="ellipse">
            <a:avLst/>
          </a:prstGeom>
          <a:solidFill>
            <a:srgbClr val="0B6E69"/>
          </a:solidFill>
          <a:ln w="12700">
            <a:solidFill>
              <a:srgbClr val="FFFFFF"/>
            </a:solidFill>
            <a:prstDash val="solid"/>
          </a:ln>
        </p:spPr>
      </p:sp>
      <p:sp>
        <p:nvSpPr>
          <p:cNvPr id="19" name="Text 17"/>
          <p:cNvSpPr txBox="1"/>
          <p:nvPr/>
        </p:nvSpPr>
        <p:spPr>
          <a:xfrm>
            <a:off x="6011672" y="2514600"/>
            <a:ext cx="1133856" cy="1188720"/>
          </a:xfrm>
          <a:prstGeom prst="rect">
            <a:avLst/>
          </a:prstGeom>
          <a:noFill/>
          <a:ln/>
        </p:spPr>
        <p:txBody>
          <a:bodyPr wrap="square" lIns="0" tIns="0" rIns="0" bIns="0" rtlCol="0" anchor="t"/>
          <a:lstStyle/>
          <a:p>
            <a:pPr algn="ctr" indent="0" marL="0">
              <a:buNone/>
            </a:pPr>
            <a:r>
              <a:rPr lang="en-US" sz="1400" b="1" dirty="0">
                <a:solidFill>
                  <a:srgbClr val="0B6E69"/>
                </a:solidFill>
              </a:rPr>
              <a:t>2019</a:t>
            </a:r>
            <a:endParaRPr lang="en-US" sz="1400" dirty="0"/>
          </a:p>
          <a:p>
            <a:pPr algn="ctr" indent="0" marL="0">
              <a:buNone/>
            </a:pPr>
            <a:r>
              <a:rPr lang="en-US" sz="1050" dirty="0">
                <a:solidFill>
                  <a:srgbClr val="1F2A37"/>
                </a:solidFill>
              </a:rPr>
              <a:t>AIAG-VDA: 7 pași, AP</a:t>
            </a:r>
            <a:endParaRPr lang="en-US" sz="1400" dirty="0"/>
          </a:p>
        </p:txBody>
      </p:sp>
      <p:sp>
        <p:nvSpPr>
          <p:cNvPr id="20" name="Shape 18"/>
          <p:cNvSpPr/>
          <p:nvPr/>
        </p:nvSpPr>
        <p:spPr>
          <a:xfrm>
            <a:off x="7298944" y="2249424"/>
            <a:ext cx="164592" cy="164592"/>
          </a:xfrm>
          <a:prstGeom prst="ellipse">
            <a:avLst/>
          </a:prstGeom>
          <a:solidFill>
            <a:srgbClr val="0B6E69"/>
          </a:solidFill>
          <a:ln w="12700">
            <a:solidFill>
              <a:srgbClr val="FFFFFF"/>
            </a:solidFill>
            <a:prstDash val="solid"/>
          </a:ln>
        </p:spPr>
      </p:sp>
      <p:sp>
        <p:nvSpPr>
          <p:cNvPr id="21" name="Text 19"/>
          <p:cNvSpPr txBox="1"/>
          <p:nvPr/>
        </p:nvSpPr>
        <p:spPr>
          <a:xfrm>
            <a:off x="6814312" y="1005840"/>
            <a:ext cx="1133856" cy="1188720"/>
          </a:xfrm>
          <a:prstGeom prst="rect">
            <a:avLst/>
          </a:prstGeom>
          <a:noFill/>
          <a:ln/>
        </p:spPr>
        <p:txBody>
          <a:bodyPr wrap="square" lIns="0" tIns="0" rIns="0" bIns="0" rtlCol="0" anchor="b"/>
          <a:lstStyle/>
          <a:p>
            <a:pPr algn="ctr" indent="0" marL="0">
              <a:buNone/>
            </a:pPr>
            <a:r>
              <a:rPr lang="en-US" sz="1400" b="1" dirty="0">
                <a:solidFill>
                  <a:srgbClr val="0B6E69"/>
                </a:solidFill>
              </a:rPr>
              <a:t>2021</a:t>
            </a:r>
            <a:endParaRPr lang="en-US" sz="1400" dirty="0"/>
          </a:p>
          <a:p>
            <a:pPr algn="ctr" indent="0" marL="0">
              <a:buNone/>
            </a:pPr>
            <a:r>
              <a:rPr lang="en-US" sz="1050" dirty="0">
                <a:solidFill>
                  <a:srgbClr val="1F2A37"/>
                </a:solidFill>
              </a:rPr>
              <a:t>SAE J1739, ediția curentă</a:t>
            </a:r>
            <a:endParaRPr lang="en-US" sz="1400" dirty="0"/>
          </a:p>
        </p:txBody>
      </p:sp>
      <p:sp>
        <p:nvSpPr>
          <p:cNvPr id="22" name="Shape 20"/>
          <p:cNvSpPr/>
          <p:nvPr/>
        </p:nvSpPr>
        <p:spPr>
          <a:xfrm>
            <a:off x="8101584" y="2249424"/>
            <a:ext cx="164592" cy="164592"/>
          </a:xfrm>
          <a:prstGeom prst="ellipse">
            <a:avLst/>
          </a:prstGeom>
          <a:solidFill>
            <a:srgbClr val="F2A93B"/>
          </a:solidFill>
          <a:ln w="12700">
            <a:solidFill>
              <a:srgbClr val="FFFFFF"/>
            </a:solidFill>
            <a:prstDash val="solid"/>
          </a:ln>
        </p:spPr>
      </p:sp>
      <p:sp>
        <p:nvSpPr>
          <p:cNvPr id="23" name="Text 21"/>
          <p:cNvSpPr txBox="1"/>
          <p:nvPr/>
        </p:nvSpPr>
        <p:spPr>
          <a:xfrm>
            <a:off x="7616952" y="2514600"/>
            <a:ext cx="1133856" cy="1188720"/>
          </a:xfrm>
          <a:prstGeom prst="rect">
            <a:avLst/>
          </a:prstGeom>
          <a:noFill/>
          <a:ln/>
        </p:spPr>
        <p:txBody>
          <a:bodyPr wrap="square" lIns="0" tIns="0" rIns="0" bIns="0" rtlCol="0" anchor="t"/>
          <a:lstStyle/>
          <a:p>
            <a:pPr algn="ctr" indent="0" marL="0">
              <a:buNone/>
            </a:pPr>
            <a:r>
              <a:rPr lang="en-US" sz="1400" b="1" dirty="0">
                <a:solidFill>
                  <a:srgbClr val="B7791F"/>
                </a:solidFill>
              </a:rPr>
              <a:t>2026</a:t>
            </a:r>
            <a:endParaRPr lang="en-US" sz="1400" dirty="0"/>
          </a:p>
          <a:p>
            <a:pPr algn="ctr" indent="0" marL="0">
              <a:buNone/>
            </a:pPr>
            <a:r>
              <a:rPr lang="en-US" sz="1050" dirty="0">
                <a:solidFill>
                  <a:srgbClr val="1F2A37"/>
                </a:solidFill>
              </a:rPr>
              <a:t>Siemens preia ASTER (TestWay)</a:t>
            </a:r>
            <a:endParaRPr lang="en-US" sz="1400" dirty="0"/>
          </a:p>
        </p:txBody>
      </p:sp>
      <p:sp>
        <p:nvSpPr>
          <p:cNvPr id="24" name="image placeholder"/>
          <p:cNvSpPr/>
          <p:nvPr/>
        </p:nvSpPr>
        <p:spPr>
          <a:xfrm>
            <a:off x="457200" y="3840480"/>
            <a:ext cx="8229600" cy="640080"/>
          </a:xfrm>
          <a:prstGeom prst="roundRect">
            <a:avLst>
              <a:gd name="adj" fmla="val 17143"/>
            </a:avLst>
          </a:prstGeom>
          <a:solidFill>
            <a:srgbClr val="F4F6F8"/>
          </a:solidFill>
          <a:ln w="12700">
            <a:solidFill>
              <a:srgbClr val="9AA5B1"/>
            </a:solidFill>
            <a:prstDash val="dash"/>
          </a:ln>
        </p:spPr>
      </p:sp>
      <p:sp>
        <p:nvSpPr>
          <p:cNvPr id="25" name="image placeholder label"/>
          <p:cNvSpPr txBox="1"/>
          <p:nvPr/>
        </p:nvSpPr>
        <p:spPr>
          <a:xfrm>
            <a:off x="594360" y="3931920"/>
            <a:ext cx="7955280" cy="457200"/>
          </a:xfrm>
          <a:prstGeom prst="rect">
            <a:avLst/>
          </a:prstGeom>
          <a:noFill/>
          <a:ln/>
        </p:spPr>
        <p:txBody>
          <a:bodyPr wrap="square" rtlCol="0" anchor="ctr"/>
          <a:lstStyle/>
          <a:p>
            <a:pPr algn="ctr" indent="0" marL="0">
              <a:buNone/>
            </a:pPr>
            <a:r>
              <a:rPr lang="en-US" sz="1200" i="1" dirty="0">
                <a:solidFill>
                  <a:srgbClr val="5B6575"/>
                </a:solidFill>
              </a:rPr>
              <a:t>Loc pentru imagine: evoluția standardelor (de ex. diagramă proprie sau copertele ediților)</a:t>
            </a:r>
            <a:endParaRPr lang="en-US" sz="1200" dirty="0"/>
          </a:p>
        </p:txBody>
      </p:sp>
      <p:sp>
        <p:nvSpPr>
          <p:cNvPr id="26" name="sources"/>
          <p:cNvSpPr txBox="1"/>
          <p:nvPr/>
        </p:nvSpPr>
        <p:spPr>
          <a:xfrm>
            <a:off x="457200" y="4572000"/>
            <a:ext cx="7772400" cy="237744"/>
          </a:xfrm>
          <a:prstGeom prst="rect">
            <a:avLst/>
          </a:prstGeom>
          <a:noFill/>
          <a:ln/>
        </p:spPr>
        <p:txBody>
          <a:bodyPr wrap="square" lIns="0" tIns="0" rIns="0" bIns="0" rtlCol="0" anchor="ctr"/>
          <a:lstStyle/>
          <a:p>
            <a:pPr indent="0" marL="0">
              <a:buNone/>
            </a:pPr>
            <a:r>
              <a:rPr lang="en-US" sz="1000" i="1" dirty="0">
                <a:solidFill>
                  <a:srgbClr val="5B6575"/>
                </a:solidFill>
              </a:rPr>
              <a:t>Surse: [20] Acta Natura et Scientia, 2026 · [15] SAE J1739 · [1] Hird et al. · [7] Siemens</a:t>
            </a:r>
            <a:endParaRPr lang="en-US" sz="10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600" b="1" dirty="0">
                <a:solidFill>
                  <a:srgbClr val="0B6E69"/>
                </a:solidFill>
              </a:rPr>
              <a:t>Legi și reglementări</a:t>
            </a:r>
            <a:endParaRPr lang="en-US" sz="2600" dirty="0"/>
          </a:p>
        </p:txBody>
      </p:sp>
      <p:sp>
        <p:nvSpPr>
          <p:cNvPr id="3" name="Shape 1"/>
          <p:cNvSpPr/>
          <p:nvPr/>
        </p:nvSpPr>
        <p:spPr>
          <a:xfrm>
            <a:off x="457200" y="1024128"/>
            <a:ext cx="2633472" cy="1609344"/>
          </a:xfrm>
          <a:prstGeom prst="roundRect">
            <a:avLst>
              <a:gd name="adj" fmla="val 5682"/>
            </a:avLst>
          </a:prstGeom>
          <a:solidFill>
            <a:srgbClr val="FCE9E7"/>
          </a:solidFill>
          <a:ln w="6350">
            <a:solidFill>
              <a:srgbClr val="FCE9E7"/>
            </a:solidFill>
            <a:prstDash val="solid"/>
          </a:ln>
        </p:spPr>
      </p:sp>
      <p:sp>
        <p:nvSpPr>
          <p:cNvPr id="4" name="Text 2"/>
          <p:cNvSpPr txBox="1"/>
          <p:nvPr/>
        </p:nvSpPr>
        <p:spPr>
          <a:xfrm>
            <a:off x="566928" y="1097280"/>
            <a:ext cx="2414016" cy="1463040"/>
          </a:xfrm>
          <a:prstGeom prst="rect">
            <a:avLst/>
          </a:prstGeom>
          <a:noFill/>
          <a:ln/>
        </p:spPr>
        <p:txBody>
          <a:bodyPr wrap="square" lIns="254" tIns="254" rIns="254" bIns="254" rtlCol="0" anchor="t"/>
          <a:lstStyle/>
          <a:p>
            <a:pPr indent="0" marL="0">
              <a:spcAft>
                <a:spcPts val="300"/>
              </a:spcAft>
              <a:buNone/>
            </a:pPr>
            <a:r>
              <a:rPr lang="en-US" sz="1400" b="1" dirty="0">
                <a:solidFill>
                  <a:srgbClr val="E46A5E"/>
                </a:solidFill>
              </a:rPr>
              <a:t>Răspunderea pentru produse (UE)</a:t>
            </a:r>
            <a:endParaRPr lang="en-US" sz="1400" dirty="0"/>
          </a:p>
          <a:p>
            <a:pPr indent="0" marL="0">
              <a:spcAft>
                <a:spcPts val="300"/>
              </a:spcAft>
              <a:buNone/>
            </a:pPr>
            <a:r>
              <a:rPr lang="en-US" sz="1300" dirty="0">
                <a:solidFill>
                  <a:srgbClr val="1F2A37"/>
                </a:solidFill>
              </a:rPr>
              <a:t>Directiva (UE) 2024/2853 înlocuiește 85/374/CEE; se aplică produselor puse pe piață după 9 decembrie 2026 și include software-ul și componentele [21].</a:t>
            </a:r>
            <a:endParaRPr lang="en-US" sz="1400" dirty="0"/>
          </a:p>
        </p:txBody>
      </p:sp>
      <p:sp>
        <p:nvSpPr>
          <p:cNvPr id="5" name="Shape 3"/>
          <p:cNvSpPr/>
          <p:nvPr/>
        </p:nvSpPr>
        <p:spPr>
          <a:xfrm>
            <a:off x="3255264" y="1024128"/>
            <a:ext cx="2633472" cy="1609344"/>
          </a:xfrm>
          <a:prstGeom prst="roundRect">
            <a:avLst>
              <a:gd name="adj" fmla="val 5682"/>
            </a:avLst>
          </a:prstGeom>
          <a:solidFill>
            <a:srgbClr val="E3F4F1"/>
          </a:solidFill>
          <a:ln w="6350">
            <a:solidFill>
              <a:srgbClr val="E3F4F1"/>
            </a:solidFill>
            <a:prstDash val="solid"/>
          </a:ln>
        </p:spPr>
      </p:sp>
      <p:sp>
        <p:nvSpPr>
          <p:cNvPr id="6" name="Text 4"/>
          <p:cNvSpPr txBox="1"/>
          <p:nvPr/>
        </p:nvSpPr>
        <p:spPr>
          <a:xfrm>
            <a:off x="3364992" y="1097280"/>
            <a:ext cx="2414016" cy="1463040"/>
          </a:xfrm>
          <a:prstGeom prst="rect">
            <a:avLst/>
          </a:prstGeom>
          <a:noFill/>
          <a:ln/>
        </p:spPr>
        <p:txBody>
          <a:bodyPr wrap="square" lIns="254" tIns="254" rIns="254" bIns="254" rtlCol="0" anchor="t"/>
          <a:lstStyle/>
          <a:p>
            <a:pPr indent="0" marL="0">
              <a:spcAft>
                <a:spcPts val="300"/>
              </a:spcAft>
              <a:buNone/>
            </a:pPr>
            <a:r>
              <a:rPr lang="en-US" sz="1400" b="1" dirty="0">
                <a:solidFill>
                  <a:srgbClr val="0B6E69"/>
                </a:solidFill>
              </a:rPr>
              <a:t>Siguranța generală a produselor</a:t>
            </a:r>
            <a:endParaRPr lang="en-US" sz="1400" dirty="0"/>
          </a:p>
          <a:p>
            <a:pPr indent="0" marL="0">
              <a:spcAft>
                <a:spcPts val="300"/>
              </a:spcAft>
              <a:buNone/>
            </a:pPr>
            <a:r>
              <a:rPr lang="en-US" sz="1300" dirty="0">
                <a:solidFill>
                  <a:srgbClr val="1F2A37"/>
                </a:solidFill>
              </a:rPr>
              <a:t>Regulamentul (UE) 2023/988 (GPSR) [22].</a:t>
            </a:r>
            <a:endParaRPr lang="en-US" sz="1400" dirty="0"/>
          </a:p>
        </p:txBody>
      </p:sp>
      <p:sp>
        <p:nvSpPr>
          <p:cNvPr id="7" name="Shape 5"/>
          <p:cNvSpPr/>
          <p:nvPr/>
        </p:nvSpPr>
        <p:spPr>
          <a:xfrm>
            <a:off x="6053328" y="1024128"/>
            <a:ext cx="2633472" cy="1609344"/>
          </a:xfrm>
          <a:prstGeom prst="roundRect">
            <a:avLst>
              <a:gd name="adj" fmla="val 5682"/>
            </a:avLst>
          </a:prstGeom>
          <a:solidFill>
            <a:srgbClr val="E3F4F1"/>
          </a:solidFill>
          <a:ln w="6350">
            <a:solidFill>
              <a:srgbClr val="E3F4F1"/>
            </a:solidFill>
            <a:prstDash val="solid"/>
          </a:ln>
        </p:spPr>
      </p:sp>
      <p:sp>
        <p:nvSpPr>
          <p:cNvPr id="8" name="Text 6"/>
          <p:cNvSpPr txBox="1"/>
          <p:nvPr/>
        </p:nvSpPr>
        <p:spPr>
          <a:xfrm>
            <a:off x="6163056" y="1097280"/>
            <a:ext cx="2414016" cy="1463040"/>
          </a:xfrm>
          <a:prstGeom prst="rect">
            <a:avLst/>
          </a:prstGeom>
          <a:noFill/>
          <a:ln/>
        </p:spPr>
        <p:txBody>
          <a:bodyPr wrap="square" lIns="254" tIns="254" rIns="254" bIns="254" rtlCol="0" anchor="t"/>
          <a:lstStyle/>
          <a:p>
            <a:pPr indent="0" marL="0">
              <a:spcAft>
                <a:spcPts val="300"/>
              </a:spcAft>
              <a:buNone/>
            </a:pPr>
            <a:r>
              <a:rPr lang="en-US" sz="1400" b="1" dirty="0">
                <a:solidFill>
                  <a:srgbClr val="0B6E69"/>
                </a:solidFill>
              </a:rPr>
              <a:t>Omologarea vehiculelor</a:t>
            </a:r>
            <a:endParaRPr lang="en-US" sz="1400" dirty="0"/>
          </a:p>
          <a:p>
            <a:pPr indent="0" marL="0">
              <a:spcAft>
                <a:spcPts val="300"/>
              </a:spcAft>
              <a:buNone/>
            </a:pPr>
            <a:r>
              <a:rPr lang="en-US" sz="1300" dirty="0">
                <a:solidFill>
                  <a:srgbClr val="1F2A37"/>
                </a:solidFill>
              </a:rPr>
              <a:t>Regulamentul (UE) 2018/858: omologare și supravegherea pieței [22].</a:t>
            </a:r>
            <a:endParaRPr lang="en-US" sz="1400" dirty="0"/>
          </a:p>
        </p:txBody>
      </p:sp>
      <p:sp>
        <p:nvSpPr>
          <p:cNvPr id="9" name="Shape 7"/>
          <p:cNvSpPr/>
          <p:nvPr/>
        </p:nvSpPr>
        <p:spPr>
          <a:xfrm>
            <a:off x="457200" y="2798064"/>
            <a:ext cx="2633472" cy="1609344"/>
          </a:xfrm>
          <a:prstGeom prst="roundRect">
            <a:avLst>
              <a:gd name="adj" fmla="val 5682"/>
            </a:avLst>
          </a:prstGeom>
          <a:solidFill>
            <a:srgbClr val="FFF4DE"/>
          </a:solidFill>
          <a:ln w="6350">
            <a:solidFill>
              <a:srgbClr val="FFF4DE"/>
            </a:solidFill>
            <a:prstDash val="solid"/>
          </a:ln>
        </p:spPr>
      </p:sp>
      <p:sp>
        <p:nvSpPr>
          <p:cNvPr id="10" name="Text 8"/>
          <p:cNvSpPr txBox="1"/>
          <p:nvPr/>
        </p:nvSpPr>
        <p:spPr>
          <a:xfrm>
            <a:off x="566928" y="2871216"/>
            <a:ext cx="2414016" cy="1463040"/>
          </a:xfrm>
          <a:prstGeom prst="rect">
            <a:avLst/>
          </a:prstGeom>
          <a:noFill/>
          <a:ln/>
        </p:spPr>
        <p:txBody>
          <a:bodyPr wrap="square" lIns="254" tIns="254" rIns="254" bIns="254" rtlCol="0" anchor="t"/>
          <a:lstStyle/>
          <a:p>
            <a:pPr indent="0" marL="0">
              <a:spcAft>
                <a:spcPts val="300"/>
              </a:spcAft>
              <a:buNone/>
            </a:pPr>
            <a:r>
              <a:rPr lang="en-US" sz="1400" b="1" dirty="0">
                <a:solidFill>
                  <a:srgbClr val="0B6E69"/>
                </a:solidFill>
              </a:rPr>
              <a:t>Compatibilitate electromagnetică</a:t>
            </a:r>
            <a:endParaRPr lang="en-US" sz="1400" dirty="0"/>
          </a:p>
          <a:p>
            <a:pPr indent="0" marL="0">
              <a:spcAft>
                <a:spcPts val="300"/>
              </a:spcAft>
              <a:buNone/>
            </a:pPr>
            <a:r>
              <a:rPr lang="en-US" sz="1300" dirty="0">
                <a:solidFill>
                  <a:srgbClr val="1F2A37"/>
                </a:solidFill>
              </a:rPr>
              <a:t>UNECE R10: de aceea, în laborator, efectele EMC primesc S = 9 (neconformitate cu reglementările) [23].</a:t>
            </a:r>
            <a:endParaRPr lang="en-US" sz="1400" dirty="0"/>
          </a:p>
        </p:txBody>
      </p:sp>
      <p:sp>
        <p:nvSpPr>
          <p:cNvPr id="11" name="Shape 9"/>
          <p:cNvSpPr/>
          <p:nvPr/>
        </p:nvSpPr>
        <p:spPr>
          <a:xfrm>
            <a:off x="3255264" y="2798064"/>
            <a:ext cx="2633472" cy="1609344"/>
          </a:xfrm>
          <a:prstGeom prst="roundRect">
            <a:avLst>
              <a:gd name="adj" fmla="val 5682"/>
            </a:avLst>
          </a:prstGeom>
          <a:solidFill>
            <a:srgbClr val="E5F0FA"/>
          </a:solidFill>
          <a:ln w="6350">
            <a:solidFill>
              <a:srgbClr val="E5F0FA"/>
            </a:solidFill>
            <a:prstDash val="solid"/>
          </a:ln>
        </p:spPr>
      </p:sp>
      <p:sp>
        <p:nvSpPr>
          <p:cNvPr id="12" name="Text 10"/>
          <p:cNvSpPr txBox="1"/>
          <p:nvPr/>
        </p:nvSpPr>
        <p:spPr>
          <a:xfrm>
            <a:off x="3364992" y="2871216"/>
            <a:ext cx="2414016" cy="1463040"/>
          </a:xfrm>
          <a:prstGeom prst="rect">
            <a:avLst/>
          </a:prstGeom>
          <a:noFill/>
          <a:ln/>
        </p:spPr>
        <p:txBody>
          <a:bodyPr wrap="square" lIns="254" tIns="254" rIns="254" bIns="254" rtlCol="0" anchor="t"/>
          <a:lstStyle/>
          <a:p>
            <a:pPr indent="0" marL="0">
              <a:spcAft>
                <a:spcPts val="300"/>
              </a:spcAft>
              <a:buNone/>
            </a:pPr>
            <a:r>
              <a:rPr lang="en-US" sz="1400" b="1" dirty="0">
                <a:solidFill>
                  <a:srgbClr val="3B82C4"/>
                </a:solidFill>
              </a:rPr>
              <a:t>Rechemări în SUA</a:t>
            </a:r>
            <a:endParaRPr lang="en-US" sz="1400" dirty="0"/>
          </a:p>
          <a:p>
            <a:pPr indent="0" marL="0">
              <a:spcAft>
                <a:spcPts val="300"/>
              </a:spcAft>
              <a:buNone/>
            </a:pPr>
            <a:r>
              <a:rPr lang="en-US" sz="1300" dirty="0">
                <a:solidFill>
                  <a:srgbClr val="1F2A37"/>
                </a:solidFill>
              </a:rPr>
              <a:t>TREAD Act (2000) și 49 CFR Part 573: producătorii raportează defectele și rechemările la NHTSA [24].</a:t>
            </a:r>
            <a:endParaRPr lang="en-US" sz="1400" dirty="0"/>
          </a:p>
        </p:txBody>
      </p:sp>
      <p:sp>
        <p:nvSpPr>
          <p:cNvPr id="13" name="Shape 11"/>
          <p:cNvSpPr/>
          <p:nvPr/>
        </p:nvSpPr>
        <p:spPr>
          <a:xfrm>
            <a:off x="6053328" y="2798064"/>
            <a:ext cx="2633472" cy="1609344"/>
          </a:xfrm>
          <a:prstGeom prst="roundRect">
            <a:avLst>
              <a:gd name="adj" fmla="val 5682"/>
            </a:avLst>
          </a:prstGeom>
          <a:solidFill>
            <a:srgbClr val="FCE9E7"/>
          </a:solidFill>
          <a:ln w="6350">
            <a:solidFill>
              <a:srgbClr val="FCE9E7"/>
            </a:solidFill>
            <a:prstDash val="solid"/>
          </a:ln>
        </p:spPr>
      </p:sp>
      <p:sp>
        <p:nvSpPr>
          <p:cNvPr id="14" name="Text 12"/>
          <p:cNvSpPr txBox="1"/>
          <p:nvPr/>
        </p:nvSpPr>
        <p:spPr>
          <a:xfrm>
            <a:off x="6163056" y="2871216"/>
            <a:ext cx="2414016" cy="1463040"/>
          </a:xfrm>
          <a:prstGeom prst="rect">
            <a:avLst/>
          </a:prstGeom>
          <a:noFill/>
          <a:ln/>
        </p:spPr>
        <p:txBody>
          <a:bodyPr wrap="square" lIns="254" tIns="254" rIns="254" bIns="254" rtlCol="0" anchor="t"/>
          <a:lstStyle/>
          <a:p>
            <a:pPr indent="0" marL="0">
              <a:spcAft>
                <a:spcPts val="300"/>
              </a:spcAft>
              <a:buNone/>
            </a:pPr>
            <a:r>
              <a:rPr lang="en-US" sz="1400" b="1" dirty="0">
                <a:solidFill>
                  <a:srgbClr val="E46A5E"/>
                </a:solidFill>
              </a:rPr>
              <a:t>Ce înseamnă pentru noi</a:t>
            </a:r>
            <a:endParaRPr lang="en-US" sz="1400" dirty="0"/>
          </a:p>
          <a:p>
            <a:pPr indent="0" marL="0">
              <a:spcAft>
                <a:spcPts val="300"/>
              </a:spcAft>
              <a:buNone/>
            </a:pPr>
            <a:r>
              <a:rPr lang="en-US" sz="1300" dirty="0">
                <a:solidFill>
                  <a:srgbClr val="1F2A37"/>
                </a:solidFill>
              </a:rPr>
              <a:t>Un defect scăpat la test devine o problemă juridică și financiară, nu doar tehnică.</a:t>
            </a:r>
            <a:endParaRPr lang="en-US" sz="1400" dirty="0"/>
          </a:p>
        </p:txBody>
      </p:sp>
      <p:sp>
        <p:nvSpPr>
          <p:cNvPr id="15" name="sources"/>
          <p:cNvSpPr txBox="1"/>
          <p:nvPr/>
        </p:nvSpPr>
        <p:spPr>
          <a:xfrm>
            <a:off x="457200" y="4572000"/>
            <a:ext cx="7772400" cy="237744"/>
          </a:xfrm>
          <a:prstGeom prst="rect">
            <a:avLst/>
          </a:prstGeom>
          <a:noFill/>
          <a:ln/>
        </p:spPr>
        <p:txBody>
          <a:bodyPr wrap="square" lIns="0" tIns="0" rIns="0" bIns="0" rtlCol="0" anchor="ctr"/>
          <a:lstStyle/>
          <a:p>
            <a:pPr indent="0" marL="0">
              <a:buNone/>
            </a:pPr>
            <a:r>
              <a:rPr lang="en-US" sz="1000" i="1" dirty="0">
                <a:solidFill>
                  <a:srgbClr val="5B6575"/>
                </a:solidFill>
              </a:rPr>
              <a:t>Surse: [21] EUR-Lex, Dir. (UE) 2024/2853 · [22] Reg. (UE) 2023/988, 2018/858 · [23] UNECE R10 · [24] 49 CFR 573</a:t>
            </a:r>
            <a:endParaRPr lang="en-US" sz="10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600" b="1" dirty="0">
                <a:solidFill>
                  <a:srgbClr val="0B6E69"/>
                </a:solidFill>
              </a:rPr>
              <a:t>Când defectul ajunge la client</a:t>
            </a:r>
            <a:endParaRPr lang="en-US" sz="2600" dirty="0"/>
          </a:p>
        </p:txBody>
      </p:sp>
      <p:sp>
        <p:nvSpPr>
          <p:cNvPr id="3" name="Shape 1"/>
          <p:cNvSpPr/>
          <p:nvPr/>
        </p:nvSpPr>
        <p:spPr>
          <a:xfrm>
            <a:off x="457200" y="1005840"/>
            <a:ext cx="1965960" cy="1600200"/>
          </a:xfrm>
          <a:prstGeom prst="roundRect">
            <a:avLst>
              <a:gd name="adj" fmla="val 5714"/>
            </a:avLst>
          </a:prstGeom>
          <a:solidFill>
            <a:srgbClr val="FCE9E7"/>
          </a:solidFill>
          <a:ln w="12700">
            <a:solidFill>
              <a:srgbClr val="FCE9E7"/>
            </a:solidFill>
            <a:prstDash val="solid"/>
          </a:ln>
        </p:spPr>
      </p:sp>
      <p:sp>
        <p:nvSpPr>
          <p:cNvPr id="4" name="Text 2"/>
          <p:cNvSpPr txBox="1"/>
          <p:nvPr/>
        </p:nvSpPr>
        <p:spPr>
          <a:xfrm>
            <a:off x="530352" y="1051560"/>
            <a:ext cx="1819656" cy="1508760"/>
          </a:xfrm>
          <a:prstGeom prst="rect">
            <a:avLst/>
          </a:prstGeom>
          <a:noFill/>
          <a:ln/>
        </p:spPr>
        <p:txBody>
          <a:bodyPr wrap="square" lIns="0" tIns="0" rIns="0" bIns="0" rtlCol="0" anchor="ctr"/>
          <a:lstStyle/>
          <a:p>
            <a:pPr algn="ctr" indent="0" marL="0">
              <a:buNone/>
            </a:pPr>
            <a:r>
              <a:rPr lang="en-US" sz="2800" b="1" dirty="0">
                <a:solidFill>
                  <a:srgbClr val="E46A5E"/>
                </a:solidFill>
              </a:rPr>
              <a:t>12,3 mil.</a:t>
            </a:r>
            <a:endParaRPr lang="en-US" sz="2800" dirty="0"/>
          </a:p>
          <a:p>
            <a:pPr algn="ctr" indent="0" marL="0">
              <a:buNone/>
            </a:pPr>
            <a:r>
              <a:rPr lang="en-US" sz="1100" dirty="0">
                <a:solidFill>
                  <a:srgbClr val="1F2A37"/>
                </a:solidFill>
              </a:rPr>
              <a:t>vehicule vizate de investigația NHTSA EA19-001 (unități de airbag ZF-TRW) [25]</a:t>
            </a:r>
            <a:endParaRPr lang="en-US" sz="2800" dirty="0"/>
          </a:p>
        </p:txBody>
      </p:sp>
      <p:sp>
        <p:nvSpPr>
          <p:cNvPr id="5" name="Shape 3"/>
          <p:cNvSpPr/>
          <p:nvPr/>
        </p:nvSpPr>
        <p:spPr>
          <a:xfrm>
            <a:off x="2560320" y="1005840"/>
            <a:ext cx="1965960" cy="1600200"/>
          </a:xfrm>
          <a:prstGeom prst="roundRect">
            <a:avLst>
              <a:gd name="adj" fmla="val 5714"/>
            </a:avLst>
          </a:prstGeom>
          <a:solidFill>
            <a:srgbClr val="E3F4F1"/>
          </a:solidFill>
          <a:ln w="12700">
            <a:solidFill>
              <a:srgbClr val="E3F4F1"/>
            </a:solidFill>
            <a:prstDash val="solid"/>
          </a:ln>
        </p:spPr>
      </p:sp>
      <p:sp>
        <p:nvSpPr>
          <p:cNvPr id="6" name="Text 4"/>
          <p:cNvSpPr txBox="1"/>
          <p:nvPr/>
        </p:nvSpPr>
        <p:spPr>
          <a:xfrm>
            <a:off x="2633472" y="1051560"/>
            <a:ext cx="1819656" cy="1508760"/>
          </a:xfrm>
          <a:prstGeom prst="rect">
            <a:avLst/>
          </a:prstGeom>
          <a:noFill/>
          <a:ln/>
        </p:spPr>
        <p:txBody>
          <a:bodyPr wrap="square" lIns="0" tIns="0" rIns="0" bIns="0" rtlCol="0" anchor="ctr"/>
          <a:lstStyle/>
          <a:p>
            <a:pPr algn="ctr" indent="0" marL="0">
              <a:buNone/>
            </a:pPr>
            <a:r>
              <a:rPr lang="en-US" sz="2800" b="1" dirty="0">
                <a:solidFill>
                  <a:srgbClr val="0B6E69"/>
                </a:solidFill>
              </a:rPr>
              <a:t>2,59 mil.</a:t>
            </a:r>
            <a:endParaRPr lang="en-US" sz="2800" dirty="0"/>
          </a:p>
          <a:p>
            <a:pPr algn="ctr" indent="0" marL="0">
              <a:buNone/>
            </a:pPr>
            <a:r>
              <a:rPr lang="en-US" sz="1100" dirty="0">
                <a:solidFill>
                  <a:srgbClr val="1F2A37"/>
                </a:solidFill>
              </a:rPr>
              <a:t>Toyota Corolla și Matrix, rechemarea 20V-024 (2020) [25]</a:t>
            </a:r>
            <a:endParaRPr lang="en-US" sz="2800" dirty="0"/>
          </a:p>
        </p:txBody>
      </p:sp>
      <p:sp>
        <p:nvSpPr>
          <p:cNvPr id="7" name="Shape 5"/>
          <p:cNvSpPr/>
          <p:nvPr/>
        </p:nvSpPr>
        <p:spPr>
          <a:xfrm>
            <a:off x="4663440" y="1005840"/>
            <a:ext cx="1965960" cy="1600200"/>
          </a:xfrm>
          <a:prstGeom prst="roundRect">
            <a:avLst>
              <a:gd name="adj" fmla="val 5714"/>
            </a:avLst>
          </a:prstGeom>
          <a:solidFill>
            <a:srgbClr val="E3F4F1"/>
          </a:solidFill>
          <a:ln w="12700">
            <a:solidFill>
              <a:srgbClr val="E3F4F1"/>
            </a:solidFill>
            <a:prstDash val="solid"/>
          </a:ln>
        </p:spPr>
      </p:sp>
      <p:sp>
        <p:nvSpPr>
          <p:cNvPr id="8" name="Text 6"/>
          <p:cNvSpPr txBox="1"/>
          <p:nvPr/>
        </p:nvSpPr>
        <p:spPr>
          <a:xfrm>
            <a:off x="4736592" y="1051560"/>
            <a:ext cx="1819656" cy="1508760"/>
          </a:xfrm>
          <a:prstGeom prst="rect">
            <a:avLst/>
          </a:prstGeom>
          <a:noFill/>
          <a:ln/>
        </p:spPr>
        <p:txBody>
          <a:bodyPr wrap="square" lIns="0" tIns="0" rIns="0" bIns="0" rtlCol="0" anchor="ctr"/>
          <a:lstStyle/>
          <a:p>
            <a:pPr algn="ctr" indent="0" marL="0">
              <a:buNone/>
            </a:pPr>
            <a:r>
              <a:rPr lang="en-US" sz="2800" b="1" dirty="0">
                <a:solidFill>
                  <a:srgbClr val="0B6E69"/>
                </a:solidFill>
              </a:rPr>
              <a:t>1,43 mil.</a:t>
            </a:r>
            <a:endParaRPr lang="en-US" sz="2800" dirty="0"/>
          </a:p>
          <a:p>
            <a:pPr algn="ctr" indent="0" marL="0">
              <a:buNone/>
            </a:pPr>
            <a:r>
              <a:rPr lang="en-US" sz="1100" dirty="0">
                <a:solidFill>
                  <a:srgbClr val="1F2A37"/>
                </a:solidFill>
              </a:rPr>
              <a:t>vehicule FCA, rechemarea 16V-668 (2016) [25]</a:t>
            </a:r>
            <a:endParaRPr lang="en-US" sz="2800" dirty="0"/>
          </a:p>
        </p:txBody>
      </p:sp>
      <p:sp>
        <p:nvSpPr>
          <p:cNvPr id="9" name="Shape 7"/>
          <p:cNvSpPr/>
          <p:nvPr/>
        </p:nvSpPr>
        <p:spPr>
          <a:xfrm>
            <a:off x="6766560" y="1005840"/>
            <a:ext cx="1965960" cy="1600200"/>
          </a:xfrm>
          <a:prstGeom prst="roundRect">
            <a:avLst>
              <a:gd name="adj" fmla="val 5714"/>
            </a:avLst>
          </a:prstGeom>
          <a:solidFill>
            <a:srgbClr val="E3F4F1"/>
          </a:solidFill>
          <a:ln w="12700">
            <a:solidFill>
              <a:srgbClr val="E3F4F1"/>
            </a:solidFill>
            <a:prstDash val="solid"/>
          </a:ln>
        </p:spPr>
      </p:sp>
      <p:sp>
        <p:nvSpPr>
          <p:cNvPr id="10" name="Text 8"/>
          <p:cNvSpPr txBox="1"/>
          <p:nvPr/>
        </p:nvSpPr>
        <p:spPr>
          <a:xfrm>
            <a:off x="6839712" y="1051560"/>
            <a:ext cx="1819656" cy="1508760"/>
          </a:xfrm>
          <a:prstGeom prst="rect">
            <a:avLst/>
          </a:prstGeom>
          <a:noFill/>
          <a:ln/>
        </p:spPr>
        <p:txBody>
          <a:bodyPr wrap="square" lIns="0" tIns="0" rIns="0" bIns="0" rtlCol="0" anchor="ctr"/>
          <a:lstStyle/>
          <a:p>
            <a:pPr algn="ctr" indent="0" marL="0">
              <a:buNone/>
            </a:pPr>
            <a:r>
              <a:rPr lang="en-US" sz="2800" b="1" dirty="0">
                <a:solidFill>
                  <a:srgbClr val="0B6E69"/>
                </a:solidFill>
              </a:rPr>
              <a:t>Takata</a:t>
            </a:r>
            <a:endParaRPr lang="en-US" sz="2800" dirty="0"/>
          </a:p>
          <a:p>
            <a:pPr algn="ctr" indent="0" marL="0">
              <a:buNone/>
            </a:pPr>
            <a:r>
              <a:rPr lang="en-US" sz="1100" dirty="0">
                <a:solidFill>
                  <a:srgbClr val="1F2A37"/>
                </a:solidFill>
              </a:rPr>
              <a:t>„cea mai mare și mai complexă rechemare din istoria SUA” [26]</a:t>
            </a:r>
            <a:endParaRPr lang="en-US" sz="2800" dirty="0"/>
          </a:p>
        </p:txBody>
      </p:sp>
      <p:sp>
        <p:nvSpPr>
          <p:cNvPr id="11" name="Text 9"/>
          <p:cNvSpPr txBox="1"/>
          <p:nvPr/>
        </p:nvSpPr>
        <p:spPr>
          <a:xfrm>
            <a:off x="457200" y="2788920"/>
            <a:ext cx="8229600" cy="1691640"/>
          </a:xfrm>
          <a:prstGeom prst="rect">
            <a:avLst/>
          </a:prstGeom>
          <a:noFill/>
          <a:ln/>
        </p:spPr>
        <p:txBody>
          <a:bodyPr wrap="square" lIns="635" tIns="635" rIns="635" bIns="635" rtlCol="0" anchor="t"/>
          <a:lstStyle/>
          <a:p>
            <a:pPr marL="177800" indent="-177800">
              <a:spcAft>
                <a:spcPts val="600"/>
              </a:spcAft>
              <a:buSzPct val="100000"/>
              <a:buChar char="•"/>
            </a:pPr>
            <a:r>
              <a:rPr lang="en-US" sz="1300" b="1" dirty="0">
                <a:solidFill>
                  <a:srgbClr val="1F2A37"/>
                </a:solidFill>
              </a:rPr>
              <a:t>Cauza în EA19-001: </a:t>
            </a:r>
            <a:pPr indent="0" marL="0">
              <a:buNone/>
            </a:pPr>
            <a:r>
              <a:rPr lang="en-US" sz="1300" dirty="0">
                <a:solidFill>
                  <a:srgbClr val="1F2A37"/>
                </a:solidFill>
              </a:rPr>
              <a:t>un ASIC (DS84) din unitatea de comandă a airbagului nu era suficient protejat la supratensiuni (electrical overstress) [25].</a:t>
            </a:r>
            <a:endParaRPr lang="en-US" sz="1300" dirty="0"/>
          </a:p>
          <a:p>
            <a:pPr marL="177800" indent="-177800">
              <a:spcAft>
                <a:spcPts val="600"/>
              </a:spcAft>
              <a:buSzPct val="100000"/>
              <a:buChar char="•"/>
            </a:pPr>
            <a:r>
              <a:rPr lang="en-US" sz="1300" b="1" dirty="0">
                <a:solidFill>
                  <a:srgbClr val="1F2A37"/>
                </a:solidFill>
              </a:rPr>
              <a:t>Remedierea la Toyota: </a:t>
            </a:r>
            <a:pPr indent="0" marL="0">
              <a:buNone/>
            </a:pPr>
            <a:r>
              <a:rPr lang="en-US" sz="1300" dirty="0">
                <a:solidFill>
                  <a:srgbClr val="1F2A37"/>
                </a:solidFill>
              </a:rPr>
              <a:t>un filtru de zgomot între unitate și cablaj, adică o schimbare de design [25].</a:t>
            </a:r>
            <a:endParaRPr lang="en-US" sz="1300" dirty="0"/>
          </a:p>
          <a:p>
            <a:pPr marL="177800" indent="-177800">
              <a:spcAft>
                <a:spcPts val="600"/>
              </a:spcAft>
              <a:buSzPct val="100000"/>
              <a:buChar char="•"/>
            </a:pPr>
            <a:r>
              <a:rPr lang="en-US" sz="1300" b="1" dirty="0">
                <a:solidFill>
                  <a:srgbClr val="1F2A37"/>
                </a:solidFill>
              </a:rPr>
              <a:t>Costul crește cu fiecare etapă: </a:t>
            </a:r>
            <a:pPr indent="0" marL="0">
              <a:buNone/>
            </a:pPr>
            <a:r>
              <a:rPr lang="en-US" sz="1300" dirty="0">
                <a:solidFill>
                  <a:srgbClr val="1F2A37"/>
                </a:solidFill>
              </a:rPr>
              <a:t>regula „×10 pe etapă” e o euristică, nu o lege; modelul economic al testului de placă la Davis [27].</a:t>
            </a:r>
            <a:endParaRPr lang="en-US" sz="1300" dirty="0"/>
          </a:p>
        </p:txBody>
      </p:sp>
      <p:sp>
        <p:nvSpPr>
          <p:cNvPr id="12" name="sources"/>
          <p:cNvSpPr txBox="1"/>
          <p:nvPr/>
        </p:nvSpPr>
        <p:spPr>
          <a:xfrm>
            <a:off x="457200" y="4572000"/>
            <a:ext cx="7772400" cy="237744"/>
          </a:xfrm>
          <a:prstGeom prst="rect">
            <a:avLst/>
          </a:prstGeom>
          <a:noFill/>
          <a:ln/>
        </p:spPr>
        <p:txBody>
          <a:bodyPr wrap="square" lIns="0" tIns="0" rIns="0" bIns="0" rtlCol="0" anchor="ctr"/>
          <a:lstStyle/>
          <a:p>
            <a:pPr indent="0" marL="0">
              <a:buNone/>
            </a:pPr>
            <a:r>
              <a:rPr lang="en-US" sz="1000" i="1" dirty="0">
                <a:solidFill>
                  <a:srgbClr val="5B6575"/>
                </a:solidFill>
              </a:rPr>
              <a:t>Surse: [25] NHTSA ODI EA19-001; rapoarte 16V-668, 20V-024 · [26] NHTSA Takata · [27] Davis, JETTA 1994</a:t>
            </a:r>
            <a:endParaRPr lang="en-US" sz="10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600" b="1" dirty="0">
                <a:solidFill>
                  <a:srgbClr val="0B6E69"/>
                </a:solidFill>
              </a:rPr>
              <a:t>Și în alte industrii</a:t>
            </a:r>
            <a:endParaRPr lang="en-US" sz="2600" dirty="0"/>
          </a:p>
        </p:txBody>
      </p:sp>
      <p:sp>
        <p:nvSpPr>
          <p:cNvPr id="3" name="Shape 1"/>
          <p:cNvSpPr/>
          <p:nvPr/>
        </p:nvSpPr>
        <p:spPr>
          <a:xfrm>
            <a:off x="457200" y="1024128"/>
            <a:ext cx="2633472" cy="1609344"/>
          </a:xfrm>
          <a:prstGeom prst="roundRect">
            <a:avLst>
              <a:gd name="adj" fmla="val 5682"/>
            </a:avLst>
          </a:prstGeom>
          <a:solidFill>
            <a:srgbClr val="E5F0FA"/>
          </a:solidFill>
          <a:ln w="6350">
            <a:solidFill>
              <a:srgbClr val="E5F0FA"/>
            </a:solidFill>
            <a:prstDash val="solid"/>
          </a:ln>
        </p:spPr>
      </p:sp>
      <p:sp>
        <p:nvSpPr>
          <p:cNvPr id="4" name="Text 2"/>
          <p:cNvSpPr txBox="1"/>
          <p:nvPr/>
        </p:nvSpPr>
        <p:spPr>
          <a:xfrm>
            <a:off x="566928" y="1097280"/>
            <a:ext cx="2414016" cy="1463040"/>
          </a:xfrm>
          <a:prstGeom prst="rect">
            <a:avLst/>
          </a:prstGeom>
          <a:noFill/>
          <a:ln/>
        </p:spPr>
        <p:txBody>
          <a:bodyPr wrap="square" lIns="254" tIns="254" rIns="254" bIns="254" rtlCol="0" anchor="t"/>
          <a:lstStyle/>
          <a:p>
            <a:pPr indent="0" marL="0">
              <a:spcAft>
                <a:spcPts val="300"/>
              </a:spcAft>
              <a:buNone/>
            </a:pPr>
            <a:r>
              <a:rPr lang="en-US" sz="1400" b="1" dirty="0">
                <a:solidFill>
                  <a:srgbClr val="3B82C4"/>
                </a:solidFill>
              </a:rPr>
              <a:t>Aeronautică</a:t>
            </a:r>
            <a:endParaRPr lang="en-US" sz="1400" dirty="0"/>
          </a:p>
          <a:p>
            <a:pPr indent="0" marL="0">
              <a:spcAft>
                <a:spcPts val="300"/>
              </a:spcAft>
              <a:buNone/>
            </a:pPr>
            <a:r>
              <a:rPr lang="en-US" sz="1300" dirty="0">
                <a:solidFill>
                  <a:srgbClr val="1F2A37"/>
                </a:solidFill>
              </a:rPr>
              <a:t>SAE ARP4761A (2023), RTCA DO-254 pentru hardware, SAE AS13004 pentru PFMEA [29].</a:t>
            </a:r>
            <a:endParaRPr lang="en-US" sz="1400" dirty="0"/>
          </a:p>
        </p:txBody>
      </p:sp>
      <p:sp>
        <p:nvSpPr>
          <p:cNvPr id="5" name="Shape 3"/>
          <p:cNvSpPr/>
          <p:nvPr/>
        </p:nvSpPr>
        <p:spPr>
          <a:xfrm>
            <a:off x="3255264" y="1024128"/>
            <a:ext cx="2633472" cy="1609344"/>
          </a:xfrm>
          <a:prstGeom prst="roundRect">
            <a:avLst>
              <a:gd name="adj" fmla="val 5682"/>
            </a:avLst>
          </a:prstGeom>
          <a:solidFill>
            <a:srgbClr val="E3F4F1"/>
          </a:solidFill>
          <a:ln w="6350">
            <a:solidFill>
              <a:srgbClr val="E3F4F1"/>
            </a:solidFill>
            <a:prstDash val="solid"/>
          </a:ln>
        </p:spPr>
      </p:sp>
      <p:sp>
        <p:nvSpPr>
          <p:cNvPr id="6" name="Text 4"/>
          <p:cNvSpPr txBox="1"/>
          <p:nvPr/>
        </p:nvSpPr>
        <p:spPr>
          <a:xfrm>
            <a:off x="3364992" y="1097280"/>
            <a:ext cx="2414016" cy="1463040"/>
          </a:xfrm>
          <a:prstGeom prst="rect">
            <a:avLst/>
          </a:prstGeom>
          <a:noFill/>
          <a:ln/>
        </p:spPr>
        <p:txBody>
          <a:bodyPr wrap="square" lIns="254" tIns="254" rIns="254" bIns="254" rtlCol="0" anchor="t"/>
          <a:lstStyle/>
          <a:p>
            <a:pPr indent="0" marL="0">
              <a:spcAft>
                <a:spcPts val="300"/>
              </a:spcAft>
              <a:buNone/>
            </a:pPr>
            <a:r>
              <a:rPr lang="en-US" sz="1400" b="1" dirty="0">
                <a:solidFill>
                  <a:srgbClr val="0B6E69"/>
                </a:solidFill>
              </a:rPr>
              <a:t>Medical</a:t>
            </a:r>
            <a:endParaRPr lang="en-US" sz="1400" dirty="0"/>
          </a:p>
          <a:p>
            <a:pPr indent="0" marL="0">
              <a:spcAft>
                <a:spcPts val="300"/>
              </a:spcAft>
              <a:buNone/>
            </a:pPr>
            <a:r>
              <a:rPr lang="en-US" sz="1300" dirty="0">
                <a:solidFill>
                  <a:srgbClr val="1F2A37"/>
                </a:solidFill>
              </a:rPr>
              <a:t>ISO 14971:2019: managementul riscului pentru dispozitive medicale [29].</a:t>
            </a:r>
            <a:endParaRPr lang="en-US" sz="1400" dirty="0"/>
          </a:p>
        </p:txBody>
      </p:sp>
      <p:sp>
        <p:nvSpPr>
          <p:cNvPr id="7" name="Shape 5"/>
          <p:cNvSpPr/>
          <p:nvPr/>
        </p:nvSpPr>
        <p:spPr>
          <a:xfrm>
            <a:off x="6053328" y="1024128"/>
            <a:ext cx="2633472" cy="1609344"/>
          </a:xfrm>
          <a:prstGeom prst="roundRect">
            <a:avLst>
              <a:gd name="adj" fmla="val 5682"/>
            </a:avLst>
          </a:prstGeom>
          <a:solidFill>
            <a:srgbClr val="E3F4F1"/>
          </a:solidFill>
          <a:ln w="6350">
            <a:solidFill>
              <a:srgbClr val="E3F4F1"/>
            </a:solidFill>
            <a:prstDash val="solid"/>
          </a:ln>
        </p:spPr>
      </p:sp>
      <p:sp>
        <p:nvSpPr>
          <p:cNvPr id="8" name="Text 6"/>
          <p:cNvSpPr txBox="1"/>
          <p:nvPr/>
        </p:nvSpPr>
        <p:spPr>
          <a:xfrm>
            <a:off x="6163056" y="1097280"/>
            <a:ext cx="2414016" cy="1463040"/>
          </a:xfrm>
          <a:prstGeom prst="rect">
            <a:avLst/>
          </a:prstGeom>
          <a:noFill/>
          <a:ln/>
        </p:spPr>
        <p:txBody>
          <a:bodyPr wrap="square" lIns="254" tIns="254" rIns="254" bIns="254" rtlCol="0" anchor="t"/>
          <a:lstStyle/>
          <a:p>
            <a:pPr indent="0" marL="0">
              <a:spcAft>
                <a:spcPts val="300"/>
              </a:spcAft>
              <a:buNone/>
            </a:pPr>
            <a:r>
              <a:rPr lang="en-US" sz="1400" b="1" dirty="0">
                <a:solidFill>
                  <a:srgbClr val="0B6E69"/>
                </a:solidFill>
              </a:rPr>
              <a:t>Feroviar</a:t>
            </a:r>
            <a:endParaRPr lang="en-US" sz="1400" dirty="0"/>
          </a:p>
          <a:p>
            <a:pPr indent="0" marL="0">
              <a:spcAft>
                <a:spcPts val="300"/>
              </a:spcAft>
              <a:buNone/>
            </a:pPr>
            <a:r>
              <a:rPr lang="en-US" sz="1300" dirty="0">
                <a:solidFill>
                  <a:srgbClr val="1F2A37"/>
                </a:solidFill>
              </a:rPr>
              <a:t>EN 50126: fiabilitate, disponibilitate, mentenabilitate, siguranță (RAMS) [29].</a:t>
            </a:r>
            <a:endParaRPr lang="en-US" sz="1400" dirty="0"/>
          </a:p>
        </p:txBody>
      </p:sp>
      <p:sp>
        <p:nvSpPr>
          <p:cNvPr id="9" name="Shape 7"/>
          <p:cNvSpPr/>
          <p:nvPr/>
        </p:nvSpPr>
        <p:spPr>
          <a:xfrm>
            <a:off x="457200" y="2798064"/>
            <a:ext cx="2633472" cy="1609344"/>
          </a:xfrm>
          <a:prstGeom prst="roundRect">
            <a:avLst>
              <a:gd name="adj" fmla="val 5682"/>
            </a:avLst>
          </a:prstGeom>
          <a:solidFill>
            <a:srgbClr val="E3F4F1"/>
          </a:solidFill>
          <a:ln w="6350">
            <a:solidFill>
              <a:srgbClr val="E3F4F1"/>
            </a:solidFill>
            <a:prstDash val="solid"/>
          </a:ln>
        </p:spPr>
      </p:sp>
      <p:sp>
        <p:nvSpPr>
          <p:cNvPr id="10" name="Text 8"/>
          <p:cNvSpPr txBox="1"/>
          <p:nvPr/>
        </p:nvSpPr>
        <p:spPr>
          <a:xfrm>
            <a:off x="566928" y="2871216"/>
            <a:ext cx="2414016" cy="1463040"/>
          </a:xfrm>
          <a:prstGeom prst="rect">
            <a:avLst/>
          </a:prstGeom>
          <a:noFill/>
          <a:ln/>
        </p:spPr>
        <p:txBody>
          <a:bodyPr wrap="square" lIns="254" tIns="254" rIns="254" bIns="254" rtlCol="0" anchor="t"/>
          <a:lstStyle/>
          <a:p>
            <a:pPr indent="0" marL="0">
              <a:spcAft>
                <a:spcPts val="300"/>
              </a:spcAft>
              <a:buNone/>
            </a:pPr>
            <a:r>
              <a:rPr lang="en-US" sz="1400" b="1" dirty="0">
                <a:solidFill>
                  <a:srgbClr val="0B6E69"/>
                </a:solidFill>
              </a:rPr>
              <a:t>Industrial și apărare</a:t>
            </a:r>
            <a:endParaRPr lang="en-US" sz="1400" dirty="0"/>
          </a:p>
          <a:p>
            <a:pPr indent="0" marL="0">
              <a:spcAft>
                <a:spcPts val="300"/>
              </a:spcAft>
              <a:buNone/>
            </a:pPr>
            <a:r>
              <a:rPr lang="en-US" sz="1300" dirty="0">
                <a:solidFill>
                  <a:srgbClr val="1F2A37"/>
                </a:solidFill>
              </a:rPr>
              <a:t>IEC 61508 (siguranță funcțională generică); MIL-STD-1629A (FMECA) [29].</a:t>
            </a:r>
            <a:endParaRPr lang="en-US" sz="1400" dirty="0"/>
          </a:p>
        </p:txBody>
      </p:sp>
      <p:sp>
        <p:nvSpPr>
          <p:cNvPr id="11" name="Shape 9"/>
          <p:cNvSpPr/>
          <p:nvPr/>
        </p:nvSpPr>
        <p:spPr>
          <a:xfrm>
            <a:off x="3255264" y="2798064"/>
            <a:ext cx="2633472" cy="1609344"/>
          </a:xfrm>
          <a:prstGeom prst="roundRect">
            <a:avLst>
              <a:gd name="adj" fmla="val 5682"/>
            </a:avLst>
          </a:prstGeom>
          <a:solidFill>
            <a:srgbClr val="FFF4DE"/>
          </a:solidFill>
          <a:ln w="6350">
            <a:solidFill>
              <a:srgbClr val="FFF4DE"/>
            </a:solidFill>
            <a:prstDash val="solid"/>
          </a:ln>
        </p:spPr>
      </p:sp>
      <p:sp>
        <p:nvSpPr>
          <p:cNvPr id="12" name="Text 10"/>
          <p:cNvSpPr txBox="1"/>
          <p:nvPr/>
        </p:nvSpPr>
        <p:spPr>
          <a:xfrm>
            <a:off x="3364992" y="2871216"/>
            <a:ext cx="2414016" cy="1463040"/>
          </a:xfrm>
          <a:prstGeom prst="rect">
            <a:avLst/>
          </a:prstGeom>
          <a:noFill/>
          <a:ln/>
        </p:spPr>
        <p:txBody>
          <a:bodyPr wrap="square" lIns="254" tIns="254" rIns="254" bIns="254" rtlCol="0" anchor="t"/>
          <a:lstStyle/>
          <a:p>
            <a:pPr indent="0" marL="0">
              <a:spcAft>
                <a:spcPts val="300"/>
              </a:spcAft>
              <a:buNone/>
            </a:pPr>
            <a:r>
              <a:rPr lang="en-US" sz="1400" b="1" dirty="0">
                <a:solidFill>
                  <a:srgbClr val="0B6E69"/>
                </a:solidFill>
              </a:rPr>
              <a:t>Telecom</a:t>
            </a:r>
            <a:endParaRPr lang="en-US" sz="1400" dirty="0"/>
          </a:p>
          <a:p>
            <a:pPr indent="0" marL="0">
              <a:spcAft>
                <a:spcPts val="300"/>
              </a:spcAft>
              <a:buNone/>
            </a:pPr>
            <a:r>
              <a:rPr lang="en-US" sz="1300" dirty="0">
                <a:solidFill>
                  <a:srgbClr val="1F2A37"/>
                </a:solidFill>
              </a:rPr>
              <a:t>TL 9000 R6.3 (SMC pentru ICT), Telcordia SR-332 Issue 4 (predicția fiabilității), ETSI GS NFV-REL 001, ITU-T E.800 [28].</a:t>
            </a:r>
            <a:endParaRPr lang="en-US" sz="1400" dirty="0"/>
          </a:p>
        </p:txBody>
      </p:sp>
      <p:sp>
        <p:nvSpPr>
          <p:cNvPr id="13" name="Shape 11"/>
          <p:cNvSpPr/>
          <p:nvPr/>
        </p:nvSpPr>
        <p:spPr>
          <a:xfrm>
            <a:off x="6053328" y="2798064"/>
            <a:ext cx="2633472" cy="1609344"/>
          </a:xfrm>
          <a:prstGeom prst="roundRect">
            <a:avLst>
              <a:gd name="adj" fmla="val 5682"/>
            </a:avLst>
          </a:prstGeom>
          <a:solidFill>
            <a:srgbClr val="FCE9E7"/>
          </a:solidFill>
          <a:ln w="6350">
            <a:solidFill>
              <a:srgbClr val="FCE9E7"/>
            </a:solidFill>
            <a:prstDash val="solid"/>
          </a:ln>
        </p:spPr>
      </p:sp>
      <p:sp>
        <p:nvSpPr>
          <p:cNvPr id="14" name="Text 12"/>
          <p:cNvSpPr txBox="1"/>
          <p:nvPr/>
        </p:nvSpPr>
        <p:spPr>
          <a:xfrm>
            <a:off x="6163056" y="2871216"/>
            <a:ext cx="2414016" cy="1463040"/>
          </a:xfrm>
          <a:prstGeom prst="rect">
            <a:avLst/>
          </a:prstGeom>
          <a:noFill/>
          <a:ln/>
        </p:spPr>
        <p:txBody>
          <a:bodyPr wrap="square" lIns="254" tIns="254" rIns="254" bIns="254" rtlCol="0" anchor="t"/>
          <a:lstStyle/>
          <a:p>
            <a:pPr indent="0" marL="0">
              <a:spcAft>
                <a:spcPts val="300"/>
              </a:spcAft>
              <a:buNone/>
            </a:pPr>
            <a:r>
              <a:rPr lang="en-US" sz="1400" b="1" dirty="0">
                <a:solidFill>
                  <a:srgbClr val="E46A5E"/>
                </a:solidFill>
              </a:rPr>
              <a:t>Concluzie pentru telecom</a:t>
            </a:r>
            <a:endParaRPr lang="en-US" sz="1400" dirty="0"/>
          </a:p>
          <a:p>
            <a:pPr indent="0" marL="0">
              <a:spcAft>
                <a:spcPts val="300"/>
              </a:spcAft>
              <a:buNone/>
            </a:pPr>
            <a:r>
              <a:rPr lang="en-US" sz="1300" dirty="0">
                <a:solidFill>
                  <a:srgbClr val="1F2A37"/>
                </a:solidFill>
              </a:rPr>
              <a:t>Există standarde de calitate și fiabilitate, dar în textele publice verificate nu am găsit o cerință explicită de FMEA [28].</a:t>
            </a:r>
            <a:endParaRPr lang="en-US" sz="1400" dirty="0"/>
          </a:p>
        </p:txBody>
      </p:sp>
      <p:sp>
        <p:nvSpPr>
          <p:cNvPr id="15" name="sources"/>
          <p:cNvSpPr txBox="1"/>
          <p:nvPr/>
        </p:nvSpPr>
        <p:spPr>
          <a:xfrm>
            <a:off x="457200" y="4572000"/>
            <a:ext cx="7772400" cy="237744"/>
          </a:xfrm>
          <a:prstGeom prst="rect">
            <a:avLst/>
          </a:prstGeom>
          <a:noFill/>
          <a:ln/>
        </p:spPr>
        <p:txBody>
          <a:bodyPr wrap="square" lIns="0" tIns="0" rIns="0" bIns="0" rtlCol="0" anchor="ctr"/>
          <a:lstStyle/>
          <a:p>
            <a:pPr indent="0" marL="0">
              <a:buNone/>
            </a:pPr>
            <a:r>
              <a:rPr lang="en-US" sz="1000" i="1" dirty="0">
                <a:solidFill>
                  <a:srgbClr val="5B6575"/>
                </a:solidFill>
              </a:rPr>
              <a:t>Surse: [28] tl9000.org; Telcordia; ETSI; ITU-T · [29] SAE, RTCA, ISO, CENELEC, IEC, DoD</a:t>
            </a:r>
            <a:endParaRPr lang="en-US" sz="10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600" b="1" dirty="0">
                <a:solidFill>
                  <a:srgbClr val="0B6E69"/>
                </a:solidFill>
              </a:rPr>
              <a:t>Studiul de caz: modulul CAN al radarului frontal</a:t>
            </a:r>
            <a:endParaRPr lang="en-US" sz="2600" dirty="0"/>
          </a:p>
        </p:txBody>
      </p:sp>
      <p:sp>
        <p:nvSpPr>
          <p:cNvPr id="3" name="Shape 1"/>
          <p:cNvSpPr/>
          <p:nvPr/>
        </p:nvSpPr>
        <p:spPr>
          <a:xfrm>
            <a:off x="457200" y="1005840"/>
            <a:ext cx="4480560" cy="1051560"/>
          </a:xfrm>
          <a:prstGeom prst="roundRect">
            <a:avLst>
              <a:gd name="adj" fmla="val 8696"/>
            </a:avLst>
          </a:prstGeom>
          <a:solidFill>
            <a:srgbClr val="E3F4F1"/>
          </a:solidFill>
          <a:ln w="6350">
            <a:solidFill>
              <a:srgbClr val="E3F4F1"/>
            </a:solidFill>
            <a:prstDash val="solid"/>
          </a:ln>
        </p:spPr>
      </p:sp>
      <p:sp>
        <p:nvSpPr>
          <p:cNvPr id="4" name="Text 2"/>
          <p:cNvSpPr txBox="1"/>
          <p:nvPr/>
        </p:nvSpPr>
        <p:spPr>
          <a:xfrm>
            <a:off x="566928" y="1078992"/>
            <a:ext cx="4261104" cy="905256"/>
          </a:xfrm>
          <a:prstGeom prst="rect">
            <a:avLst/>
          </a:prstGeom>
          <a:noFill/>
          <a:ln/>
        </p:spPr>
        <p:txBody>
          <a:bodyPr wrap="square" lIns="254" tIns="254" rIns="254" bIns="254" rtlCol="0" anchor="t"/>
          <a:lstStyle/>
          <a:p>
            <a:pPr indent="0" marL="0">
              <a:spcAft>
                <a:spcPts val="300"/>
              </a:spcAft>
              <a:buNone/>
            </a:pPr>
            <a:r>
              <a:rPr lang="en-US" sz="1300" b="1" dirty="0">
                <a:solidFill>
                  <a:srgbClr val="0B6E69"/>
                </a:solidFill>
              </a:rPr>
              <a:t>Radarul</a:t>
            </a:r>
            <a:endParaRPr lang="en-US" sz="1300" dirty="0"/>
          </a:p>
          <a:p>
            <a:pPr indent="0" marL="0">
              <a:spcAft>
                <a:spcPts val="300"/>
              </a:spcAft>
              <a:buNone/>
            </a:pPr>
            <a:r>
              <a:rPr lang="en-US" sz="1200" dirty="0">
                <a:solidFill>
                  <a:srgbClr val="1F2A37"/>
                </a:solidFill>
              </a:rPr>
              <a:t>ARS 408-21: 0,20–250 m, ciclu de ~72 ms, CAN la 500 kbit/s [31]. ASIL B este o ipoteză de laborator.</a:t>
            </a:r>
            <a:endParaRPr lang="en-US" sz="1300" dirty="0"/>
          </a:p>
        </p:txBody>
      </p:sp>
      <p:sp>
        <p:nvSpPr>
          <p:cNvPr id="5" name="Shape 3"/>
          <p:cNvSpPr/>
          <p:nvPr/>
        </p:nvSpPr>
        <p:spPr>
          <a:xfrm>
            <a:off x="457200" y="2167128"/>
            <a:ext cx="4480560" cy="1051560"/>
          </a:xfrm>
          <a:prstGeom prst="roundRect">
            <a:avLst>
              <a:gd name="adj" fmla="val 8696"/>
            </a:avLst>
          </a:prstGeom>
          <a:solidFill>
            <a:srgbClr val="E5F0FA"/>
          </a:solidFill>
          <a:ln w="6350">
            <a:solidFill>
              <a:srgbClr val="E5F0FA"/>
            </a:solidFill>
            <a:prstDash val="solid"/>
          </a:ln>
        </p:spPr>
      </p:sp>
      <p:sp>
        <p:nvSpPr>
          <p:cNvPr id="6" name="Text 4"/>
          <p:cNvSpPr txBox="1"/>
          <p:nvPr/>
        </p:nvSpPr>
        <p:spPr>
          <a:xfrm>
            <a:off x="566928" y="2240280"/>
            <a:ext cx="4261104" cy="905256"/>
          </a:xfrm>
          <a:prstGeom prst="rect">
            <a:avLst/>
          </a:prstGeom>
          <a:noFill/>
          <a:ln/>
        </p:spPr>
        <p:txBody>
          <a:bodyPr wrap="square" lIns="254" tIns="254" rIns="254" bIns="254" rtlCol="0" anchor="t"/>
          <a:lstStyle/>
          <a:p>
            <a:pPr indent="0" marL="0">
              <a:spcAft>
                <a:spcPts val="300"/>
              </a:spcAft>
              <a:buNone/>
            </a:pPr>
            <a:r>
              <a:rPr lang="en-US" sz="1300" b="1" dirty="0">
                <a:solidFill>
                  <a:srgbClr val="3B82C4"/>
                </a:solidFill>
              </a:rPr>
              <a:t>Transceiverul MCP2551</a:t>
            </a:r>
            <a:endParaRPr lang="en-US" sz="1300" dirty="0"/>
          </a:p>
          <a:p>
            <a:pPr indent="0" marL="0">
              <a:spcAft>
                <a:spcPts val="300"/>
              </a:spcAft>
              <a:buNone/>
            </a:pPr>
            <a:r>
              <a:rPr lang="en-US" sz="1200" dirty="0">
                <a:solidFill>
                  <a:srgbClr val="1F2A37"/>
                </a:solidFill>
              </a:rPr>
              <a:t>VDD 4,5–5,5 V; IDD ≤ 75 mA dominant, ≤ 10 mA recesiv; recesiv 2,0–3,0 V; diferențial dominant 1,5–3,0 V [30].</a:t>
            </a:r>
            <a:endParaRPr lang="en-US" sz="1300" dirty="0"/>
          </a:p>
        </p:txBody>
      </p:sp>
      <p:sp>
        <p:nvSpPr>
          <p:cNvPr id="7" name="Shape 5"/>
          <p:cNvSpPr/>
          <p:nvPr/>
        </p:nvSpPr>
        <p:spPr>
          <a:xfrm>
            <a:off x="457200" y="3328416"/>
            <a:ext cx="4480560" cy="1051560"/>
          </a:xfrm>
          <a:prstGeom prst="roundRect">
            <a:avLst>
              <a:gd name="adj" fmla="val 8696"/>
            </a:avLst>
          </a:prstGeom>
          <a:solidFill>
            <a:srgbClr val="FFF4DE"/>
          </a:solidFill>
          <a:ln w="6350">
            <a:solidFill>
              <a:srgbClr val="FFF4DE"/>
            </a:solidFill>
            <a:prstDash val="solid"/>
          </a:ln>
        </p:spPr>
      </p:sp>
      <p:sp>
        <p:nvSpPr>
          <p:cNvPr id="8" name="Text 6"/>
          <p:cNvSpPr txBox="1"/>
          <p:nvPr/>
        </p:nvSpPr>
        <p:spPr>
          <a:xfrm>
            <a:off x="566928" y="3401568"/>
            <a:ext cx="4261104" cy="905256"/>
          </a:xfrm>
          <a:prstGeom prst="rect">
            <a:avLst/>
          </a:prstGeom>
          <a:noFill/>
          <a:ln/>
        </p:spPr>
        <p:txBody>
          <a:bodyPr wrap="square" lIns="254" tIns="254" rIns="254" bIns="254" rtlCol="0" anchor="t"/>
          <a:lstStyle/>
          <a:p>
            <a:pPr indent="0" marL="0">
              <a:spcAft>
                <a:spcPts val="300"/>
              </a:spcAft>
              <a:buNone/>
            </a:pPr>
            <a:r>
              <a:rPr lang="en-US" sz="1300" b="1" dirty="0">
                <a:solidFill>
                  <a:srgbClr val="0B6E69"/>
                </a:solidFill>
              </a:rPr>
              <a:t>Modulul</a:t>
            </a:r>
            <a:endParaRPr lang="en-US" sz="1300" dirty="0"/>
          </a:p>
          <a:p>
            <a:pPr indent="0" marL="0">
              <a:spcAft>
                <a:spcPts val="300"/>
              </a:spcAft>
              <a:buNone/>
            </a:pPr>
            <a:r>
              <a:rPr lang="en-US" sz="1200" dirty="0">
                <a:solidFill>
                  <a:srgbClr val="1F2A37"/>
                </a:solidFill>
              </a:rPr>
              <a:t>J1, U1, C3, R3 (RS), R4 + JP1 (terminație), R1/C1 și R2/C2 (filtre RC), J2, LED1 + R5. Fără test point-uri: le adăugați voi.</a:t>
            </a:r>
            <a:endParaRPr lang="en-US" sz="1300" dirty="0"/>
          </a:p>
        </p:txBody>
      </p:sp>
      <p:sp>
        <p:nvSpPr>
          <p:cNvPr id="9" name="image placeholder"/>
          <p:cNvSpPr/>
          <p:nvPr/>
        </p:nvSpPr>
        <p:spPr>
          <a:xfrm>
            <a:off x="5120640" y="1005840"/>
            <a:ext cx="3566160" cy="3364992"/>
          </a:xfrm>
          <a:prstGeom prst="roundRect">
            <a:avLst>
              <a:gd name="adj" fmla="val 3261"/>
            </a:avLst>
          </a:prstGeom>
          <a:solidFill>
            <a:srgbClr val="F4F6F8"/>
          </a:solidFill>
          <a:ln w="12700">
            <a:solidFill>
              <a:srgbClr val="9AA5B1"/>
            </a:solidFill>
            <a:prstDash val="dash"/>
          </a:ln>
        </p:spPr>
      </p:sp>
      <p:sp>
        <p:nvSpPr>
          <p:cNvPr id="10" name="image placeholder label"/>
          <p:cNvSpPr txBox="1"/>
          <p:nvPr/>
        </p:nvSpPr>
        <p:spPr>
          <a:xfrm>
            <a:off x="5257800" y="1097280"/>
            <a:ext cx="3291840" cy="3182112"/>
          </a:xfrm>
          <a:prstGeom prst="rect">
            <a:avLst/>
          </a:prstGeom>
          <a:noFill/>
          <a:ln/>
        </p:spPr>
        <p:txBody>
          <a:bodyPr wrap="square" rtlCol="0" anchor="ctr"/>
          <a:lstStyle/>
          <a:p>
            <a:pPr algn="ctr" indent="0" marL="0">
              <a:buNone/>
            </a:pPr>
            <a:r>
              <a:rPr lang="en-US" sz="1200" i="1" dirty="0">
                <a:solidFill>
                  <a:srgbClr val="5B6575"/>
                </a:solidFill>
              </a:rPr>
              <a:t>Loc pentru imagine:</a:t>
            </a:r>
            <a:endParaRPr lang="en-US" sz="1200" dirty="0"/>
          </a:p>
          <a:p>
            <a:pPr algn="ctr" indent="0" marL="0">
              <a:buNone/>
            </a:pPr>
            <a:r>
              <a:rPr lang="en-US" sz="1200" i="1" dirty="0">
                <a:solidFill>
                  <a:srgbClr val="5B6575"/>
                </a:solidFill>
              </a:rPr>
              <a:t>schema modulului / fotografia plăcii</a:t>
            </a:r>
            <a:endParaRPr lang="en-US" sz="1200" dirty="0"/>
          </a:p>
        </p:txBody>
      </p:sp>
      <p:sp>
        <p:nvSpPr>
          <p:cNvPr id="11" name="sources"/>
          <p:cNvSpPr txBox="1"/>
          <p:nvPr/>
        </p:nvSpPr>
        <p:spPr>
          <a:xfrm>
            <a:off x="457200" y="4572000"/>
            <a:ext cx="7772400" cy="237744"/>
          </a:xfrm>
          <a:prstGeom prst="rect">
            <a:avLst/>
          </a:prstGeom>
          <a:noFill/>
          <a:ln/>
        </p:spPr>
        <p:txBody>
          <a:bodyPr wrap="square" lIns="0" tIns="0" rIns="0" bIns="0" rtlCol="0" anchor="ctr"/>
          <a:lstStyle/>
          <a:p>
            <a:pPr indent="0" marL="0">
              <a:buNone/>
            </a:pPr>
            <a:r>
              <a:rPr lang="en-US" sz="1000" i="1" dirty="0">
                <a:solidFill>
                  <a:srgbClr val="5B6575"/>
                </a:solidFill>
              </a:rPr>
              <a:t>Surse: [30] Microchip DS21667F; ISO 11898-2:2024 · [31] AUMOVIO ARS 408-21</a:t>
            </a:r>
            <a:endParaRPr lang="en-US" sz="10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600" b="1" dirty="0">
                <a:solidFill>
                  <a:srgbClr val="0B6E69"/>
                </a:solidFill>
              </a:rPr>
              <a:t>Ce faceți azi în laborator</a:t>
            </a:r>
            <a:endParaRPr lang="en-US" sz="2600" dirty="0"/>
          </a:p>
        </p:txBody>
      </p:sp>
      <p:sp>
        <p:nvSpPr>
          <p:cNvPr id="3" name="Shape 1"/>
          <p:cNvSpPr/>
          <p:nvPr/>
        </p:nvSpPr>
        <p:spPr>
          <a:xfrm>
            <a:off x="457200" y="1005840"/>
            <a:ext cx="384048" cy="384048"/>
          </a:xfrm>
          <a:prstGeom prst="ellipse">
            <a:avLst/>
          </a:prstGeom>
          <a:solidFill>
            <a:srgbClr val="0B6E69"/>
          </a:solidFill>
          <a:ln w="12700">
            <a:solidFill>
              <a:srgbClr val="0B6E69"/>
            </a:solidFill>
            <a:prstDash val="solid"/>
          </a:ln>
        </p:spPr>
      </p:sp>
      <p:sp>
        <p:nvSpPr>
          <p:cNvPr id="4" name="Text 2"/>
          <p:cNvSpPr txBox="1"/>
          <p:nvPr/>
        </p:nvSpPr>
        <p:spPr>
          <a:xfrm>
            <a:off x="457200" y="10058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5" name="Text 3"/>
          <p:cNvSpPr txBox="1"/>
          <p:nvPr/>
        </p:nvSpPr>
        <p:spPr>
          <a:xfrm>
            <a:off x="960120" y="960120"/>
            <a:ext cx="4526280" cy="502920"/>
          </a:xfrm>
          <a:prstGeom prst="rect">
            <a:avLst/>
          </a:prstGeom>
          <a:noFill/>
          <a:ln/>
        </p:spPr>
        <p:txBody>
          <a:bodyPr wrap="square" lIns="0" tIns="0" rIns="0" bIns="0" rtlCol="0" anchor="ctr"/>
          <a:lstStyle/>
          <a:p>
            <a:pPr indent="0" marL="0">
              <a:buNone/>
            </a:pPr>
            <a:r>
              <a:rPr lang="en-US" sz="1300" b="1" dirty="0">
                <a:solidFill>
                  <a:srgbClr val="1F2A37"/>
                </a:solidFill>
              </a:rPr>
              <a:t>Severitate  </a:t>
            </a:r>
            <a:pPr indent="0" marL="0">
              <a:buNone/>
            </a:pPr>
            <a:r>
              <a:rPr lang="en-US" sz="1300" dirty="0">
                <a:solidFill>
                  <a:srgbClr val="5B6575"/>
                </a:solidFill>
              </a:rPr>
              <a:t>alegeți clasa de efect (E1–E10), S rezultă din ea</a:t>
            </a:r>
            <a:endParaRPr lang="en-US" sz="1300" dirty="0"/>
          </a:p>
        </p:txBody>
      </p:sp>
      <p:sp>
        <p:nvSpPr>
          <p:cNvPr id="6" name="Shape 4"/>
          <p:cNvSpPr/>
          <p:nvPr/>
        </p:nvSpPr>
        <p:spPr>
          <a:xfrm>
            <a:off x="457200" y="1499616"/>
            <a:ext cx="384048" cy="384048"/>
          </a:xfrm>
          <a:prstGeom prst="ellipse">
            <a:avLst/>
          </a:prstGeom>
          <a:solidFill>
            <a:srgbClr val="0B6E69"/>
          </a:solidFill>
          <a:ln w="12700">
            <a:solidFill>
              <a:srgbClr val="0B6E69"/>
            </a:solidFill>
            <a:prstDash val="solid"/>
          </a:ln>
        </p:spPr>
      </p:sp>
      <p:sp>
        <p:nvSpPr>
          <p:cNvPr id="7" name="Text 5"/>
          <p:cNvSpPr txBox="1"/>
          <p:nvPr/>
        </p:nvSpPr>
        <p:spPr>
          <a:xfrm>
            <a:off x="45720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8" name="Text 6"/>
          <p:cNvSpPr txBox="1"/>
          <p:nvPr/>
        </p:nvSpPr>
        <p:spPr>
          <a:xfrm>
            <a:off x="960120" y="1453896"/>
            <a:ext cx="4526280" cy="502920"/>
          </a:xfrm>
          <a:prstGeom prst="rect">
            <a:avLst/>
          </a:prstGeom>
          <a:noFill/>
          <a:ln/>
        </p:spPr>
        <p:txBody>
          <a:bodyPr wrap="square" lIns="0" tIns="0" rIns="0" bIns="0" rtlCol="0" anchor="ctr"/>
          <a:lstStyle/>
          <a:p>
            <a:pPr indent="0" marL="0">
              <a:buNone/>
            </a:pPr>
            <a:r>
              <a:rPr lang="en-US" sz="1300" b="1" dirty="0">
                <a:solidFill>
                  <a:srgbClr val="1F2A37"/>
                </a:solidFill>
              </a:rPr>
              <a:t>Ocurență  </a:t>
            </a:r>
            <a:pPr indent="0" marL="0">
              <a:buNone/>
            </a:pPr>
            <a:r>
              <a:rPr lang="en-US" sz="1300" dirty="0">
                <a:solidFill>
                  <a:srgbClr val="5B6575"/>
                </a:solidFill>
              </a:rPr>
              <a:t>din tabelul AIAG-VDA (tehnologie SMT matură)</a:t>
            </a:r>
            <a:endParaRPr lang="en-US" sz="1300" dirty="0"/>
          </a:p>
        </p:txBody>
      </p:sp>
      <p:sp>
        <p:nvSpPr>
          <p:cNvPr id="9" name="Shape 7"/>
          <p:cNvSpPr/>
          <p:nvPr/>
        </p:nvSpPr>
        <p:spPr>
          <a:xfrm>
            <a:off x="457200" y="1993392"/>
            <a:ext cx="384048" cy="384048"/>
          </a:xfrm>
          <a:prstGeom prst="ellipse">
            <a:avLst/>
          </a:prstGeom>
          <a:solidFill>
            <a:srgbClr val="0B6E69"/>
          </a:solidFill>
          <a:ln w="12700">
            <a:solidFill>
              <a:srgbClr val="0B6E69"/>
            </a:solidFill>
            <a:prstDash val="solid"/>
          </a:ln>
        </p:spPr>
      </p:sp>
      <p:sp>
        <p:nvSpPr>
          <p:cNvPr id="10" name="Text 8"/>
          <p:cNvSpPr txBox="1"/>
          <p:nvPr/>
        </p:nvSpPr>
        <p:spPr>
          <a:xfrm>
            <a:off x="457200" y="19933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1" name="Text 9"/>
          <p:cNvSpPr txBox="1"/>
          <p:nvPr/>
        </p:nvSpPr>
        <p:spPr>
          <a:xfrm>
            <a:off x="960120" y="1947672"/>
            <a:ext cx="4526280" cy="502920"/>
          </a:xfrm>
          <a:prstGeom prst="rect">
            <a:avLst/>
          </a:prstGeom>
          <a:noFill/>
          <a:ln/>
        </p:spPr>
        <p:txBody>
          <a:bodyPr wrap="square" lIns="0" tIns="0" rIns="0" bIns="0" rtlCol="0" anchor="ctr"/>
          <a:lstStyle/>
          <a:p>
            <a:pPr indent="0" marL="0">
              <a:buNone/>
            </a:pPr>
            <a:r>
              <a:rPr lang="en-US" sz="1300" b="1" dirty="0">
                <a:solidFill>
                  <a:srgbClr val="1F2A37"/>
                </a:solidFill>
              </a:rPr>
              <a:t>AOI, AXI, ICT  </a:t>
            </a:r>
            <a:pPr indent="0" marL="0">
              <a:buNone/>
            </a:pPr>
            <a:r>
              <a:rPr lang="en-US" sz="1300" dirty="0">
                <a:solidFill>
                  <a:srgbClr val="5B6575"/>
                </a:solidFill>
              </a:rPr>
              <a:t>D vine din regulile de detecție, cu motivul afișat</a:t>
            </a:r>
            <a:endParaRPr lang="en-US" sz="1300" dirty="0"/>
          </a:p>
        </p:txBody>
      </p:sp>
      <p:sp>
        <p:nvSpPr>
          <p:cNvPr id="12" name="Shape 10"/>
          <p:cNvSpPr/>
          <p:nvPr/>
        </p:nvSpPr>
        <p:spPr>
          <a:xfrm>
            <a:off x="457200" y="2487168"/>
            <a:ext cx="384048" cy="384048"/>
          </a:xfrm>
          <a:prstGeom prst="ellipse">
            <a:avLst/>
          </a:prstGeom>
          <a:solidFill>
            <a:srgbClr val="0B6E69"/>
          </a:solidFill>
          <a:ln w="12700">
            <a:solidFill>
              <a:srgbClr val="0B6E69"/>
            </a:solidFill>
            <a:prstDash val="solid"/>
          </a:ln>
        </p:spPr>
      </p:sp>
      <p:sp>
        <p:nvSpPr>
          <p:cNvPr id="13" name="Text 11"/>
          <p:cNvSpPr txBox="1"/>
          <p:nvPr/>
        </p:nvSpPr>
        <p:spPr>
          <a:xfrm>
            <a:off x="457200" y="24871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4" name="Text 12"/>
          <p:cNvSpPr txBox="1"/>
          <p:nvPr/>
        </p:nvSpPr>
        <p:spPr>
          <a:xfrm>
            <a:off x="960120" y="2441448"/>
            <a:ext cx="4526280" cy="502920"/>
          </a:xfrm>
          <a:prstGeom prst="rect">
            <a:avLst/>
          </a:prstGeom>
          <a:noFill/>
          <a:ln/>
        </p:spPr>
        <p:txBody>
          <a:bodyPr wrap="square" lIns="0" tIns="0" rIns="0" bIns="0" rtlCol="0" anchor="ctr"/>
          <a:lstStyle/>
          <a:p>
            <a:pPr indent="0" marL="0">
              <a:buNone/>
            </a:pPr>
            <a:r>
              <a:rPr lang="en-US" sz="1300" b="1" dirty="0">
                <a:solidFill>
                  <a:srgbClr val="1F2A37"/>
                </a:solidFill>
              </a:rPr>
              <a:t>FT  </a:t>
            </a:r>
            <a:pPr indent="0" marL="0">
              <a:buNone/>
            </a:pPr>
            <a:r>
              <a:rPr lang="en-US" sz="1300" dirty="0">
                <a:solidFill>
                  <a:srgbClr val="5B6575"/>
                </a:solidFill>
              </a:rPr>
              <a:t>urmăriți netul pinului, alegeți testul FT1–FT8 sau NONE, D de la 1 la 10 și justificarea</a:t>
            </a:r>
            <a:endParaRPr lang="en-US" sz="1300" dirty="0"/>
          </a:p>
        </p:txBody>
      </p:sp>
      <p:sp>
        <p:nvSpPr>
          <p:cNvPr id="15" name="Shape 13"/>
          <p:cNvSpPr/>
          <p:nvPr/>
        </p:nvSpPr>
        <p:spPr>
          <a:xfrm>
            <a:off x="457200" y="2980944"/>
            <a:ext cx="384048" cy="384048"/>
          </a:xfrm>
          <a:prstGeom prst="ellipse">
            <a:avLst/>
          </a:prstGeom>
          <a:solidFill>
            <a:srgbClr val="0B6E69"/>
          </a:solidFill>
          <a:ln w="12700">
            <a:solidFill>
              <a:srgbClr val="0B6E69"/>
            </a:solidFill>
            <a:prstDash val="solid"/>
          </a:ln>
        </p:spPr>
      </p:sp>
      <p:sp>
        <p:nvSpPr>
          <p:cNvPr id="16" name="Text 14"/>
          <p:cNvSpPr txBox="1"/>
          <p:nvPr/>
        </p:nvSpPr>
        <p:spPr>
          <a:xfrm>
            <a:off x="457200" y="29809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17" name="Text 15"/>
          <p:cNvSpPr txBox="1"/>
          <p:nvPr/>
        </p:nvSpPr>
        <p:spPr>
          <a:xfrm>
            <a:off x="960120" y="2935224"/>
            <a:ext cx="4526280" cy="502920"/>
          </a:xfrm>
          <a:prstGeom prst="rect">
            <a:avLst/>
          </a:prstGeom>
          <a:noFill/>
          <a:ln/>
        </p:spPr>
        <p:txBody>
          <a:bodyPr wrap="square" lIns="0" tIns="0" rIns="0" bIns="0" rtlCol="0" anchor="ctr"/>
          <a:lstStyle/>
          <a:p>
            <a:pPr indent="0" marL="0">
              <a:buNone/>
            </a:pPr>
            <a:r>
              <a:rPr lang="en-US" sz="1300" b="1" dirty="0">
                <a:solidFill>
                  <a:srgbClr val="1F2A37"/>
                </a:solidFill>
              </a:rPr>
              <a:t>AP  </a:t>
            </a:r>
            <a:pPr indent="0" marL="0">
              <a:buNone/>
            </a:pPr>
            <a:r>
              <a:rPr lang="en-US" sz="1300" dirty="0">
                <a:solidFill>
                  <a:srgbClr val="5B6575"/>
                </a:solidFill>
              </a:rPr>
              <a:t>D = minimul metodelor; AP din tabelul AIAG-VDA</a:t>
            </a:r>
            <a:endParaRPr lang="en-US" sz="1300" dirty="0"/>
          </a:p>
        </p:txBody>
      </p:sp>
      <p:sp>
        <p:nvSpPr>
          <p:cNvPr id="18" name="Shape 16"/>
          <p:cNvSpPr/>
          <p:nvPr/>
        </p:nvSpPr>
        <p:spPr>
          <a:xfrm>
            <a:off x="457200" y="3474720"/>
            <a:ext cx="384048" cy="384048"/>
          </a:xfrm>
          <a:prstGeom prst="ellipse">
            <a:avLst/>
          </a:prstGeom>
          <a:solidFill>
            <a:srgbClr val="0B6E69"/>
          </a:solidFill>
          <a:ln w="12700">
            <a:solidFill>
              <a:srgbClr val="0B6E69"/>
            </a:solidFill>
            <a:prstDash val="solid"/>
          </a:ln>
        </p:spPr>
      </p:sp>
      <p:sp>
        <p:nvSpPr>
          <p:cNvPr id="19" name="Text 17"/>
          <p:cNvSpPr txBox="1"/>
          <p:nvPr/>
        </p:nvSpPr>
        <p:spPr>
          <a:xfrm>
            <a:off x="457200" y="34747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20" name="Text 18"/>
          <p:cNvSpPr txBox="1"/>
          <p:nvPr/>
        </p:nvSpPr>
        <p:spPr>
          <a:xfrm>
            <a:off x="960120" y="3429000"/>
            <a:ext cx="4526280" cy="502920"/>
          </a:xfrm>
          <a:prstGeom prst="rect">
            <a:avLst/>
          </a:prstGeom>
          <a:noFill/>
          <a:ln/>
        </p:spPr>
        <p:txBody>
          <a:bodyPr wrap="square" lIns="0" tIns="0" rIns="0" bIns="0" rtlCol="0" anchor="ctr"/>
          <a:lstStyle/>
          <a:p>
            <a:pPr indent="0" marL="0">
              <a:buNone/>
            </a:pPr>
            <a:r>
              <a:rPr lang="en-US" sz="1300" b="1" dirty="0">
                <a:solidFill>
                  <a:srgbClr val="1F2A37"/>
                </a:solidFill>
              </a:rPr>
              <a:t>Îmbunătățiri  </a:t>
            </a:r>
            <a:pPr indent="0" marL="0">
              <a:buNone/>
            </a:pPr>
            <a:r>
              <a:rPr lang="en-US" sz="1300" dirty="0">
                <a:solidFill>
                  <a:srgbClr val="5B6575"/>
                </a:solidFill>
              </a:rPr>
              <a:t>test point-uri, AOI pe BOTTOM, teste FT noi</a:t>
            </a:r>
            <a:endParaRPr lang="en-US" sz="1300" dirty="0"/>
          </a:p>
        </p:txBody>
      </p:sp>
      <p:sp>
        <p:nvSpPr>
          <p:cNvPr id="21" name="Shape 19"/>
          <p:cNvSpPr/>
          <p:nvPr/>
        </p:nvSpPr>
        <p:spPr>
          <a:xfrm>
            <a:off x="457200" y="3968496"/>
            <a:ext cx="384048" cy="384048"/>
          </a:xfrm>
          <a:prstGeom prst="ellipse">
            <a:avLst/>
          </a:prstGeom>
          <a:solidFill>
            <a:srgbClr val="E46A5E"/>
          </a:solidFill>
          <a:ln w="12700">
            <a:solidFill>
              <a:srgbClr val="E46A5E"/>
            </a:solidFill>
            <a:prstDash val="solid"/>
          </a:ln>
        </p:spPr>
      </p:sp>
      <p:sp>
        <p:nvSpPr>
          <p:cNvPr id="22" name="Text 20"/>
          <p:cNvSpPr txBox="1"/>
          <p:nvPr/>
        </p:nvSpPr>
        <p:spPr>
          <a:xfrm>
            <a:off x="457200" y="39684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7</a:t>
            </a:r>
            <a:endParaRPr lang="en-US" sz="1300" dirty="0"/>
          </a:p>
        </p:txBody>
      </p:sp>
      <p:sp>
        <p:nvSpPr>
          <p:cNvPr id="23" name="Text 21"/>
          <p:cNvSpPr txBox="1"/>
          <p:nvPr/>
        </p:nvSpPr>
        <p:spPr>
          <a:xfrm>
            <a:off x="960120" y="3922776"/>
            <a:ext cx="4526280" cy="502920"/>
          </a:xfrm>
          <a:prstGeom prst="rect">
            <a:avLst/>
          </a:prstGeom>
          <a:noFill/>
          <a:ln/>
        </p:spPr>
        <p:txBody>
          <a:bodyPr wrap="square" lIns="0" tIns="0" rIns="0" bIns="0" rtlCol="0" anchor="ctr"/>
          <a:lstStyle/>
          <a:p>
            <a:pPr indent="0" marL="0">
              <a:buNone/>
            </a:pPr>
            <a:r>
              <a:rPr lang="en-US" sz="1300" b="1" dirty="0">
                <a:solidFill>
                  <a:srgbClr val="1F2A37"/>
                </a:solidFill>
              </a:rPr>
              <a:t>Risc rezidual  </a:t>
            </a:r>
            <a:pPr indent="0" marL="0">
              <a:buNone/>
            </a:pPr>
            <a:r>
              <a:rPr lang="en-US" sz="1300" dirty="0">
                <a:solidFill>
                  <a:srgbClr val="5B6575"/>
                </a:solidFill>
              </a:rPr>
              <a:t>unde AP rămâne H sau M: documentați și trimiteți raportul</a:t>
            </a:r>
            <a:endParaRPr lang="en-US" sz="1300" dirty="0"/>
          </a:p>
        </p:txBody>
      </p:sp>
      <p:sp>
        <p:nvSpPr>
          <p:cNvPr id="24" name="image placeholder"/>
          <p:cNvSpPr/>
          <p:nvPr/>
        </p:nvSpPr>
        <p:spPr>
          <a:xfrm>
            <a:off x="5669280" y="1005840"/>
            <a:ext cx="3017520" cy="3383280"/>
          </a:xfrm>
          <a:prstGeom prst="roundRect">
            <a:avLst>
              <a:gd name="adj" fmla="val 3636"/>
            </a:avLst>
          </a:prstGeom>
          <a:solidFill>
            <a:srgbClr val="F4F6F8"/>
          </a:solidFill>
          <a:ln w="12700">
            <a:solidFill>
              <a:srgbClr val="9AA5B1"/>
            </a:solidFill>
            <a:prstDash val="dash"/>
          </a:ln>
        </p:spPr>
      </p:sp>
      <p:sp>
        <p:nvSpPr>
          <p:cNvPr id="25" name="image placeholder label"/>
          <p:cNvSpPr txBox="1"/>
          <p:nvPr/>
        </p:nvSpPr>
        <p:spPr>
          <a:xfrm>
            <a:off x="5806440" y="1097280"/>
            <a:ext cx="2743200" cy="3200400"/>
          </a:xfrm>
          <a:prstGeom prst="rect">
            <a:avLst/>
          </a:prstGeom>
          <a:noFill/>
          <a:ln/>
        </p:spPr>
        <p:txBody>
          <a:bodyPr wrap="square" rtlCol="0" anchor="ctr"/>
          <a:lstStyle/>
          <a:p>
            <a:pPr algn="ctr" indent="0" marL="0">
              <a:buNone/>
            </a:pPr>
            <a:r>
              <a:rPr lang="en-US" sz="1200" i="1" dirty="0">
                <a:solidFill>
                  <a:srgbClr val="5B6575"/>
                </a:solidFill>
              </a:rPr>
              <a:t>Loc pentru imagine:</a:t>
            </a:r>
            <a:endParaRPr lang="en-US" sz="1200" dirty="0"/>
          </a:p>
          <a:p>
            <a:pPr algn="ctr" indent="0" marL="0">
              <a:buNone/>
            </a:pPr>
            <a:r>
              <a:rPr lang="en-US" sz="1200" i="1" dirty="0">
                <a:solidFill>
                  <a:srgbClr val="5B6575"/>
                </a:solidFill>
              </a:rPr>
              <a:t>captură din aplicația HW TCA (fișa de analiză)</a:t>
            </a:r>
            <a:endParaRPr lang="en-US" sz="1200" dirty="0"/>
          </a:p>
        </p:txBody>
      </p:sp>
      <p:sp>
        <p:nvSpPr>
          <p:cNvPr id="26" name="sources"/>
          <p:cNvSpPr txBox="1"/>
          <p:nvPr/>
        </p:nvSpPr>
        <p:spPr>
          <a:xfrm>
            <a:off x="457200" y="4572000"/>
            <a:ext cx="7772400" cy="237744"/>
          </a:xfrm>
          <a:prstGeom prst="rect">
            <a:avLst/>
          </a:prstGeom>
          <a:noFill/>
          <a:ln/>
        </p:spPr>
        <p:txBody>
          <a:bodyPr wrap="square" lIns="0" tIns="0" rIns="0" bIns="0" rtlCol="0" anchor="ctr"/>
          <a:lstStyle/>
          <a:p>
            <a:pPr indent="0" marL="0">
              <a:buNone/>
            </a:pPr>
            <a:r>
              <a:rPr lang="en-US" sz="1000" i="1" dirty="0">
                <a:solidFill>
                  <a:srgbClr val="5B6575"/>
                </a:solidFill>
              </a:rPr>
              <a:t>Aplicația: madalinatolontan1-ai.github.io/sw-tca-lab/hw/</a:t>
            </a:r>
            <a:endParaRPr lang="en-US" sz="10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600" b="1" dirty="0">
                <a:solidFill>
                  <a:srgbClr val="0B6E69"/>
                </a:solidFill>
              </a:rPr>
              <a:t>Unde se folosește și ce cariere deschide</a:t>
            </a:r>
            <a:endParaRPr lang="en-US" sz="2600" dirty="0"/>
          </a:p>
        </p:txBody>
      </p:sp>
      <p:sp>
        <p:nvSpPr>
          <p:cNvPr id="3" name="Shape 1"/>
          <p:cNvSpPr/>
          <p:nvPr/>
        </p:nvSpPr>
        <p:spPr>
          <a:xfrm>
            <a:off x="457200" y="1024128"/>
            <a:ext cx="2633472" cy="1083564"/>
          </a:xfrm>
          <a:prstGeom prst="roundRect">
            <a:avLst>
              <a:gd name="adj" fmla="val 8439"/>
            </a:avLst>
          </a:prstGeom>
          <a:solidFill>
            <a:srgbClr val="E3F4F1"/>
          </a:solidFill>
          <a:ln w="6350">
            <a:solidFill>
              <a:srgbClr val="E3F4F1"/>
            </a:solidFill>
            <a:prstDash val="solid"/>
          </a:ln>
        </p:spPr>
      </p:sp>
      <p:sp>
        <p:nvSpPr>
          <p:cNvPr id="4" name="Text 2"/>
          <p:cNvSpPr txBox="1"/>
          <p:nvPr/>
        </p:nvSpPr>
        <p:spPr>
          <a:xfrm>
            <a:off x="566928" y="1097280"/>
            <a:ext cx="2414016" cy="937260"/>
          </a:xfrm>
          <a:prstGeom prst="rect">
            <a:avLst/>
          </a:prstGeom>
          <a:noFill/>
          <a:ln/>
        </p:spPr>
        <p:txBody>
          <a:bodyPr wrap="square" lIns="254" tIns="254" rIns="254" bIns="254" rtlCol="0" anchor="t"/>
          <a:lstStyle/>
          <a:p>
            <a:pPr indent="0" marL="0">
              <a:spcAft>
                <a:spcPts val="300"/>
              </a:spcAft>
              <a:buNone/>
            </a:pPr>
            <a:r>
              <a:rPr lang="en-US" sz="1400" b="1" dirty="0">
                <a:solidFill>
                  <a:srgbClr val="0B6E69"/>
                </a:solidFill>
              </a:rPr>
              <a:t>Inginer de test (ICT / FCT)</a:t>
            </a:r>
            <a:endParaRPr lang="en-US" sz="1400" dirty="0"/>
          </a:p>
          <a:p>
            <a:pPr indent="0" marL="0">
              <a:spcAft>
                <a:spcPts val="300"/>
              </a:spcAft>
              <a:buNone/>
            </a:pPr>
            <a:r>
              <a:rPr lang="en-US" sz="1300" dirty="0">
                <a:solidFill>
                  <a:srgbClr val="1F2A37"/>
                </a:solidFill>
              </a:rPr>
              <a:t>dezvoltă programe și fixture-uri de test pentru producție.</a:t>
            </a:r>
            <a:endParaRPr lang="en-US" sz="1400" dirty="0"/>
          </a:p>
        </p:txBody>
      </p:sp>
      <p:sp>
        <p:nvSpPr>
          <p:cNvPr id="5" name="Shape 3"/>
          <p:cNvSpPr/>
          <p:nvPr/>
        </p:nvSpPr>
        <p:spPr>
          <a:xfrm>
            <a:off x="3255264" y="1024128"/>
            <a:ext cx="2633472" cy="1083564"/>
          </a:xfrm>
          <a:prstGeom prst="roundRect">
            <a:avLst>
              <a:gd name="adj" fmla="val 8439"/>
            </a:avLst>
          </a:prstGeom>
          <a:solidFill>
            <a:srgbClr val="E5F0FA"/>
          </a:solidFill>
          <a:ln w="6350">
            <a:solidFill>
              <a:srgbClr val="E5F0FA"/>
            </a:solidFill>
            <a:prstDash val="solid"/>
          </a:ln>
        </p:spPr>
      </p:sp>
      <p:sp>
        <p:nvSpPr>
          <p:cNvPr id="6" name="Text 4"/>
          <p:cNvSpPr txBox="1"/>
          <p:nvPr/>
        </p:nvSpPr>
        <p:spPr>
          <a:xfrm>
            <a:off x="3364992" y="1097280"/>
            <a:ext cx="2414016" cy="937260"/>
          </a:xfrm>
          <a:prstGeom prst="rect">
            <a:avLst/>
          </a:prstGeom>
          <a:noFill/>
          <a:ln/>
        </p:spPr>
        <p:txBody>
          <a:bodyPr wrap="square" lIns="254" tIns="254" rIns="254" bIns="254" rtlCol="0" anchor="t"/>
          <a:lstStyle/>
          <a:p>
            <a:pPr indent="0" marL="0">
              <a:spcAft>
                <a:spcPts val="300"/>
              </a:spcAft>
              <a:buNone/>
            </a:pPr>
            <a:r>
              <a:rPr lang="en-US" sz="1400" b="1" dirty="0">
                <a:solidFill>
                  <a:srgbClr val="3B82C4"/>
                </a:solidFill>
              </a:rPr>
              <a:t>Inginer DfT / acoperire</a:t>
            </a:r>
            <a:endParaRPr lang="en-US" sz="1400" dirty="0"/>
          </a:p>
          <a:p>
            <a:pPr indent="0" marL="0">
              <a:spcAft>
                <a:spcPts val="300"/>
              </a:spcAft>
              <a:buNone/>
            </a:pPr>
            <a:r>
              <a:rPr lang="en-US" sz="1300" dirty="0">
                <a:solidFill>
                  <a:srgbClr val="1F2A37"/>
                </a:solidFill>
              </a:rPr>
              <a:t>analizează testabilitatea și acoperirea încă din design.</a:t>
            </a:r>
            <a:endParaRPr lang="en-US" sz="1400" dirty="0"/>
          </a:p>
        </p:txBody>
      </p:sp>
      <p:sp>
        <p:nvSpPr>
          <p:cNvPr id="7" name="Shape 5"/>
          <p:cNvSpPr/>
          <p:nvPr/>
        </p:nvSpPr>
        <p:spPr>
          <a:xfrm>
            <a:off x="6053328" y="1024128"/>
            <a:ext cx="2633472" cy="1083564"/>
          </a:xfrm>
          <a:prstGeom prst="roundRect">
            <a:avLst>
              <a:gd name="adj" fmla="val 8439"/>
            </a:avLst>
          </a:prstGeom>
          <a:solidFill>
            <a:srgbClr val="E3F4F1"/>
          </a:solidFill>
          <a:ln w="6350">
            <a:solidFill>
              <a:srgbClr val="E3F4F1"/>
            </a:solidFill>
            <a:prstDash val="solid"/>
          </a:ln>
        </p:spPr>
      </p:sp>
      <p:sp>
        <p:nvSpPr>
          <p:cNvPr id="8" name="Text 6"/>
          <p:cNvSpPr txBox="1"/>
          <p:nvPr/>
        </p:nvSpPr>
        <p:spPr>
          <a:xfrm>
            <a:off x="6163056" y="1097280"/>
            <a:ext cx="2414016" cy="937260"/>
          </a:xfrm>
          <a:prstGeom prst="rect">
            <a:avLst/>
          </a:prstGeom>
          <a:noFill/>
          <a:ln/>
        </p:spPr>
        <p:txBody>
          <a:bodyPr wrap="square" lIns="254" tIns="254" rIns="254" bIns="254" rtlCol="0" anchor="t"/>
          <a:lstStyle/>
          <a:p>
            <a:pPr indent="0" marL="0">
              <a:spcAft>
                <a:spcPts val="300"/>
              </a:spcAft>
              <a:buNone/>
            </a:pPr>
            <a:r>
              <a:rPr lang="en-US" sz="1400" b="1" dirty="0">
                <a:solidFill>
                  <a:srgbClr val="0B6E69"/>
                </a:solidFill>
              </a:rPr>
              <a:t>Inginer de calitate</a:t>
            </a:r>
            <a:endParaRPr lang="en-US" sz="1400" dirty="0"/>
          </a:p>
          <a:p>
            <a:pPr indent="0" marL="0">
              <a:spcAft>
                <a:spcPts val="300"/>
              </a:spcAft>
              <a:buNone/>
            </a:pPr>
            <a:r>
              <a:rPr lang="en-US" sz="1300" dirty="0">
                <a:solidFill>
                  <a:srgbClr val="1F2A37"/>
                </a:solidFill>
              </a:rPr>
              <a:t>FMEA, plan de control, IATF 16949.</a:t>
            </a:r>
            <a:endParaRPr lang="en-US" sz="1400" dirty="0"/>
          </a:p>
        </p:txBody>
      </p:sp>
      <p:sp>
        <p:nvSpPr>
          <p:cNvPr id="9" name="Shape 7"/>
          <p:cNvSpPr/>
          <p:nvPr/>
        </p:nvSpPr>
        <p:spPr>
          <a:xfrm>
            <a:off x="457200" y="2272284"/>
            <a:ext cx="2633472" cy="1083564"/>
          </a:xfrm>
          <a:prstGeom prst="roundRect">
            <a:avLst>
              <a:gd name="adj" fmla="val 8439"/>
            </a:avLst>
          </a:prstGeom>
          <a:solidFill>
            <a:srgbClr val="E5F0FA"/>
          </a:solidFill>
          <a:ln w="6350">
            <a:solidFill>
              <a:srgbClr val="E5F0FA"/>
            </a:solidFill>
            <a:prstDash val="solid"/>
          </a:ln>
        </p:spPr>
      </p:sp>
      <p:sp>
        <p:nvSpPr>
          <p:cNvPr id="10" name="Text 8"/>
          <p:cNvSpPr txBox="1"/>
          <p:nvPr/>
        </p:nvSpPr>
        <p:spPr>
          <a:xfrm>
            <a:off x="566928" y="2345436"/>
            <a:ext cx="2414016" cy="937260"/>
          </a:xfrm>
          <a:prstGeom prst="rect">
            <a:avLst/>
          </a:prstGeom>
          <a:noFill/>
          <a:ln/>
        </p:spPr>
        <p:txBody>
          <a:bodyPr wrap="square" lIns="254" tIns="254" rIns="254" bIns="254" rtlCol="0" anchor="t"/>
          <a:lstStyle/>
          <a:p>
            <a:pPr indent="0" marL="0">
              <a:spcAft>
                <a:spcPts val="300"/>
              </a:spcAft>
              <a:buNone/>
            </a:pPr>
            <a:r>
              <a:rPr lang="en-US" sz="1400" b="1" dirty="0">
                <a:solidFill>
                  <a:srgbClr val="3B82C4"/>
                </a:solidFill>
              </a:rPr>
              <a:t>Inginer de fiabilitate</a:t>
            </a:r>
            <a:endParaRPr lang="en-US" sz="1400" dirty="0"/>
          </a:p>
          <a:p>
            <a:pPr indent="0" marL="0">
              <a:spcAft>
                <a:spcPts val="300"/>
              </a:spcAft>
              <a:buNone/>
            </a:pPr>
            <a:r>
              <a:rPr lang="en-US" sz="1300" dirty="0">
                <a:solidFill>
                  <a:srgbClr val="1F2A37"/>
                </a:solidFill>
              </a:rPr>
              <a:t>predicție, teste de anduranță, analiza defectărilor.</a:t>
            </a:r>
            <a:endParaRPr lang="en-US" sz="1400" dirty="0"/>
          </a:p>
        </p:txBody>
      </p:sp>
      <p:sp>
        <p:nvSpPr>
          <p:cNvPr id="11" name="Shape 9"/>
          <p:cNvSpPr/>
          <p:nvPr/>
        </p:nvSpPr>
        <p:spPr>
          <a:xfrm>
            <a:off x="3255264" y="2272284"/>
            <a:ext cx="2633472" cy="1083564"/>
          </a:xfrm>
          <a:prstGeom prst="roundRect">
            <a:avLst>
              <a:gd name="adj" fmla="val 8439"/>
            </a:avLst>
          </a:prstGeom>
          <a:solidFill>
            <a:srgbClr val="E3F4F1"/>
          </a:solidFill>
          <a:ln w="6350">
            <a:solidFill>
              <a:srgbClr val="E3F4F1"/>
            </a:solidFill>
            <a:prstDash val="solid"/>
          </a:ln>
        </p:spPr>
      </p:sp>
      <p:sp>
        <p:nvSpPr>
          <p:cNvPr id="12" name="Text 10"/>
          <p:cNvSpPr txBox="1"/>
          <p:nvPr/>
        </p:nvSpPr>
        <p:spPr>
          <a:xfrm>
            <a:off x="3364992" y="2345436"/>
            <a:ext cx="2414016" cy="937260"/>
          </a:xfrm>
          <a:prstGeom prst="rect">
            <a:avLst/>
          </a:prstGeom>
          <a:noFill/>
          <a:ln/>
        </p:spPr>
        <p:txBody>
          <a:bodyPr wrap="square" lIns="254" tIns="254" rIns="254" bIns="254" rtlCol="0" anchor="t"/>
          <a:lstStyle/>
          <a:p>
            <a:pPr indent="0" marL="0">
              <a:spcAft>
                <a:spcPts val="300"/>
              </a:spcAft>
              <a:buNone/>
            </a:pPr>
            <a:r>
              <a:rPr lang="en-US" sz="1400" b="1" dirty="0">
                <a:solidFill>
                  <a:srgbClr val="0B6E69"/>
                </a:solidFill>
              </a:rPr>
              <a:t>Inginer de siguranță funcțională</a:t>
            </a:r>
            <a:endParaRPr lang="en-US" sz="1400" dirty="0"/>
          </a:p>
          <a:p>
            <a:pPr indent="0" marL="0">
              <a:spcAft>
                <a:spcPts val="300"/>
              </a:spcAft>
              <a:buNone/>
            </a:pPr>
            <a:r>
              <a:rPr lang="en-US" sz="1300" dirty="0">
                <a:solidFill>
                  <a:srgbClr val="1F2A37"/>
                </a:solidFill>
              </a:rPr>
              <a:t>ISO 26262, ASIL, metrici hardware.</a:t>
            </a:r>
            <a:endParaRPr lang="en-US" sz="1400" dirty="0"/>
          </a:p>
        </p:txBody>
      </p:sp>
      <p:sp>
        <p:nvSpPr>
          <p:cNvPr id="13" name="Shape 11"/>
          <p:cNvSpPr/>
          <p:nvPr/>
        </p:nvSpPr>
        <p:spPr>
          <a:xfrm>
            <a:off x="6053328" y="2272284"/>
            <a:ext cx="2633472" cy="1083564"/>
          </a:xfrm>
          <a:prstGeom prst="roundRect">
            <a:avLst>
              <a:gd name="adj" fmla="val 8439"/>
            </a:avLst>
          </a:prstGeom>
          <a:solidFill>
            <a:srgbClr val="FFF4DE"/>
          </a:solidFill>
          <a:ln w="6350">
            <a:solidFill>
              <a:srgbClr val="FFF4DE"/>
            </a:solidFill>
            <a:prstDash val="solid"/>
          </a:ln>
        </p:spPr>
      </p:sp>
      <p:sp>
        <p:nvSpPr>
          <p:cNvPr id="14" name="Text 12"/>
          <p:cNvSpPr txBox="1"/>
          <p:nvPr/>
        </p:nvSpPr>
        <p:spPr>
          <a:xfrm>
            <a:off x="6163056" y="2345436"/>
            <a:ext cx="2414016" cy="937260"/>
          </a:xfrm>
          <a:prstGeom prst="rect">
            <a:avLst/>
          </a:prstGeom>
          <a:noFill/>
          <a:ln/>
        </p:spPr>
        <p:txBody>
          <a:bodyPr wrap="square" lIns="254" tIns="254" rIns="254" bIns="254" rtlCol="0" anchor="t"/>
          <a:lstStyle/>
          <a:p>
            <a:pPr indent="0" marL="0">
              <a:spcAft>
                <a:spcPts val="300"/>
              </a:spcAft>
              <a:buNone/>
            </a:pPr>
            <a:r>
              <a:rPr lang="en-US" sz="1400" b="1" dirty="0">
                <a:solidFill>
                  <a:srgbClr val="0B6E69"/>
                </a:solidFill>
              </a:rPr>
              <a:t>Analist de risc tehnic</a:t>
            </a:r>
            <a:endParaRPr lang="en-US" sz="1400" dirty="0"/>
          </a:p>
          <a:p>
            <a:pPr indent="0" marL="0">
              <a:spcAft>
                <a:spcPts val="300"/>
              </a:spcAft>
              <a:buNone/>
            </a:pPr>
            <a:r>
              <a:rPr lang="en-US" sz="1300" dirty="0">
                <a:solidFill>
                  <a:srgbClr val="1F2A37"/>
                </a:solidFill>
              </a:rPr>
              <a:t>FMEA, TCA, evaluarea și documentarea riscului.</a:t>
            </a:r>
            <a:endParaRPr lang="en-US" sz="1400" dirty="0"/>
          </a:p>
        </p:txBody>
      </p:sp>
      <p:sp>
        <p:nvSpPr>
          <p:cNvPr id="15" name="image placeholder"/>
          <p:cNvSpPr/>
          <p:nvPr/>
        </p:nvSpPr>
        <p:spPr>
          <a:xfrm>
            <a:off x="457200" y="3493008"/>
            <a:ext cx="8229600" cy="960120"/>
          </a:xfrm>
          <a:prstGeom prst="roundRect">
            <a:avLst>
              <a:gd name="adj" fmla="val 11429"/>
            </a:avLst>
          </a:prstGeom>
          <a:solidFill>
            <a:srgbClr val="F4F6F8"/>
          </a:solidFill>
          <a:ln w="12700">
            <a:solidFill>
              <a:srgbClr val="9AA5B1"/>
            </a:solidFill>
            <a:prstDash val="dash"/>
          </a:ln>
        </p:spPr>
      </p:sp>
      <p:sp>
        <p:nvSpPr>
          <p:cNvPr id="16" name="image placeholder label"/>
          <p:cNvSpPr txBox="1"/>
          <p:nvPr/>
        </p:nvSpPr>
        <p:spPr>
          <a:xfrm>
            <a:off x="594360" y="3584448"/>
            <a:ext cx="7955280" cy="777240"/>
          </a:xfrm>
          <a:prstGeom prst="rect">
            <a:avLst/>
          </a:prstGeom>
          <a:noFill/>
          <a:ln/>
        </p:spPr>
        <p:txBody>
          <a:bodyPr wrap="square" rtlCol="0" anchor="ctr"/>
          <a:lstStyle/>
          <a:p>
            <a:pPr algn="ctr" indent="0" marL="0">
              <a:buNone/>
            </a:pPr>
            <a:r>
              <a:rPr lang="en-US" sz="1200" i="1" dirty="0">
                <a:solidFill>
                  <a:srgbClr val="5B6575"/>
                </a:solidFill>
              </a:rPr>
              <a:t>Loc pentru imagine: certificări (IPC CIS/CIT, ASQ CRE/CQE, inginer de siguranță funcțională) sau logo-uri de angajatori</a:t>
            </a:r>
            <a:endParaRPr lang="en-US" sz="1200" dirty="0"/>
          </a:p>
        </p:txBody>
      </p:sp>
      <p:sp>
        <p:nvSpPr>
          <p:cNvPr id="17" name="sources"/>
          <p:cNvSpPr txBox="1"/>
          <p:nvPr/>
        </p:nvSpPr>
        <p:spPr>
          <a:xfrm>
            <a:off x="457200" y="4572000"/>
            <a:ext cx="7772400" cy="237744"/>
          </a:xfrm>
          <a:prstGeom prst="rect">
            <a:avLst/>
          </a:prstGeom>
          <a:noFill/>
          <a:ln/>
        </p:spPr>
        <p:txBody>
          <a:bodyPr wrap="square" lIns="0" tIns="0" rIns="0" bIns="0" rtlCol="0" anchor="ctr"/>
          <a:lstStyle/>
          <a:p>
            <a:pPr indent="0" marL="0">
              <a:buNone/>
            </a:pPr>
            <a:r>
              <a:rPr lang="en-US" sz="1000" i="1" dirty="0">
                <a:solidFill>
                  <a:srgbClr val="5B6575"/>
                </a:solidFill>
              </a:rPr>
              <a:t>Surse: [32] ASQ (CRE, CQE); IPC (CIS, CIT)</a:t>
            </a:r>
            <a:endParaRPr lang="en-US" sz="10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600" b="1" dirty="0">
                <a:solidFill>
                  <a:srgbClr val="0B6E69"/>
                </a:solidFill>
              </a:rPr>
              <a:t>Bibliografie (1/2)</a:t>
            </a:r>
            <a:endParaRPr lang="en-US" sz="2600" dirty="0"/>
          </a:p>
        </p:txBody>
      </p:sp>
      <p:sp>
        <p:nvSpPr>
          <p:cNvPr id="3" name="Text 1"/>
          <p:cNvSpPr txBox="1"/>
          <p:nvPr/>
        </p:nvSpPr>
        <p:spPr>
          <a:xfrm>
            <a:off x="457200" y="960120"/>
            <a:ext cx="4023360" cy="3749040"/>
          </a:xfrm>
          <a:prstGeom prst="rect">
            <a:avLst/>
          </a:prstGeom>
          <a:noFill/>
          <a:ln/>
        </p:spPr>
        <p:txBody>
          <a:bodyPr wrap="square" lIns="0" tIns="0" rIns="0" bIns="0" rtlCol="0" anchor="t"/>
          <a:lstStyle/>
          <a:p>
            <a:pPr indent="0" marL="0">
              <a:spcAft>
                <a:spcPts val="400"/>
              </a:spcAft>
              <a:buNone/>
            </a:pPr>
            <a:r>
              <a:rPr lang="en-US" sz="1000" dirty="0">
                <a:solidFill>
                  <a:srgbClr val="1F2A37"/>
                </a:solidFill>
              </a:rPr>
              <a:t>[1] K. Hird, K. P. Parker, B. Follis, „Test Coverage: What Does It Mean When a Board Test Passes?”, Proc. IEEE ITC, 2002, pp. 1066–1074, doi:10.1109/TEST.2002.1041863.</a:t>
            </a:r>
            <a:endParaRPr lang="en-US" sz="1000" dirty="0"/>
          </a:p>
          <a:p>
            <a:pPr indent="0" marL="0">
              <a:spcAft>
                <a:spcPts val="400"/>
              </a:spcAft>
              <a:buNone/>
            </a:pPr>
            <a:r>
              <a:rPr lang="en-US" sz="1000" dirty="0">
                <a:solidFill>
                  <a:srgbClr val="1F2A37"/>
                </a:solidFill>
              </a:rPr>
              <a:t>[2] M. V. Tegethoff, K. P. Parker, K. Lee, „Opens Board Test Coverage: When is 99% Really 40%?”, Proc. ITC, 1996, pp. 333–339.</a:t>
            </a:r>
            <a:endParaRPr lang="en-US" sz="1000" dirty="0"/>
          </a:p>
          <a:p>
            <a:pPr indent="0" marL="0">
              <a:spcAft>
                <a:spcPts val="400"/>
              </a:spcAft>
              <a:buNone/>
            </a:pPr>
            <a:r>
              <a:rPr lang="en-US" sz="1000" dirty="0">
                <a:solidFill>
                  <a:srgbClr val="1F2A37"/>
                </a:solidFill>
              </a:rPr>
              <a:t>[3] K. P. Parker, „Defect Coverage of Boundary-Scan Tests: What does it mean when a Boundary-Scan test passes?”, Proc. ITC, 2003, pp. 1268–1276.</a:t>
            </a:r>
            <a:endParaRPr lang="en-US" sz="1000" dirty="0"/>
          </a:p>
          <a:p>
            <a:pPr indent="0" marL="0">
              <a:spcAft>
                <a:spcPts val="400"/>
              </a:spcAft>
              <a:buNone/>
            </a:pPr>
            <a:r>
              <a:rPr lang="en-US" sz="1000" dirty="0">
                <a:solidFill>
                  <a:srgbClr val="1F2A37"/>
                </a:solidFill>
              </a:rPr>
              <a:t>[4] K. P. Parker, K. Hird, E. Ramos, „Methods and apparatus for characterizing board test coverage”, US 6,948,140 B2, Agilent Technologies.</a:t>
            </a:r>
            <a:endParaRPr lang="en-US" sz="1000" dirty="0"/>
          </a:p>
          <a:p>
            <a:pPr indent="0" marL="0">
              <a:spcAft>
                <a:spcPts val="400"/>
              </a:spcAft>
              <a:buNone/>
            </a:pPr>
            <a:r>
              <a:rPr lang="en-US" sz="1000" dirty="0">
                <a:solidFill>
                  <a:srgbClr val="1F2A37"/>
                </a:solidFill>
              </a:rPr>
              <a:t>[5] A. W. Ley, „Defect Coverage for Non-intrusive Board Tests”, ASSET InterTech, smtnet.com/library/files/upload/defect_coverage_for_NBT.pdf.</a:t>
            </a:r>
            <a:endParaRPr lang="en-US" sz="1000" dirty="0"/>
          </a:p>
          <a:p>
            <a:pPr indent="0" marL="0">
              <a:spcAft>
                <a:spcPts val="400"/>
              </a:spcAft>
              <a:buNone/>
            </a:pPr>
            <a:r>
              <a:rPr lang="en-US" sz="1000" dirty="0">
                <a:solidFill>
                  <a:srgbClr val="1F2A37"/>
                </a:solidFill>
              </a:rPr>
              <a:t>[6] M. Smith, „Integrated Electrical Test within the Production Line”, IPC APEX, electronics.org/system/files/technical_resource/E5&amp;S03_01.pdf.</a:t>
            </a:r>
            <a:endParaRPr lang="en-US" sz="1000" dirty="0"/>
          </a:p>
          <a:p>
            <a:pPr indent="0" marL="0">
              <a:spcAft>
                <a:spcPts val="400"/>
              </a:spcAft>
              <a:buNone/>
            </a:pPr>
            <a:r>
              <a:rPr lang="en-US" sz="1000" dirty="0">
                <a:solidFill>
                  <a:srgbClr val="1F2A37"/>
                </a:solidFill>
              </a:rPr>
              <a:t>[7] Siemens, „Siemens acquires Aster Technologies”, 13.01.2026, news.siemens.com/en-us/siemens-acquires-aster-technologies/.</a:t>
            </a:r>
            <a:endParaRPr lang="en-US" sz="1000" dirty="0"/>
          </a:p>
          <a:p>
            <a:pPr indent="0" marL="0">
              <a:spcAft>
                <a:spcPts val="400"/>
              </a:spcAft>
              <a:buNone/>
            </a:pPr>
            <a:r>
              <a:rPr lang="en-US" sz="1000" dirty="0">
                <a:solidFill>
                  <a:srgbClr val="1F2A37"/>
                </a:solidFill>
              </a:rPr>
              <a:t>[8] Control.com, „Siemens acquires Aster to strengthen PCB design and testing”, 2026.</a:t>
            </a:r>
            <a:endParaRPr lang="en-US" sz="1000" dirty="0"/>
          </a:p>
        </p:txBody>
      </p:sp>
      <p:sp>
        <p:nvSpPr>
          <p:cNvPr id="4" name="Text 2"/>
          <p:cNvSpPr txBox="1"/>
          <p:nvPr/>
        </p:nvSpPr>
        <p:spPr>
          <a:xfrm>
            <a:off x="4663440" y="960120"/>
            <a:ext cx="4023360" cy="3749040"/>
          </a:xfrm>
          <a:prstGeom prst="rect">
            <a:avLst/>
          </a:prstGeom>
          <a:noFill/>
          <a:ln/>
        </p:spPr>
        <p:txBody>
          <a:bodyPr wrap="square" lIns="0" tIns="0" rIns="0" bIns="0" rtlCol="0" anchor="t"/>
          <a:lstStyle/>
          <a:p>
            <a:pPr indent="0" marL="0">
              <a:spcAft>
                <a:spcPts val="400"/>
              </a:spcAft>
              <a:buNone/>
            </a:pPr>
            <a:r>
              <a:rPr lang="en-US" sz="1000" dirty="0">
                <a:solidFill>
                  <a:srgbClr val="1F2A37"/>
                </a:solidFill>
              </a:rPr>
              <a:t>[9] IPC-A-610J și IPC J-STD-001J (2024); J-STD-001JA/IPC-A-610JA Automotive Addendum (2025).</a:t>
            </a:r>
            <a:endParaRPr lang="en-US" sz="1000" dirty="0"/>
          </a:p>
          <a:p>
            <a:pPr indent="0" marL="0">
              <a:spcAft>
                <a:spcPts val="400"/>
              </a:spcAft>
              <a:buNone/>
            </a:pPr>
            <a:r>
              <a:rPr lang="en-US" sz="1000" dirty="0">
                <a:solidFill>
                  <a:srgbClr val="1F2A37"/>
                </a:solidFill>
              </a:rPr>
              <a:t>[10] ISO 31000:2018, Risk management — Guidelines, iso.org/standard/65694.html.</a:t>
            </a:r>
            <a:endParaRPr lang="en-US" sz="1000" dirty="0"/>
          </a:p>
          <a:p>
            <a:pPr indent="0" marL="0">
              <a:spcAft>
                <a:spcPts val="400"/>
              </a:spcAft>
              <a:buNone/>
            </a:pPr>
            <a:r>
              <a:rPr lang="en-US" sz="1000" dirty="0">
                <a:solidFill>
                  <a:srgbClr val="1F2A37"/>
                </a:solidFill>
              </a:rPr>
              <a:t>[11] ISO Guide 73:2009, Risk management — Vocabulary, iso.org/standard/44651.html.</a:t>
            </a:r>
            <a:endParaRPr lang="en-US" sz="1000" dirty="0"/>
          </a:p>
          <a:p>
            <a:pPr indent="0" marL="0">
              <a:spcAft>
                <a:spcPts val="400"/>
              </a:spcAft>
              <a:buNone/>
            </a:pPr>
            <a:r>
              <a:rPr lang="en-US" sz="1000" dirty="0">
                <a:solidFill>
                  <a:srgbClr val="1F2A37"/>
                </a:solidFill>
              </a:rPr>
              <a:t>[12] IEC 31010:2019, Risk management — Risk assessment techniques.</a:t>
            </a:r>
            <a:endParaRPr lang="en-US" sz="1000" dirty="0"/>
          </a:p>
          <a:p>
            <a:pPr indent="0" marL="0">
              <a:spcAft>
                <a:spcPts val="400"/>
              </a:spcAft>
              <a:buNone/>
            </a:pPr>
            <a:r>
              <a:rPr lang="en-US" sz="1000" dirty="0">
                <a:solidFill>
                  <a:srgbClr val="1F2A37"/>
                </a:solidFill>
              </a:rPr>
              <a:t>[13] ISO 26262:2018, Road vehicles — Functional safety, Părțile 1, 5 și 7.</a:t>
            </a:r>
            <a:endParaRPr lang="en-US" sz="1000" dirty="0"/>
          </a:p>
          <a:p>
            <a:pPr indent="0" marL="0">
              <a:spcAft>
                <a:spcPts val="400"/>
              </a:spcAft>
              <a:buNone/>
            </a:pPr>
            <a:r>
              <a:rPr lang="en-US" sz="1000" dirty="0">
                <a:solidFill>
                  <a:srgbClr val="1F2A37"/>
                </a:solidFill>
              </a:rPr>
              <a:t>[14] AIAG &amp; VDA, FMEA Handbook, ed. 1, 2019, aiag.org.</a:t>
            </a:r>
            <a:endParaRPr lang="en-US" sz="1000" dirty="0"/>
          </a:p>
          <a:p>
            <a:pPr indent="0" marL="0">
              <a:spcAft>
                <a:spcPts val="400"/>
              </a:spcAft>
              <a:buNone/>
            </a:pPr>
            <a:r>
              <a:rPr lang="en-US" sz="1000" dirty="0">
                <a:solidFill>
                  <a:srgbClr val="1F2A37"/>
                </a:solidFill>
              </a:rPr>
              <a:t>[15] SAE J1739_202101, Potential Failure Mode and Effects Analysis (FMEA), doi:10.4271/J1739_202101.</a:t>
            </a:r>
            <a:endParaRPr lang="en-US" sz="1000" dirty="0"/>
          </a:p>
          <a:p>
            <a:pPr indent="0" marL="0">
              <a:spcAft>
                <a:spcPts val="400"/>
              </a:spcAft>
              <a:buNone/>
            </a:pPr>
            <a:r>
              <a:rPr lang="en-US" sz="1000" dirty="0">
                <a:solidFill>
                  <a:srgbClr val="1F2A37"/>
                </a:solidFill>
              </a:rPr>
              <a:t>[16] IEC 60812:2018, Failure modes and effects analysis (FMEA and FMECA).</a:t>
            </a:r>
            <a:endParaRPr lang="en-US" sz="10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600" b="1" dirty="0">
                <a:solidFill>
                  <a:srgbClr val="0B6E69"/>
                </a:solidFill>
              </a:rPr>
              <a:t>Bibliografie (2/2)</a:t>
            </a:r>
            <a:endParaRPr lang="en-US" sz="2600" dirty="0"/>
          </a:p>
        </p:txBody>
      </p:sp>
      <p:sp>
        <p:nvSpPr>
          <p:cNvPr id="3" name="Text 1"/>
          <p:cNvSpPr txBox="1"/>
          <p:nvPr/>
        </p:nvSpPr>
        <p:spPr>
          <a:xfrm>
            <a:off x="457200" y="960120"/>
            <a:ext cx="4023360" cy="3749040"/>
          </a:xfrm>
          <a:prstGeom prst="rect">
            <a:avLst/>
          </a:prstGeom>
          <a:noFill/>
          <a:ln/>
        </p:spPr>
        <p:txBody>
          <a:bodyPr wrap="square" lIns="0" tIns="0" rIns="0" bIns="0" rtlCol="0" anchor="t"/>
          <a:lstStyle/>
          <a:p>
            <a:pPr indent="0" marL="0">
              <a:spcAft>
                <a:spcPts val="400"/>
              </a:spcAft>
              <a:buNone/>
            </a:pPr>
            <a:r>
              <a:rPr lang="en-US" sz="1000" dirty="0">
                <a:solidFill>
                  <a:srgbClr val="1F2A37"/>
                </a:solidFill>
              </a:rPr>
              <a:t>[17] J. B. Bowles, „An Assessment of RPN Prioritization in a Failure Modes Effects and Criticality Analysis”, Proc. RAMS, 2003, pp. 380–386, doi:10.1109/RAMS.2003.1182019.</a:t>
            </a:r>
            <a:endParaRPr lang="en-US" sz="1000" dirty="0"/>
          </a:p>
          <a:p>
            <a:pPr indent="0" marL="0">
              <a:spcAft>
                <a:spcPts val="400"/>
              </a:spcAft>
              <a:buNone/>
            </a:pPr>
            <a:r>
              <a:rPr lang="en-US" sz="1000" dirty="0">
                <a:solidFill>
                  <a:srgbClr val="1F2A37"/>
                </a:solidFill>
              </a:rPr>
              <a:t>[18] IATF 16949:2016; AIAG, „Core Tools and IATF 16949:2016 Overview”, blog.aiag.org/core-tools-and-iatf-169492016-overview.</a:t>
            </a:r>
            <a:endParaRPr lang="en-US" sz="1000" dirty="0"/>
          </a:p>
          <a:p>
            <a:pPr indent="0" marL="0">
              <a:spcAft>
                <a:spcPts val="400"/>
              </a:spcAft>
              <a:buNone/>
            </a:pPr>
            <a:r>
              <a:rPr lang="en-US" sz="1000" dirty="0">
                <a:solidFill>
                  <a:srgbClr val="1F2A37"/>
                </a:solidFill>
              </a:rPr>
              <a:t>[19] AIAG, APQP ed. 3 și Control Plan ed. 1, 2024, go.aiag.org/apqp-cp.</a:t>
            </a:r>
            <a:endParaRPr lang="en-US" sz="1000" dirty="0"/>
          </a:p>
          <a:p>
            <a:pPr indent="0" marL="0">
              <a:spcAft>
                <a:spcPts val="400"/>
              </a:spcAft>
              <a:buNone/>
            </a:pPr>
            <a:r>
              <a:rPr lang="en-US" sz="1000" dirty="0">
                <a:solidFill>
                  <a:srgbClr val="1F2A37"/>
                </a:solidFill>
              </a:rPr>
              <a:t>[20] „The Origin and Development of FMEAs in the North American Automotive Industry: A History Review”, Acta Natura et Scientia 7(1), 2026, doi:10.61326/actanatsci.v7i1.370.</a:t>
            </a:r>
            <a:endParaRPr lang="en-US" sz="1000" dirty="0"/>
          </a:p>
          <a:p>
            <a:pPr indent="0" marL="0">
              <a:spcAft>
                <a:spcPts val="400"/>
              </a:spcAft>
              <a:buNone/>
            </a:pPr>
            <a:r>
              <a:rPr lang="en-US" sz="1000" dirty="0">
                <a:solidFill>
                  <a:srgbClr val="1F2A37"/>
                </a:solidFill>
              </a:rPr>
              <a:t>[21] Directiva (UE) 2024/2853 privind răspunderea pentru produsele cu defecte, eur-lex.europa.eu/eli/dir/2024/2853/oj.</a:t>
            </a:r>
            <a:endParaRPr lang="en-US" sz="1000" dirty="0"/>
          </a:p>
          <a:p>
            <a:pPr indent="0" marL="0">
              <a:spcAft>
                <a:spcPts val="400"/>
              </a:spcAft>
              <a:buNone/>
            </a:pPr>
            <a:r>
              <a:rPr lang="en-US" sz="1000" dirty="0">
                <a:solidFill>
                  <a:srgbClr val="1F2A37"/>
                </a:solidFill>
              </a:rPr>
              <a:t>[22] Regulamentul (UE) 2023/988 (GPSR); Regulamentul (UE) 2018/858, eur-lex.europa.eu.</a:t>
            </a:r>
            <a:endParaRPr lang="en-US" sz="1000" dirty="0"/>
          </a:p>
          <a:p>
            <a:pPr indent="0" marL="0">
              <a:spcAft>
                <a:spcPts val="400"/>
              </a:spcAft>
              <a:buNone/>
            </a:pPr>
            <a:r>
              <a:rPr lang="en-US" sz="1000" dirty="0">
                <a:solidFill>
                  <a:srgbClr val="1F2A37"/>
                </a:solidFill>
              </a:rPr>
              <a:t>[23] UNECE, Regulamentul nr. 10 (compatibilitate electromagnetică), unece.org.</a:t>
            </a:r>
            <a:endParaRPr lang="en-US" sz="1000" dirty="0"/>
          </a:p>
          <a:p>
            <a:pPr indent="0" marL="0">
              <a:spcAft>
                <a:spcPts val="400"/>
              </a:spcAft>
              <a:buNone/>
            </a:pPr>
            <a:r>
              <a:rPr lang="en-US" sz="1000" dirty="0">
                <a:solidFill>
                  <a:srgbClr val="1F2A37"/>
                </a:solidFill>
              </a:rPr>
              <a:t>[24] TREAD Act, Pub. L. 106-414 (2000); 49 CFR Part 573, ecfr.gov.</a:t>
            </a:r>
            <a:endParaRPr lang="en-US" sz="1000" dirty="0"/>
          </a:p>
        </p:txBody>
      </p:sp>
      <p:sp>
        <p:nvSpPr>
          <p:cNvPr id="4" name="Text 2"/>
          <p:cNvSpPr txBox="1"/>
          <p:nvPr/>
        </p:nvSpPr>
        <p:spPr>
          <a:xfrm>
            <a:off x="4663440" y="960120"/>
            <a:ext cx="4023360" cy="3749040"/>
          </a:xfrm>
          <a:prstGeom prst="rect">
            <a:avLst/>
          </a:prstGeom>
          <a:noFill/>
          <a:ln/>
        </p:spPr>
        <p:txBody>
          <a:bodyPr wrap="square" lIns="0" tIns="0" rIns="0" bIns="0" rtlCol="0" anchor="t"/>
          <a:lstStyle/>
          <a:p>
            <a:pPr indent="0" marL="0">
              <a:spcAft>
                <a:spcPts val="400"/>
              </a:spcAft>
              <a:buNone/>
            </a:pPr>
            <a:r>
              <a:rPr lang="en-US" sz="1000" dirty="0">
                <a:solidFill>
                  <a:srgbClr val="1F2A37"/>
                </a:solidFill>
              </a:rPr>
              <a:t>[25] NHTSA ODI, EA19-001 (static.nhtsa.gov/odi/inv/2019/INOA-EA19001-2536.PDF); rapoartele 16V-668 și 20V-024.</a:t>
            </a:r>
            <a:endParaRPr lang="en-US" sz="1000" dirty="0"/>
          </a:p>
          <a:p>
            <a:pPr indent="0" marL="0">
              <a:spcAft>
                <a:spcPts val="400"/>
              </a:spcAft>
              <a:buNone/>
            </a:pPr>
            <a:r>
              <a:rPr lang="en-US" sz="1000" dirty="0">
                <a:solidFill>
                  <a:srgbClr val="1F2A37"/>
                </a:solidFill>
              </a:rPr>
              <a:t>[26] NHTSA, Takata Recall Spotlight, nhtsa.gov/takata-recall-spotlight/state-takata-recalls.</a:t>
            </a:r>
            <a:endParaRPr lang="en-US" sz="1000" dirty="0"/>
          </a:p>
          <a:p>
            <a:pPr indent="0" marL="0">
              <a:spcAft>
                <a:spcPts val="400"/>
              </a:spcAft>
              <a:buNone/>
            </a:pPr>
            <a:r>
              <a:rPr lang="en-US" sz="1000" dirty="0">
                <a:solidFill>
                  <a:srgbClr val="1F2A37"/>
                </a:solidFill>
              </a:rPr>
              <a:t>[27] B. Davis, „Economic modeling of board test strategies”, J. Electronic Testing 5, 1994, pp. 157–169, doi:10.1007/BF00972076.</a:t>
            </a:r>
            <a:endParaRPr lang="en-US" sz="1000" dirty="0"/>
          </a:p>
          <a:p>
            <a:pPr indent="0" marL="0">
              <a:spcAft>
                <a:spcPts val="400"/>
              </a:spcAft>
              <a:buNone/>
            </a:pPr>
            <a:r>
              <a:rPr lang="en-US" sz="1000" dirty="0">
                <a:solidFill>
                  <a:srgbClr val="1F2A37"/>
                </a:solidFill>
              </a:rPr>
              <a:t>[28] TL 9000 R6.3 (2021), tl9000.org; Telcordia SR-332 Issue 4 (2016); ETSI GS NFV-REL 001 V1.1.1 (2015); ITU-T E.800 (09/2008).</a:t>
            </a:r>
            <a:endParaRPr lang="en-US" sz="1000" dirty="0"/>
          </a:p>
          <a:p>
            <a:pPr indent="0" marL="0">
              <a:spcAft>
                <a:spcPts val="400"/>
              </a:spcAft>
              <a:buNone/>
            </a:pPr>
            <a:r>
              <a:rPr lang="en-US" sz="1000" dirty="0">
                <a:solidFill>
                  <a:srgbClr val="1F2A37"/>
                </a:solidFill>
              </a:rPr>
              <a:t>[29] SAE ARP4761A (2023); RTCA DO-254; SAE AS13004; ISO 14971:2019; EN 50126; IEC 61508:2010; MIL-STD-1629A (1980).</a:t>
            </a:r>
            <a:endParaRPr lang="en-US" sz="1000" dirty="0"/>
          </a:p>
          <a:p>
            <a:pPr indent="0" marL="0">
              <a:spcAft>
                <a:spcPts val="400"/>
              </a:spcAft>
              <a:buNone/>
            </a:pPr>
            <a:r>
              <a:rPr lang="en-US" sz="1000" dirty="0">
                <a:solidFill>
                  <a:srgbClr val="1F2A37"/>
                </a:solidFill>
              </a:rPr>
              <a:t>[30] Microchip, MCP2551 High-Speed CAN Transceiver, DS21667F, 2010; ISO 11898-2:2024, iso.org/standard/85120.html.</a:t>
            </a:r>
            <a:endParaRPr lang="en-US" sz="1000" dirty="0"/>
          </a:p>
          <a:p>
            <a:pPr indent="0" marL="0">
              <a:spcAft>
                <a:spcPts val="400"/>
              </a:spcAft>
              <a:buNone/>
            </a:pPr>
            <a:r>
              <a:rPr lang="en-US" sz="1000" dirty="0">
                <a:solidFill>
                  <a:srgbClr val="1F2A37"/>
                </a:solidFill>
              </a:rPr>
              <a:t>[31] AUMOVIO, ARS 408-21 Long Range Radar, fișă tehnică, engineering-solutions.aumovio.com.</a:t>
            </a:r>
            <a:endParaRPr lang="en-US" sz="1000" dirty="0"/>
          </a:p>
          <a:p>
            <a:pPr indent="0" marL="0">
              <a:spcAft>
                <a:spcPts val="400"/>
              </a:spcAft>
              <a:buNone/>
            </a:pPr>
            <a:r>
              <a:rPr lang="en-US" sz="1000" dirty="0">
                <a:solidFill>
                  <a:srgbClr val="1F2A37"/>
                </a:solidFill>
              </a:rPr>
              <a:t>[32] ASQ, certificările CRE și CQE, asq.org; IPC, certificările CIS și CIT, electronics.org.</a:t>
            </a:r>
            <a:endParaRPr lang="en-US" sz="10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5"/>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HW TCA Light">
  <a:themeElements>
    <a:clrScheme name="HW TCA Light">
      <a:dk1>
        <a:srgbClr val="1F2A37"/>
      </a:dk1>
      <a:lt1>
        <a:srgbClr val="FFFFFF"/>
      </a:lt1>
      <a:dk2>
        <a:srgbClr val="0B6E69"/>
      </a:dk2>
      <a:lt2>
        <a:srgbClr val="E3F4F1"/>
      </a:lt2>
      <a:accent1>
        <a:srgbClr val="0B6E69"/>
      </a:accent1>
      <a:accent2>
        <a:srgbClr val="F2A93B"/>
      </a:accent2>
      <a:accent3>
        <a:srgbClr val="3B82C4"/>
      </a:accent3>
      <a:accent4>
        <a:srgbClr val="E46A5E"/>
      </a:accent4>
      <a:accent5>
        <a:srgbClr val="7C9A3D"/>
      </a:accent5>
      <a:accent6>
        <a:srgbClr val="8A6FD1"/>
      </a:accent6>
      <a:hlink>
        <a:srgbClr val="3B82C4"/>
      </a:hlink>
      <a:folHlink>
        <a:srgbClr val="6B7280"/>
      </a:folHlink>
    </a:clrScheme>
    <a:fontScheme name="HW TCA Ligh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Analiza acoperirii testelor de producție (HW TCA)</dc:title>
  <dc:subject>Laborator de testare, anul IV, ETC UPT</dc:subject>
  <dc:creator>Mădălina Tolontan</dc:creator>
  <cp:lastModifiedBy>Mădălina Tolontan</cp:lastModifiedBy>
  <cp:revision>1</cp:revision>
  <dcterms:created xsi:type="dcterms:W3CDTF">2026-10-30T10:09:55Z</dcterms:created>
  <dcterms:modified xsi:type="dcterms:W3CDTF">2026-10-30T10:09:55Z</dcterms:modified>
</cp:coreProperties>
</file>